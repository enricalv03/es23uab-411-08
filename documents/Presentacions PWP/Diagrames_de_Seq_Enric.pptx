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0"/>
  </p:notesMasterIdLst>
  <p:sldIdLst>
    <p:sldId id="412" r:id="rId5"/>
    <p:sldId id="400" r:id="rId6"/>
    <p:sldId id="420" r:id="rId7"/>
    <p:sldId id="424" r:id="rId8"/>
    <p:sldId id="425" r:id="rId9"/>
    <p:sldId id="415" r:id="rId10"/>
    <p:sldId id="422" r:id="rId11"/>
    <p:sldId id="418" r:id="rId12"/>
    <p:sldId id="410" r:id="rId13"/>
    <p:sldId id="414" r:id="rId14"/>
    <p:sldId id="421" r:id="rId15"/>
    <p:sldId id="419" r:id="rId16"/>
    <p:sldId id="423" r:id="rId17"/>
    <p:sldId id="417" r:id="rId18"/>
    <p:sldId id="409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6/18/26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411-08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/>
              <a:t>Diagrames de Seqüència Individuals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2314AE07-3639-F5C2-D9BA-C0FC3F1B97C3}"/>
              </a:ext>
            </a:extLst>
          </p:cNvPr>
          <p:cNvSpPr txBox="1"/>
          <p:nvPr/>
        </p:nvSpPr>
        <p:spPr>
          <a:xfrm>
            <a:off x="1120073" y="2291996"/>
            <a:ext cx="34519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Enric Alvarez Bargada</a:t>
            </a:r>
          </a:p>
        </p:txBody>
      </p:sp>
      <p:sp>
        <p:nvSpPr>
          <p:cNvPr id="6" name="CuadroTexto 6">
            <a:extLst>
              <a:ext uri="{FF2B5EF4-FFF2-40B4-BE49-F238E27FC236}">
                <a16:creationId xmlns:a16="http://schemas.microsoft.com/office/drawing/2014/main" id="{BDC369DB-16A4-5A1E-3B9A-B758A83E309A}"/>
              </a:ext>
            </a:extLst>
          </p:cNvPr>
          <p:cNvSpPr txBox="1"/>
          <p:nvPr/>
        </p:nvSpPr>
        <p:spPr>
          <a:xfrm>
            <a:off x="1115568" y="2971835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Neus Roig Prat</a:t>
            </a:r>
            <a:endParaRPr lang="ca-ES"/>
          </a:p>
        </p:txBody>
      </p:sp>
      <p:sp>
        <p:nvSpPr>
          <p:cNvPr id="7" name="CuadroTexto 14">
            <a:extLst>
              <a:ext uri="{FF2B5EF4-FFF2-40B4-BE49-F238E27FC236}">
                <a16:creationId xmlns:a16="http://schemas.microsoft.com/office/drawing/2014/main" id="{03C62CEE-6A8B-2B35-B786-8B14CB14DC3C}"/>
              </a:ext>
            </a:extLst>
          </p:cNvPr>
          <p:cNvSpPr txBox="1"/>
          <p:nvPr/>
        </p:nvSpPr>
        <p:spPr>
          <a:xfrm>
            <a:off x="1173616" y="3651674"/>
            <a:ext cx="516358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Blay Clotas </a:t>
            </a:r>
            <a:r>
              <a:rPr lang="es-ES" dirty="0" err="1"/>
              <a:t>Cekov</a:t>
            </a:r>
            <a:endParaRPr lang="ca-ES" dirty="0"/>
          </a:p>
        </p:txBody>
      </p:sp>
      <p:sp>
        <p:nvSpPr>
          <p:cNvPr id="15" name="CuadroTexto 15">
            <a:extLst>
              <a:ext uri="{FF2B5EF4-FFF2-40B4-BE49-F238E27FC236}">
                <a16:creationId xmlns:a16="http://schemas.microsoft.com/office/drawing/2014/main" id="{3D766566-045E-7674-F7AA-34E878B42A0B}"/>
              </a:ext>
            </a:extLst>
          </p:cNvPr>
          <p:cNvSpPr txBox="1"/>
          <p:nvPr/>
        </p:nvSpPr>
        <p:spPr>
          <a:xfrm>
            <a:off x="1115568" y="4224473"/>
            <a:ext cx="280786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err="1"/>
              <a:t>Maria</a:t>
            </a:r>
            <a:r>
              <a:rPr lang="es-ES"/>
              <a:t> Figueras Martínez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93FA09-1464-E0B3-4134-523AD613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5D6570-F8B3-B3A3-A220-22048D7E4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9F1681-DF17-F022-F1E8-7C6CBC73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A54C753-1953-798D-DDE1-82C713491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994972"/>
              </p:ext>
            </p:extLst>
          </p:nvPr>
        </p:nvGraphicFramePr>
        <p:xfrm>
          <a:off x="1823770" y="2147343"/>
          <a:ext cx="8746609" cy="40405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3125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868653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095856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12897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 u="none" strike="noStrike" baseline="0" noProof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Indicar disponibilitat del servei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2.0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16/05/2026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Enric, Blay, Maria i Neus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722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El cuiner indica si està disponible per acceptar comandes ara o, si no ho està, a partir de quina hora ho estarà. Aquesta informació es reflecteix al llistat de cuiners visibles pels clients i permet reserves futures.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Primari: Cuiner. Secundari: Client (consulta indirecta del llistat).</a:t>
                      </a: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  <a:cs typeface="Times New Roman"/>
                        </a:rPr>
                        <a:t>El cuiner té compte registrat amb rol cuiner i sessió iniciada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91821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accedeix a la configuració de disponibilitat.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Indica si està disponible o no.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Si no està disponible, introdueix l’hora a partir de la qual acceptarà comandes.</a:t>
                      </a:r>
                      <a:endParaRPr lang="ca-ES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desa l’estat i l’hora.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actualitza la visibilitat del cuiner al llistat (disponible / no disponible amb hora prevista).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3722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SF-01 — Marcar-se com a disponible: el cuiner canvia l’estat a disponible; el sistema el mostra al llistat de cuiners actius (RF-02-02).</a:t>
                      </a:r>
                      <a:b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</a:b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SF-02 — Reserva futura (perspectiva client): un client pot reservar comanda per a l’hora en què el cuiner haurà de tornar a estar disponible (RF-02-05).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 lvl="0" algn="l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lang="ca-ES" sz="1100" u="sng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5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L’estat de disponibilitat del cuiner queda actualitzat al sistema i és consultable pels clients.</a:t>
                      </a:r>
                      <a:endParaRPr lang="ca-ES" sz="1050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  <a:cs typeface="Times New Roman"/>
                        </a:rPr>
                        <a:t>RNF-00-00 (interfície consistent), RNF-01-02 (dades en trànsit per HTTPS).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a-ES" sz="1100">
                          <a:effectLst/>
                        </a:rPr>
                        <a:t>Alta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dirty="0">
                          <a:effectLst/>
                        </a:rPr>
                        <a:t>Comentaris</a:t>
                      </a:r>
                      <a:endParaRPr lang="ca-E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endParaRPr lang="ca-E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81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4A55D-80FE-2B60-D6BB-449948D6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F80B89-C9A5-551A-1664-1614F1F2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CC24F6-6EE9-C913-E40B-E3352CE2E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513" y="625683"/>
            <a:ext cx="5486553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ECBE9D-B20F-9C58-AA7B-CD1D090E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69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60D61-1132-25A5-E19F-E375D102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560CE4-A15F-C965-A294-63872F24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915633-C86B-9EDA-0FFB-211FDF65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a 2">
            <a:extLst>
              <a:ext uri="{FF2B5EF4-FFF2-40B4-BE49-F238E27FC236}">
                <a16:creationId xmlns:a16="http://schemas.microsoft.com/office/drawing/2014/main" id="{9CA74192-88CF-0039-3949-C07FA8112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920267"/>
              </p:ext>
            </p:extLst>
          </p:nvPr>
        </p:nvGraphicFramePr>
        <p:xfrm>
          <a:off x="1813332" y="2142124"/>
          <a:ext cx="8746609" cy="45619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3125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868653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095856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12897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 u="none" strike="noStrike" baseline="0" noProof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Definir opcions disponibles de recollida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2.0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16/05/2026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Enric, Blay, Maria i Neus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722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El cuiner configura quines modalitats de recollida/lliurament ofereix per a les seves comandes: repartidor, desplaçament del cuiner o recollida del client al domicili/establiment.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Primari: Cuiner. Secundari: Client (escull entre opcions habilitades en fer la comanda).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  <a:cs typeface="Times New Roman"/>
                        </a:rPr>
                        <a:t>Cuiner autenticat amb perfil actiu.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91821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accedeix a la configuració de recollida.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mostra les tres opcions possibles: repartidor, cuiner, client al establiment (RF-03-00).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activa o desactiva cada opció.</a:t>
                      </a:r>
                      <a:endParaRPr lang="ca-ES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desa la configuració.</a:t>
                      </a:r>
                      <a:endParaRPr lang="ca-ES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En futures comandes, només es mostren al client les opcions habilitades per aquell cuiner.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3722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SF-01 — Càlcul de cost d’enviament: si s’activa repartidor/cuiner, el cost depèn de la distància (RF-03-01); recollida al domicili del cuiner → enviament gratuït.</a:t>
                      </a:r>
                      <a:b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</a:b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SF-02 — Seguiment: si hi ha repartidor/cuiner en ruta, el client pot seguir la posició al mapa (RF-03-02, RNF-03-01).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 lvl="0" algn="l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FA-01 — Cap opció activa: el sistema avisa que cal seleccionar almenys una opció abans de desar.</a:t>
                      </a:r>
                      <a:b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</a:b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FA-02 — Client sense localització: no es pot mostrar/calcular distància sense coordenades del client (RNF-03-01).</a:t>
                      </a:r>
                      <a:endParaRPr lang="ca-ES" u="none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5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Les opcions de recollida del cuiner queden definides i aplicades a les comandes futures.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  <a:cs typeface="Times New Roman"/>
                        </a:rPr>
                        <a:t>RNF-03-00 (distància Manhattan), RNF-03-01 (Google Maps per mapa i coordenades).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a-ES" sz="1100">
                          <a:effectLst/>
                        </a:rPr>
                        <a:t>Alta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endParaRPr lang="ca-E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71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7C415-B638-429D-A835-CCE7352B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39F3FF-0FF3-6229-46E8-06948871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6A6AB4-C994-E4D1-4979-CDE1B0A27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847" y="625683"/>
            <a:ext cx="6039885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821DB3-336B-054A-A5FA-A967926B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82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42388-55C9-CA8D-8F4E-74CF9A21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271A3D-3BFE-03BA-0015-0494D380A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F09611-0276-0453-DA16-50F401AB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9806FE3-A122-50BD-8375-C2B6E0643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85891"/>
              </p:ext>
            </p:extLst>
          </p:nvPr>
        </p:nvGraphicFramePr>
        <p:xfrm>
          <a:off x="1813332" y="2142124"/>
          <a:ext cx="8746609" cy="398988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3125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868653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095856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12897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 u="none" strike="noStrike" baseline="0" noProof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Veure propostes de plats dels clients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2.0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16/05/2026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Enric, Blay, Maria i Neus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722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El cuiner consulta un menú exclusiu amb les propostes de plats personalitzats que els clients han enviat (plat nou o recepta existent amb ingredients opcionals eliminats).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Primari: Cuiner. Secundari: Client (autor de la proposta).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  <a:cs typeface="Times New Roman"/>
                        </a:rPr>
                        <a:t>Cuiner autenticat. Existeix almenys una proposta pendent dirigida a cuiners (o visible al llistat global de propostes).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91821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accedeix al menú de propostes de plats (RF-07-03).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mostra el llistat de propostes amb detall (descripció, modificacions, client, estat).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selecciona una proposta per veure’n el detall.</a:t>
                      </a:r>
                      <a:endParaRPr lang="ca-ES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mostra la informació completa de la proposta.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3722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SF-01 — Proposta amb recepta modificada: es mostren només ingredients opcionals eliminats, sense alterar la recepta original del cuiner (RF-07-01, RNF-02-00).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 lvl="0" algn="l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FA-01 — Llistat buit: el sistema informa que no hi ha propostes pendents.</a:t>
                      </a:r>
                      <a:b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</a:b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FA-02 — Accés no autoritzat: un usuari que no és cuiner no pot accedir a aquest menú (RF-07-03).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5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El cuiner ha consultat les propostes; cap canvi d’estat obligatori.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  <a:cs typeface="Times New Roman"/>
                        </a:rPr>
                        <a:t>RNF-02-00 (registre de modificacions per comanda), RNF-01-02 (dades sensibles del client).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a-ES" sz="1100">
                          <a:effectLst/>
                        </a:rPr>
                        <a:t>Mitjana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endParaRPr lang="ca-E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08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D9754-873B-961C-DF9A-B84AD1BA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34C151-A493-E4C8-BD33-530F0D77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0782D4-E35B-A43A-95A0-56C8A0989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286" y="625683"/>
            <a:ext cx="6713006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693092-A445-74AE-61F7-82AB651E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060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0A0934F-C473-A7EB-93CB-B7FC9148E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029743"/>
              </p:ext>
            </p:extLst>
          </p:nvPr>
        </p:nvGraphicFramePr>
        <p:xfrm>
          <a:off x="1813332" y="2142124"/>
          <a:ext cx="8746609" cy="462672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3125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868653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095856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12897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 u="none" strike="noStrike" baseline="0" noProof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Acceptar una proposta de plat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2.0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16/05/2026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Enric, Blay, Maria i Neus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722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dirty="0">
                          <a:effectLst/>
                        </a:rPr>
                        <a:t>Descripció</a:t>
                      </a:r>
                      <a:endParaRPr lang="ca-E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El cuiner accepta una proposta de plat d’un client, vinculant-la al seu servei i habilitant els passos posteriors (xat, comanda, pagament).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Primari: Cuiner. Secundari: Client.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  <a:cs typeface="Times New Roman"/>
                        </a:rPr>
                        <a:t>Cuiner autenticat. Proposta en estat pendent (no acceptada ni eliminada pel client, RF-07-02). El cuiner ha visualitzat la proposta.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91821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Des del menú de propostes, el cuiner selecciona una proposta.</a:t>
                      </a:r>
                      <a:endParaRPr lang="ca-ES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confirma l’acceptació.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marca la proposta com a acceptada per aquell cuiner.</a:t>
                      </a:r>
                      <a:endParaRPr lang="ca-ES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impedeix que el client elimini la proposta (RF-07-02).</a:t>
                      </a:r>
                      <a:endParaRPr lang="ca-ES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habilita la creació del xat privat (RF-07-04) i el flux de comanda associat.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3722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SF-01 — Inici de xat.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 lvl="0" algn="l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FA-01 — Proposta ja acceptada: el sistema informa que la proposta ja no està disponible.</a:t>
                      </a:r>
                      <a:b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</a:b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FA-02 — Cuiner no disponible: si el cuiner està marcat com a no disponible fora de la finestra horària, el sistema pot avisar abans d’acceptar (coherència amb RF-02-05).</a:t>
                      </a:r>
                      <a:b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</a:b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FA-03 — Cancel·lar acceptació: el cuiner desisteix; la proposta roman pendent.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5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La proposta queda acceptada pel cuiner. Es pot obrir xat amb el client. El client ja no pot eliminar la proposta.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  <a:cs typeface="Times New Roman"/>
                        </a:rPr>
                        <a:t>RNF-01-02, RNF-02-00.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a-ES" sz="1100">
                          <a:effectLst/>
                        </a:rPr>
                        <a:t>Alta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endParaRPr lang="ca-E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3C2C6-B690-4B7D-0A0F-47A9EFFB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5A161C-79F2-DD1F-1A3B-9EF1ADE06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54E6B0-3FB8-5C09-2BA3-7682D310A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020" y="625683"/>
            <a:ext cx="6045539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6C2568-5805-6D5C-BB27-F900F137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46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B34AC-4F8F-5A58-BA68-87104D18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7389D7-3F4F-72D6-EBF6-848C4F43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5FE369-534A-A8A2-BCFA-733A0653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99CD924-3F87-5D2C-6282-C271A455F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110317"/>
              </p:ext>
            </p:extLst>
          </p:nvPr>
        </p:nvGraphicFramePr>
        <p:xfrm>
          <a:off x="1813332" y="2142124"/>
          <a:ext cx="8746609" cy="38407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3125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868653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1095856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2128975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 u="none" strike="noStrike" baseline="0" noProof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Parlar amb el client per xat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2.0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16/05/2026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Enric, Blay, Maria i Neus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722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Després d’acceptar una proposta, cuiner i client intercanvien missatges en un xat privat per concretar la comanda (ingredients, al·lèrgies, hora, etc.).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Primari: Cuiner, Client.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El cuiner ha acceptat la proposta. El xat s’ha creat automàticament (RF-07-04).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91821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(o el client) obre el xat associat a la proposta/comanda.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redacta i envia un missatge.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lliura el missatge al client en temps real o quasi real.</a:t>
                      </a:r>
                      <a:endParaRPr lang="ca-ES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client respon; el cuiner rep la notificació.</a:t>
                      </a:r>
                      <a:endParaRPr lang="ca-ES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100">
                          <a:effectLst/>
                        </a:rPr>
                        <a:t>La conversa continua fins que la comanda queda clara.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3722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SF-01 — Client inicia conversa: el client envia el primer missatge després de l’acceptació (mateix flux, actor invertit).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 lvl="0" algn="l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FA-01 — Xat sense acceptació prèvia: el sistema no permet obrir xat si la proposta no està acceptada (RF-07-04).</a:t>
                      </a:r>
                      <a:b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</a:b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FA-02 — Error de xarxa: el missatge no s’envia; el sistema ofereix reintentar.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Els missatges queden registrats al xat de la comanda. Cuiner i client han pogut coordinar-se.</a:t>
                      </a:r>
                      <a:endParaRPr lang="ca-ES" sz="1100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1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  <a:cs typeface="Times New Roman"/>
                        </a:rPr>
                        <a:t>RNF-01-02 (canal segur), RNF-00-00 (UI coherent).</a:t>
                      </a:r>
                      <a:endParaRPr lang="ca-ES" sz="1100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a-ES" sz="1100">
                          <a:effectLst/>
                        </a:rPr>
                        <a:t>Mitjana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861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endParaRPr lang="ca-E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06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E6DA1-6352-8A2E-C9E7-4627259F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1B52C3-ABFC-7E91-782E-ED0518FE7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062E18-E2FF-8C35-F562-1092B1A45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741" y="625683"/>
            <a:ext cx="5500096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7D5156-16A6-ADE6-3A86-568A1266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49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D0A86-893C-90D1-1F78-81E4B2A0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DAA09E-DE91-15BF-0CAB-1A52289B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EBC51-B940-1269-1AE7-DDA9DFC1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C3489D5-8244-D754-3691-61D628D51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307508"/>
              </p:ext>
            </p:extLst>
          </p:nvPr>
        </p:nvGraphicFramePr>
        <p:xfrm>
          <a:off x="624117" y="2091095"/>
          <a:ext cx="10947232" cy="420624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75278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112766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2298908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3460280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19232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>
                          <a:effectLst/>
                        </a:rPr>
                        <a:t>CAS D’ÚS:</a:t>
                      </a:r>
                      <a:endParaRPr lang="ca-E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ca-ES" sz="1000" b="1" i="0" u="none" strike="noStrike" baseline="0" noProof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Rebre diners al compte quan es paga una comanda</a:t>
                      </a:r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19232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900" b="1" kern="0" dirty="0">
                          <a:effectLst/>
                        </a:rPr>
                        <a:t>Versió</a:t>
                      </a:r>
                      <a:endParaRPr lang="ca-ES" sz="900" b="1" kern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</a:rPr>
                        <a:t>2.0</a:t>
                      </a:r>
                      <a:endParaRPr lang="ca-E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900" b="1" kern="0">
                          <a:effectLst/>
                        </a:rPr>
                        <a:t>Data</a:t>
                      </a:r>
                      <a:endParaRPr lang="ca-ES" sz="9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</a:rPr>
                        <a:t>16/05/2026</a:t>
                      </a:r>
                      <a:endParaRPr lang="ca-E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19232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Autors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</a:rPr>
                        <a:t>Enric, Blay, Maria i Neus</a:t>
                      </a:r>
                      <a:endParaRPr lang="ca-E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4741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Descripció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Quan el client confirma el pagament d’una comanda mitjançant la passarel·la, el sistema ingressa automàticament l’import corresponent al compte bancari del cuiner (i la part del repartidor si escau)</a:t>
                      </a:r>
                      <a:endParaRPr lang="ca-ES" sz="1600"/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19232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Actors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Cuiner, passarel·la de pagament</a:t>
                      </a:r>
                      <a:endParaRPr lang="ca-ES" sz="1600"/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34741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Precondició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Comanda associada al cuiner en estat pendent de pagament. El cuiner té dades bancàries registrades i xifrades. El client inicia el pagament.</a:t>
                      </a:r>
                      <a:endParaRPr lang="ca-ES" sz="1600"/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12290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Flux principal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marL="228600" lvl="0" indent="-228600" algn="l">
                        <a:buAutoNum type="arabicPeriod"/>
                      </a:pPr>
                      <a:r>
                        <a:rPr lang="ca-ES" sz="1000">
                          <a:effectLst/>
                        </a:rPr>
                        <a:t>El client paga la comanda dins de l’aplicació amb targeta o </a:t>
                      </a:r>
                      <a:r>
                        <a:rPr lang="ca-ES" sz="1000" err="1">
                          <a:effectLst/>
                        </a:rPr>
                        <a:t>PayPal</a:t>
                      </a:r>
                      <a:r>
                        <a:rPr lang="ca-ES" sz="1000">
                          <a:effectLst/>
                        </a:rPr>
                        <a:t>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000">
                          <a:effectLst/>
                        </a:rPr>
                        <a:t>El sistema connecta amb la passarel·la de pagament.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000">
                          <a:effectLst/>
                        </a:rPr>
                        <a:t>La passarel·la confirma la transacció.</a:t>
                      </a:r>
                      <a:endParaRPr lang="ca-ES" sz="1600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000">
                          <a:effectLst/>
                        </a:rPr>
                        <a:t>El sistema rep la confirmació de pagament.</a:t>
                      </a:r>
                      <a:endParaRPr lang="ca-ES" sz="1600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000">
                          <a:effectLst/>
                        </a:rPr>
                        <a:t>El sistema inicia el procés d’enviament/lliurament.</a:t>
                      </a:r>
                      <a:endParaRPr lang="ca-ES" sz="1600"/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ca-ES" sz="1000">
                          <a:effectLst/>
                        </a:rPr>
                        <a:t>El sistema ingressa l’import al compte bancari del cuiner.</a:t>
                      </a:r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9232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Subfluxos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Comanda amb repartidor: es reparteix l’import entre cuiner i repartidor segons regles de negoci.</a:t>
                      </a:r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6576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Fluxos alternatius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marL="228600" marR="457200" lvl="0" algn="l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FA-01 — Pagament rebutjat: la passarel·la denega la transacció; no hi ha ingrés; el cuiner rep notificació d’intent fallit (opcional).</a:t>
                      </a:r>
                      <a:b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</a:b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FA-02 — Temps excedit: si el pagament supera 7 minuts des de l’inici, es cancel·la (RNF-04-01).</a:t>
                      </a:r>
                      <a:b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</a:b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FA-03 — Dades bancàries incompletes: el sistema no pot fer l’ingrés i demana al cuiner completar el perfil.</a:t>
                      </a:r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19232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Postcondició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Pagament confirmat. Import ingressat al compte del cuiner. Comanda en curs d’enviament/lliurament.</a:t>
                      </a:r>
                      <a:endParaRPr lang="ca-ES" sz="1600"/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19232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Requeriments no funcionals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a-E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  <a:cs typeface="Times New Roman"/>
                        </a:rPr>
                        <a:t>RNF-04-00, RNF-04-01, RNF-01-02 (dades bancàries xifrades).</a:t>
                      </a:r>
                      <a:endParaRPr lang="ca-ES" sz="1600"/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19232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Prioritat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a-ES" sz="1000">
                          <a:effectLst/>
                        </a:rPr>
                        <a:t>Alta</a:t>
                      </a:r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19232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>
                          <a:effectLst/>
                        </a:rPr>
                        <a:t>Comentaris</a:t>
                      </a:r>
                      <a:endParaRPr lang="ca-ES" sz="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endParaRPr lang="ca-ES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963" marR="3996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318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253BA-895F-69CC-4178-07034674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2A5602-525E-F601-4270-C735FE986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E77491-1B6F-7134-0F4D-852E1CBB3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676270"/>
            <a:ext cx="6846363" cy="5354206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1868A2-953D-5542-B32D-49DBA826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1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1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16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Diagrama Classes final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F8EECB-67EF-96B0-12BB-B48E25432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49349"/>
            <a:ext cx="4692949" cy="5959301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10960</TotalTime>
  <Words>1591</Words>
  <Application>Microsoft Macintosh PowerPoint</Application>
  <PresentationFormat>Panorámica</PresentationFormat>
  <Paragraphs>221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Neue Haas Grotesk Text Pro</vt:lpstr>
      <vt:lpstr>Times New Roman</vt:lpstr>
      <vt:lpstr>AccentBoxVTI</vt:lpstr>
      <vt:lpstr>Enginyeria del Software</vt:lpstr>
      <vt:lpstr>Composició de l’equip 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Diagrama Classes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Enric Alvarez Bargada</cp:lastModifiedBy>
  <cp:revision>39</cp:revision>
  <dcterms:created xsi:type="dcterms:W3CDTF">2023-02-10T08:32:17Z</dcterms:created>
  <dcterms:modified xsi:type="dcterms:W3CDTF">2026-06-18T10:42:12Z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