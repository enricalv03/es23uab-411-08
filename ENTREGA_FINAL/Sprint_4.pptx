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2"/>
  </p:notesMasterIdLst>
  <p:sldIdLst>
    <p:sldId id="412" r:id="rId5"/>
    <p:sldId id="400" r:id="rId6"/>
    <p:sldId id="408" r:id="rId7"/>
    <p:sldId id="409" r:id="rId8"/>
    <p:sldId id="423" r:id="rId9"/>
    <p:sldId id="422" r:id="rId10"/>
    <p:sldId id="420" r:id="rId11"/>
    <p:sldId id="421" r:id="rId12"/>
    <p:sldId id="419" r:id="rId13"/>
    <p:sldId id="418" r:id="rId14"/>
    <p:sldId id="415" r:id="rId15"/>
    <p:sldId id="416" r:id="rId16"/>
    <p:sldId id="426" r:id="rId17"/>
    <p:sldId id="417" r:id="rId18"/>
    <p:sldId id="411" r:id="rId19"/>
    <p:sldId id="425" r:id="rId20"/>
    <p:sldId id="399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226297-821D-C026-8510-AC0DAAD445A5}" name="Neus Roig Prat" initials="NP" userId="S::1747967@uab.cat::3bc81f7a-da80-4c46-a01d-c9fc7c0075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6D6A1-6288-430E-C51C-D2134A38353A}" v="558" dt="2026-06-03T14:39:35.670"/>
    <p1510:client id="{59F2CAD0-966E-2010-C85E-BC9907410703}" v="15" dt="2026-06-04T08:45:28.9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400"/>
              <a:t>Pràctiques: Grup 411-08</a:t>
            </a:r>
          </a:p>
          <a:p>
            <a:endParaRPr lang="ca-ES" sz="1400"/>
          </a:p>
          <a:p>
            <a:pPr>
              <a:lnSpc>
                <a:spcPct val="100000"/>
              </a:lnSpc>
            </a:pPr>
            <a:r>
              <a:rPr lang="ca-ES" sz="1400" err="1"/>
              <a:t>Sprint</a:t>
            </a:r>
            <a:r>
              <a:rPr lang="ca-ES" sz="140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Composició de l’equip</a:t>
            </a:r>
            <a:r>
              <a:rPr lang="en-GB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/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2314AE07-3639-F5C2-D9BA-C0FC3F1B97C3}"/>
              </a:ext>
            </a:extLst>
          </p:cNvPr>
          <p:cNvSpPr txBox="1"/>
          <p:nvPr/>
        </p:nvSpPr>
        <p:spPr>
          <a:xfrm>
            <a:off x="1121756" y="2748188"/>
            <a:ext cx="263533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Enric </a:t>
            </a:r>
            <a:r>
              <a:rPr lang="es-ES" err="1"/>
              <a:t>Alvarez</a:t>
            </a:r>
            <a:r>
              <a:rPr lang="es-ES"/>
              <a:t> </a:t>
            </a:r>
            <a:r>
              <a:rPr lang="es-ES" err="1"/>
              <a:t>Bargada</a:t>
            </a:r>
            <a:endParaRPr lang="es-ES"/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BDC369DB-16A4-5A1E-3B9A-B758A83E309A}"/>
              </a:ext>
            </a:extLst>
          </p:cNvPr>
          <p:cNvSpPr txBox="1"/>
          <p:nvPr/>
        </p:nvSpPr>
        <p:spPr>
          <a:xfrm>
            <a:off x="1117251" y="3428027"/>
            <a:ext cx="429197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Neus Roig Prat (SCRUM MASTER)</a:t>
            </a:r>
            <a:endParaRPr lang="ca-ES"/>
          </a:p>
          <a:p>
            <a:endParaRPr lang="es-ES"/>
          </a:p>
        </p:txBody>
      </p:sp>
      <p:sp>
        <p:nvSpPr>
          <p:cNvPr id="7" name="CuadroTexto 14">
            <a:extLst>
              <a:ext uri="{FF2B5EF4-FFF2-40B4-BE49-F238E27FC236}">
                <a16:creationId xmlns:a16="http://schemas.microsoft.com/office/drawing/2014/main" id="{03C62CEE-6A8B-2B35-B786-8B14CB14DC3C}"/>
              </a:ext>
            </a:extLst>
          </p:cNvPr>
          <p:cNvSpPr txBox="1"/>
          <p:nvPr/>
        </p:nvSpPr>
        <p:spPr>
          <a:xfrm>
            <a:off x="1119162" y="4033289"/>
            <a:ext cx="51635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Blay Clotas Cekov</a:t>
            </a:r>
            <a:endParaRPr lang="ca-ES"/>
          </a:p>
        </p:txBody>
      </p:sp>
      <p:sp>
        <p:nvSpPr>
          <p:cNvPr id="15" name="CuadroTexto 15">
            <a:extLst>
              <a:ext uri="{FF2B5EF4-FFF2-40B4-BE49-F238E27FC236}">
                <a16:creationId xmlns:a16="http://schemas.microsoft.com/office/drawing/2014/main" id="{3D766566-045E-7674-F7AA-34E878B42A0B}"/>
              </a:ext>
            </a:extLst>
          </p:cNvPr>
          <p:cNvSpPr txBox="1"/>
          <p:nvPr/>
        </p:nvSpPr>
        <p:spPr>
          <a:xfrm>
            <a:off x="1117251" y="4680665"/>
            <a:ext cx="280786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Maria</a:t>
            </a:r>
            <a:r>
              <a:rPr lang="es-ES"/>
              <a:t> Figueras Martínez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Tasques fetes al sprint</a:t>
            </a:r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428603" y="2198728"/>
            <a:ext cx="10020823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ca-ES"/>
              <a:t>Tasca 1: Diagrama de Classes final (Tot l'equip)</a:t>
            </a:r>
          </a:p>
          <a:p>
            <a:pPr algn="just"/>
            <a:endParaRPr lang="ca-ES"/>
          </a:p>
          <a:p>
            <a:pPr algn="just"/>
            <a:r>
              <a:rPr lang="ca-ES"/>
              <a:t>Tasca 2: Diagrama de Seqüencia (Tot l'equip)</a:t>
            </a:r>
          </a:p>
          <a:p>
            <a:pPr algn="just"/>
            <a:endParaRPr lang="ca-ES"/>
          </a:p>
          <a:p>
            <a:pPr algn="just"/>
            <a:r>
              <a:rPr lang="ca-ES"/>
              <a:t>Tasca 5: Actualització BURNDOWN-CHART (Enric)</a:t>
            </a:r>
            <a:endParaRPr lang="en-US"/>
          </a:p>
          <a:p>
            <a:pPr algn="just"/>
            <a:endParaRPr lang="ca-ES"/>
          </a:p>
          <a:p>
            <a:pPr algn="just"/>
            <a:r>
              <a:rPr lang="ca-ES"/>
              <a:t>Tasca 6: Actualització Document d'Especificacions (Tot l'equip)</a:t>
            </a:r>
            <a:endParaRPr lang="en-US"/>
          </a:p>
          <a:p>
            <a:pPr algn="just"/>
            <a:endParaRPr lang="ca-ES"/>
          </a:p>
          <a:p>
            <a:pPr algn="just"/>
            <a:r>
              <a:rPr lang="ca-ES"/>
              <a:t>Tasca 7: Actualització GitHub (Tot l’equip)</a:t>
            </a:r>
            <a:endParaRPr lang="en-US"/>
          </a:p>
          <a:p>
            <a:pPr algn="just"/>
            <a:endParaRPr lang="ca-ES"/>
          </a:p>
          <a:p>
            <a:pPr algn="just"/>
            <a:r>
              <a:rPr lang="ca-ES"/>
              <a:t>Tasca 8: Creació PWP (Neus)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2155"/>
            <a:ext cx="12191999" cy="115584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71" y="5949311"/>
            <a:ext cx="7576409" cy="713913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Diagrama Classes final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073" y="182880"/>
            <a:ext cx="6766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F32F7B-3250-A16C-13CF-57F728E04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2438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DE8DCB-6F40-A3E0-5DE3-7510A3C2A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62672" y="6276696"/>
            <a:ext cx="7315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tge 4" descr="Imatge que conté text, diagrama, línia, Pla&#10;&#10;Pot ser que el contingut generat per IA no sigui correcte.">
            <a:extLst>
              <a:ext uri="{FF2B5EF4-FFF2-40B4-BE49-F238E27FC236}">
                <a16:creationId xmlns:a16="http://schemas.microsoft.com/office/drawing/2014/main" id="{C4B177DA-9B84-EFB7-9A69-71CC42C446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82" t="-178" r="-564" b="-706"/>
          <a:stretch>
            <a:fillRect/>
          </a:stretch>
        </p:blipFill>
        <p:spPr>
          <a:xfrm>
            <a:off x="501062" y="114832"/>
            <a:ext cx="11194397" cy="591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D0544-0BC7-F84D-94EE-29FD72E79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E530FCE-A7B7-BE65-2BBA-B54FF734D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2455AD-AC6B-28E7-8D1A-3423A6CAC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9A24430-B319-CF1B-F765-3A1273B5D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EFC41FF4-00C4-6384-0E37-DD36D5F44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0B810F59-2C3C-63D0-B92B-4D1080C27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948971-36DC-DD01-C460-A065AD25D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 err="1"/>
              <a:t>Diagrames</a:t>
            </a:r>
            <a:r>
              <a:rPr lang="en-US" sz="4800" dirty="0"/>
              <a:t> de </a:t>
            </a:r>
            <a:r>
              <a:rPr lang="en-US" sz="4800" dirty="0" err="1"/>
              <a:t>Seqüencia</a:t>
            </a:r>
            <a:br>
              <a:rPr lang="en-US" sz="4800" dirty="0"/>
            </a:br>
            <a:r>
              <a:rPr lang="en-US" sz="4800" dirty="0" err="1"/>
              <a:t>Usuari</a:t>
            </a:r>
            <a:r>
              <a:rPr lang="en-US" sz="4800" dirty="0"/>
              <a:t> No </a:t>
            </a:r>
            <a:r>
              <a:rPr lang="en-US" sz="4800" dirty="0" err="1"/>
              <a:t>Registrat</a:t>
            </a:r>
            <a:endParaRPr lang="en-US" sz="48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6AC161-03C2-E29A-559E-4CA3E836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59A041-6944-3907-BB6E-6FA1A22C4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29BCA9-A357-08EC-E49B-EFE5943A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996C3064-9323-3294-6791-CA1C35378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48972"/>
              </p:ext>
            </p:extLst>
          </p:nvPr>
        </p:nvGraphicFramePr>
        <p:xfrm>
          <a:off x="5281808" y="605424"/>
          <a:ext cx="6344196" cy="564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698">
                  <a:extLst>
                    <a:ext uri="{9D8B030D-6E8A-4147-A177-3AD203B41FA5}">
                      <a16:colId xmlns:a16="http://schemas.microsoft.com/office/drawing/2014/main" val="542679799"/>
                    </a:ext>
                  </a:extLst>
                </a:gridCol>
                <a:gridCol w="1841400">
                  <a:extLst>
                    <a:ext uri="{9D8B030D-6E8A-4147-A177-3AD203B41FA5}">
                      <a16:colId xmlns:a16="http://schemas.microsoft.com/office/drawing/2014/main" val="993608341"/>
                    </a:ext>
                  </a:extLst>
                </a:gridCol>
                <a:gridCol w="632736">
                  <a:extLst>
                    <a:ext uri="{9D8B030D-6E8A-4147-A177-3AD203B41FA5}">
                      <a16:colId xmlns:a16="http://schemas.microsoft.com/office/drawing/2014/main" val="3214694550"/>
                    </a:ext>
                  </a:extLst>
                </a:gridCol>
                <a:gridCol w="2539362">
                  <a:extLst>
                    <a:ext uri="{9D8B030D-6E8A-4147-A177-3AD203B41FA5}">
                      <a16:colId xmlns:a16="http://schemas.microsoft.com/office/drawing/2014/main" val="74762965"/>
                    </a:ext>
                  </a:extLst>
                </a:gridCol>
              </a:tblGrid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CAS D’ÚS: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/>
                        </a:rPr>
                        <a:t>Registrar-se</a:t>
                      </a:r>
                      <a:endParaRPr lang="en-US" sz="1100" b="1" i="0">
                        <a:solidFill>
                          <a:srgbClr val="FFFFFF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237034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Versió</a:t>
                      </a:r>
                      <a:endParaRPr lang="ca-ES" sz="10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1.0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Data</a:t>
                      </a:r>
                      <a:endParaRPr lang="ca-ES" sz="10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16/05/2026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587065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Autors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Enric, Blay, Maria i Neus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2919"/>
                  </a:ext>
                </a:extLst>
              </a:tr>
              <a:tr h="633998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Descripció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sistema ha de permetre el registre d'usuaris nous mitjançant un compte de correu electrònic i contrasenya o mitjançant comptes de Gmail i Outlook (accés ràpid).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509826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Actors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Usuari No registrat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270245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Precondició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L'usuari no ha d'estar autenticat.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989759"/>
                  </a:ext>
                </a:extLst>
              </a:tr>
              <a:tr h="1267997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Flux principal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rtl="0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L'usuari prem el botó de registre.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marR="0" lvl="0" indent="0" algn="just" rtl="0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L'usuari introdueix un compte de correu electrònic i contrasenya o utilitza un compte de Gmail o Outlook (accés ràpid).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marR="0" lvl="0" indent="0" algn="just" rtl="0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Durant el registre s'especifica obligatòriament el tipus de compte (client/cuiner/repartidor).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marR="0" lvl="0" indent="0" algn="just" rtl="0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El sistema valida l’usuari i el mail i crea el compte d'usuari nou.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360606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Subfluxos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---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82265"/>
                  </a:ext>
                </a:extLst>
              </a:tr>
              <a:tr h="575021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Fluxos alternatius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11303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sng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Nom d’usuari/mail amb un compte ja associada.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Si l’usuari ja existeix, s’haurà de notificar que ja hi ha un compte/usuari existent.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879238"/>
                  </a:ext>
                </a:extLst>
              </a:tr>
              <a:tr h="412835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Postcondició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Creació del nou compte amb el rol especificat (client/cuiner/repartidor).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309163"/>
                  </a:ext>
                </a:extLst>
              </a:tr>
              <a:tr h="633998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Requeriments no funcionals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RNF-01-02: Les contrasenyes s'emmagatzemen sempre xifrades i mai en text pla.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RNF-09-01: Temps de resposta màxim de 5 mil·lisegons.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770912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Prioritat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Alta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049839"/>
                  </a:ext>
                </a:extLst>
              </a:tr>
              <a:tr h="265394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Comentaris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Neue Haas Grotesk Text Pro"/>
                      </a:endParaRP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/>
                        </a:rPr>
                        <a:t> Necessari per poder utilitzar totes les funcionalitats de la aplicació</a:t>
                      </a:r>
                    </a:p>
                  </a:txBody>
                  <a:tcPr marL="22060" marR="22060" marT="31090" marB="3109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260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1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A6C54-808F-2EB5-3E39-32719D00D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E2F58BF-12E5-4B5A-AD25-4DAAA274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344352-9DBE-2B9E-879B-9029A43CC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Diagrames de Seqüencia Usuari No Registrat</a:t>
            </a:r>
          </a:p>
        </p:txBody>
      </p:sp>
      <p:sp>
        <p:nvSpPr>
          <p:cNvPr id="31" name="!!accent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774A64-7B98-6FDE-C641-091D3457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0907" y="6356350"/>
            <a:ext cx="188311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3" name="Imatge 2" descr="Imatge que conté text, diagrama, línia, Paral·lel&#10;&#10;Pot ser que el contingut generat per IA no sigui correcte.">
            <a:extLst>
              <a:ext uri="{FF2B5EF4-FFF2-40B4-BE49-F238E27FC236}">
                <a16:creationId xmlns:a16="http://schemas.microsoft.com/office/drawing/2014/main" id="{AA969BB7-97CD-3BDB-4334-727861418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029" y="114821"/>
            <a:ext cx="7539010" cy="66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5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68023-3DB3-BA45-EE2E-8D2D2C6C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6" name="Freeform: Shape 6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8" name="Freeform: Shape 6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45BC89-0D7C-D6CA-316D-FBA45498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Diagrames</a:t>
            </a:r>
            <a:r>
              <a:rPr lang="en-US" sz="4800" dirty="0"/>
              <a:t> de </a:t>
            </a:r>
            <a:r>
              <a:rPr lang="en-US" sz="4800" dirty="0" err="1"/>
              <a:t>Seqüencia</a:t>
            </a:r>
            <a:br>
              <a:rPr lang="en-US" sz="4800" dirty="0"/>
            </a:br>
            <a:r>
              <a:rPr lang="en-US" sz="4800" dirty="0" err="1"/>
              <a:t>Repartidor</a:t>
            </a:r>
            <a:endParaRPr lang="en-US" sz="48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980617-EC6F-729B-8220-04395744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8FAD1C09-DC9C-171D-5310-689100B41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123057"/>
              </p:ext>
            </p:extLst>
          </p:nvPr>
        </p:nvGraphicFramePr>
        <p:xfrm>
          <a:off x="5414356" y="789908"/>
          <a:ext cx="6408838" cy="5421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36">
                  <a:extLst>
                    <a:ext uri="{9D8B030D-6E8A-4147-A177-3AD203B41FA5}">
                      <a16:colId xmlns:a16="http://schemas.microsoft.com/office/drawing/2014/main" val="3845405021"/>
                    </a:ext>
                  </a:extLst>
                </a:gridCol>
                <a:gridCol w="1451054">
                  <a:extLst>
                    <a:ext uri="{9D8B030D-6E8A-4147-A177-3AD203B41FA5}">
                      <a16:colId xmlns:a16="http://schemas.microsoft.com/office/drawing/2014/main" val="3925071806"/>
                    </a:ext>
                  </a:extLst>
                </a:gridCol>
                <a:gridCol w="1545894">
                  <a:extLst>
                    <a:ext uri="{9D8B030D-6E8A-4147-A177-3AD203B41FA5}">
                      <a16:colId xmlns:a16="http://schemas.microsoft.com/office/drawing/2014/main" val="2745681793"/>
                    </a:ext>
                  </a:extLst>
                </a:gridCol>
                <a:gridCol w="2066554">
                  <a:extLst>
                    <a:ext uri="{9D8B030D-6E8A-4147-A177-3AD203B41FA5}">
                      <a16:colId xmlns:a16="http://schemas.microsoft.com/office/drawing/2014/main" val="472764123"/>
                    </a:ext>
                  </a:extLst>
                </a:gridCol>
              </a:tblGrid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FFFFFF"/>
                          </a:solidFill>
                          <a:effectLst/>
                          <a:latin typeface="Helvetica"/>
                          <a:cs typeface="Helvetica"/>
                        </a:rPr>
                        <a:t>CAS D’ÚS:</a:t>
                      </a:r>
                      <a:endParaRPr lang="ca-ES" sz="1100" b="1" i="0">
                        <a:solidFill>
                          <a:srgbClr val="FFFFFF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FFFFFF"/>
                          </a:solidFill>
                          <a:effectLst/>
                          <a:latin typeface="Helvetica"/>
                          <a:cs typeface="Helvetica"/>
                        </a:rPr>
                        <a:t>Realitzar lliurament de comanda </a:t>
                      </a:r>
                      <a:endParaRPr lang="en-US" sz="1100" b="1" i="0">
                        <a:solidFill>
                          <a:srgbClr val="FFFFFF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836845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Versió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1.0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Data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16/05/2026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59861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Autors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Enric, Blay, Maria i Neus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086774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Descripció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El repartidor duu a terme el lliurament de la comanda assignada al destí indicat pel client.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918982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Actors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Repartidor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175097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Precondició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La comanda ha d'haver estat recollida prèviament pel repartidor.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090688"/>
                  </a:ext>
                </a:extLst>
              </a:tr>
              <a:tr h="620689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Flux principal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rtl="0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El repartidor transporta la comanda fins a la destinació.</a:t>
                      </a:r>
                      <a:endParaRPr lang="en-US" sz="7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  <a:p>
                      <a:pPr marL="0" marR="0" lvl="0" indent="0" algn="just" rtl="0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El repartidor confirma el lliurament de la comanda desde l'aplicació per finalitzar el procés d'enviament.</a:t>
                      </a:r>
                      <a:endParaRPr lang="en-US" sz="7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793661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Subfluxos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---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22348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Fluxos alternatius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16637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---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321271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Postcondició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La comanda es confirma com a lliurada correctament dins del sistema.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909587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Requeriments no funcionals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RNF-09-01: Temps de resposta màxim de 5 mil·lisegons.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RNF-10-00: Funcionament en dispositius mòbils Android i iOS.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105568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Prioritat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Alta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825788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Comentaris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Necessari tenir finalitzada la comanda perquè el repartidor pugui cobrar l’enviament.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19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17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FCEBA-056D-8830-2439-BF52C2AC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AB22B2-7528-7E80-64EB-1B198FCB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 Repartidor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tge 5" descr="Imatge que conté text, diagrama, captura de pantalla, Font&#10;&#10;Pot ser que el contingut generat per IA no sigui correcte.">
            <a:extLst>
              <a:ext uri="{FF2B5EF4-FFF2-40B4-BE49-F238E27FC236}">
                <a16:creationId xmlns:a16="http://schemas.microsoft.com/office/drawing/2014/main" id="{05242EDE-98DD-EAD9-BDC1-9B783BE43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704" y="638622"/>
            <a:ext cx="7138637" cy="5711337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76311B-CF0D-8177-034C-F99A363B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27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BAFC0-0EC9-B5BF-F8C3-03F9FF84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F950D2-24C3-5EE6-02BF-EC5C6F4A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Diagrames</a:t>
            </a:r>
            <a:r>
              <a:rPr lang="en-US" sz="4800" dirty="0"/>
              <a:t> de </a:t>
            </a:r>
            <a:r>
              <a:rPr lang="en-US" sz="4800" dirty="0" err="1"/>
              <a:t>Seqüencia</a:t>
            </a:r>
            <a:r>
              <a:rPr lang="en-US" sz="4800" dirty="0"/>
              <a:t> </a:t>
            </a:r>
            <a:r>
              <a:rPr lang="en-US" sz="4800" dirty="0" err="1"/>
              <a:t>Cuiner</a:t>
            </a:r>
            <a:endParaRPr lang="en-US" sz="48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B2BC31-0B78-0C75-4E75-28FDDC65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03D84335-93C3-4032-D1E0-F6DE79C26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4495"/>
              </p:ext>
            </p:extLst>
          </p:nvPr>
        </p:nvGraphicFramePr>
        <p:xfrm>
          <a:off x="5195150" y="291286"/>
          <a:ext cx="6838333" cy="6256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374">
                  <a:extLst>
                    <a:ext uri="{9D8B030D-6E8A-4147-A177-3AD203B41FA5}">
                      <a16:colId xmlns:a16="http://schemas.microsoft.com/office/drawing/2014/main" val="1123862778"/>
                    </a:ext>
                  </a:extLst>
                </a:gridCol>
                <a:gridCol w="1376057">
                  <a:extLst>
                    <a:ext uri="{9D8B030D-6E8A-4147-A177-3AD203B41FA5}">
                      <a16:colId xmlns:a16="http://schemas.microsoft.com/office/drawing/2014/main" val="2586075452"/>
                    </a:ext>
                  </a:extLst>
                </a:gridCol>
                <a:gridCol w="1488961">
                  <a:extLst>
                    <a:ext uri="{9D8B030D-6E8A-4147-A177-3AD203B41FA5}">
                      <a16:colId xmlns:a16="http://schemas.microsoft.com/office/drawing/2014/main" val="1293945427"/>
                    </a:ext>
                  </a:extLst>
                </a:gridCol>
                <a:gridCol w="2109941">
                  <a:extLst>
                    <a:ext uri="{9D8B030D-6E8A-4147-A177-3AD203B41FA5}">
                      <a16:colId xmlns:a16="http://schemas.microsoft.com/office/drawing/2014/main" val="1585241723"/>
                    </a:ext>
                  </a:extLst>
                </a:gridCol>
              </a:tblGrid>
              <a:tr h="23433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Helvetica"/>
                        </a:rPr>
                        <a:t>CAS D’ÚS:</a:t>
                      </a:r>
                      <a:endParaRPr lang="en-US" sz="1100" b="1" i="0">
                        <a:solidFill>
                          <a:srgbClr val="FFFFFF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 u="none" strike="noStrike">
                          <a:solidFill>
                            <a:srgbClr val="FFFFFF"/>
                          </a:solidFill>
                          <a:effectLst/>
                          <a:latin typeface="Helvetica"/>
                        </a:rPr>
                        <a:t>Rebre diners al compte quan es paga una comanda</a:t>
                      </a:r>
                      <a:endParaRPr lang="en-US" sz="1100" b="1" i="0">
                        <a:solidFill>
                          <a:srgbClr val="FFFFFF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308352"/>
                  </a:ext>
                </a:extLst>
              </a:tr>
              <a:tr h="23433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Versió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2.0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Data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16/05/2026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9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67748"/>
                  </a:ext>
                </a:extLst>
              </a:tr>
              <a:tr h="23433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Autors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Enric, Blay, Maria i Neus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241495"/>
                  </a:ext>
                </a:extLst>
              </a:tr>
              <a:tr h="68999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Descripció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Quan el client confirma el pagament d’una comanda mitjançant la passarel·la, el sistema ingressa automàticament l’import corresponent al compte bancari del cuiner (i la part del repartidor si escau)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108910"/>
                  </a:ext>
                </a:extLst>
              </a:tr>
              <a:tr h="23433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Actors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Cuiner, passarel·la de pagament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321990"/>
                  </a:ext>
                </a:extLst>
              </a:tr>
              <a:tr h="53377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Precondició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Comanda associada al cuiner en estat pendent de pagament. El cuiner té dades bancàries registrades i xifrades. El client inicia el pagamen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481946"/>
                  </a:ext>
                </a:extLst>
              </a:tr>
              <a:tr h="1158674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Flux principal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client paga la comanda dins de l’aplicació amb targeta o PayPal.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l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connecta amb la passarel·la de pagament.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l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La passarel·la confirma la transacció.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l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rep la confirmació de pagament.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l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inicia el procés d’enviament/lliurament.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l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ingressa l’import al compte bancari del cuiner.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701715"/>
                  </a:ext>
                </a:extLst>
              </a:tr>
              <a:tr h="390564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Subfluxos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Comanda amb repartidor: es reparteix l’import entre cuiner i repartidor segons regles de negoci.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812908"/>
                  </a:ext>
                </a:extLst>
              </a:tr>
              <a:tr h="102848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Fluxos alternatius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161925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FA-01 — Pagament rebutjat: la passarel·la denega la transacció; no hi ha ingrés; el cuiner rep notificació d’intent fallit (opcional).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</a:b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FA-02 — Temps excedit: si el pagament supera 7 minuts des de l’inici, es cancel·la (RNF-04-01).</a:t>
                      </a:r>
                      <a:b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</a:b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FA-03 — Dades bancàries incompletes: el sistema no pot fer l’ingrés i demana al cuiner completar el perfil.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90341"/>
                  </a:ext>
                </a:extLst>
              </a:tr>
              <a:tr h="390564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Postcondició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Pagament confirmat. Import ingressat al compte del cuiner. Comanda en curs d’enviament/lliurament.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618690"/>
                  </a:ext>
                </a:extLst>
              </a:tr>
              <a:tr h="390564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Requeriments no funcionals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RNF-04-00, RNF-04-01, RNF-01-02 (dades bancàries xifrades).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125400"/>
                  </a:ext>
                </a:extLst>
              </a:tr>
              <a:tr h="23433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Prioritat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Alta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6591"/>
                  </a:ext>
                </a:extLst>
              </a:tr>
              <a:tr h="23433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Comentaris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fontAlgn="t">
                        <a:lnSpc>
                          <a:spcPct val="100000"/>
                        </a:lnSpc>
                        <a:buNone/>
                      </a:pPr>
                      <a:endParaRPr lang="ca-ES" sz="1100" dirty="0">
                        <a:effectLst/>
                      </a:endParaRPr>
                    </a:p>
                  </a:txBody>
                  <a:tcPr marL="27307" marR="27307" marT="42806" marB="428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271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33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F49FB-9B48-F8D3-E7C4-7CF19274D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0842E1-B3D6-0608-E7F1-DCDA2032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 Cuiner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tge 2" descr="Imatge que conté text, diagrama, Paral·lel, nombre&#10;&#10;Pot ser que el contingut generat per IA no sigui correcte.">
            <a:extLst>
              <a:ext uri="{FF2B5EF4-FFF2-40B4-BE49-F238E27FC236}">
                <a16:creationId xmlns:a16="http://schemas.microsoft.com/office/drawing/2014/main" id="{A4C17322-527F-1610-1A48-7FB96AD5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84" b="1470"/>
          <a:stretch>
            <a:fillRect/>
          </a:stretch>
        </p:blipFill>
        <p:spPr>
          <a:xfrm>
            <a:off x="5383542" y="0"/>
            <a:ext cx="6811180" cy="685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1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17F27-5031-6C13-CA92-32B7E70F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FFC6E6-34E3-2F10-E39C-9B1AD019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Diagrames</a:t>
            </a:r>
            <a:r>
              <a:rPr lang="en-US" sz="4800" dirty="0"/>
              <a:t> de </a:t>
            </a:r>
            <a:r>
              <a:rPr lang="en-US" sz="4800" dirty="0" err="1"/>
              <a:t>Seqüencia</a:t>
            </a:r>
            <a:r>
              <a:rPr lang="en-US" sz="4800" dirty="0"/>
              <a:t> Client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A5F22E-E4B7-6AE6-442A-EBE42DAC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2FAE2002-3171-ECD8-9C16-8D6C55432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913900"/>
              </p:ext>
            </p:extLst>
          </p:nvPr>
        </p:nvGraphicFramePr>
        <p:xfrm>
          <a:off x="5187863" y="417534"/>
          <a:ext cx="6810398" cy="601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775">
                  <a:extLst>
                    <a:ext uri="{9D8B030D-6E8A-4147-A177-3AD203B41FA5}">
                      <a16:colId xmlns:a16="http://schemas.microsoft.com/office/drawing/2014/main" val="365600650"/>
                    </a:ext>
                  </a:extLst>
                </a:gridCol>
                <a:gridCol w="1949102">
                  <a:extLst>
                    <a:ext uri="{9D8B030D-6E8A-4147-A177-3AD203B41FA5}">
                      <a16:colId xmlns:a16="http://schemas.microsoft.com/office/drawing/2014/main" val="2400444494"/>
                    </a:ext>
                  </a:extLst>
                </a:gridCol>
                <a:gridCol w="1447208">
                  <a:extLst>
                    <a:ext uri="{9D8B030D-6E8A-4147-A177-3AD203B41FA5}">
                      <a16:colId xmlns:a16="http://schemas.microsoft.com/office/drawing/2014/main" val="1869785427"/>
                    </a:ext>
                  </a:extLst>
                </a:gridCol>
                <a:gridCol w="1982313">
                  <a:extLst>
                    <a:ext uri="{9D8B030D-6E8A-4147-A177-3AD203B41FA5}">
                      <a16:colId xmlns:a16="http://schemas.microsoft.com/office/drawing/2014/main" val="690765097"/>
                    </a:ext>
                  </a:extLst>
                </a:gridCol>
              </a:tblGrid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FFFFFF"/>
                          </a:solidFill>
                          <a:effectLst/>
                          <a:latin typeface="Helvetica"/>
                        </a:rPr>
                        <a:t>CAS D’ÚS: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 u="none" strike="noStrike">
                          <a:solidFill>
                            <a:srgbClr val="FFFFFF"/>
                          </a:solidFill>
                          <a:effectLst/>
                          <a:latin typeface="Helvetica"/>
                        </a:rPr>
                        <a:t>Fer una comanda (màxim 3 actives)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325755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Versió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1.0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Data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16/05/2026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152230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Autors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Enric, Blay, Maria i Neus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605194"/>
                  </a:ext>
                </a:extLst>
              </a:tr>
              <a:tr h="70701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Descripció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Aquest cas d’ús descriu com els clients poden realitzar una comanda seleccionant plats d'un cuiner. El sistema impedeix a un mateix client tenir més de 3 comandes actives simultàniament.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73596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Actors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Client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42756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Precondició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client està registrat i té menys de 3 comandes actives.</a:t>
                      </a:r>
                      <a:endParaRPr lang="es-ES" sz="1200" b="0" i="0" dirty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067669"/>
                  </a:ext>
                </a:extLst>
              </a:tr>
              <a:tr h="1024454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Flux principal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client selecciona un cuiner i afageix plats/meús a la comanda.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verifica que el client no supero el límit de 3 comandes actives.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calcula el cost d'enviament.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client confirma la comanda.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sistema registra la comanda amb estat "activa".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665544"/>
                  </a:ext>
                </a:extLst>
              </a:tr>
              <a:tr h="51944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Subfluxos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Si el </a:t>
                      </a:r>
                      <a:r>
                        <a:rPr lang="es-ES" sz="12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cuiner</a:t>
                      </a: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 no </a:t>
                      </a:r>
                      <a:r>
                        <a:rPr lang="es-ES" sz="12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està</a:t>
                      </a: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 disponible es </a:t>
                      </a:r>
                      <a:r>
                        <a:rPr lang="es-ES" sz="12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pot</a:t>
                      </a: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 "Reservar comanda per </a:t>
                      </a:r>
                      <a:r>
                        <a:rPr lang="es-ES" sz="12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quan</a:t>
                      </a: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 el </a:t>
                      </a:r>
                      <a:r>
                        <a:rPr lang="es-ES" sz="12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cuiner</a:t>
                      </a: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 </a:t>
                      </a:r>
                      <a:r>
                        <a:rPr lang="es-ES" sz="12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està</a:t>
                      </a: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 disponible".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346112"/>
                  </a:ext>
                </a:extLst>
              </a:tr>
              <a:tr h="51944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Fluxos alternatius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El client ja té 3 comandes actives: el sistema mostra un missatge d'error i no permet la nova comanda (RF-02-06).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20235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Postcondició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La comanda queda registrada com a activa i s'actualitza el límit disponible.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29026"/>
                  </a:ext>
                </a:extLst>
              </a:tr>
              <a:tr h="70701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Requeriments no funcionals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---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509711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Prioritat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Alta</a:t>
                      </a:r>
                      <a:endParaRPr lang="es-ES" sz="1200" b="0" i="0" dirty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60988"/>
                  </a:ext>
                </a:extLst>
              </a:tr>
              <a:tr h="31743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Comentaris</a:t>
                      </a:r>
                      <a:endParaRPr lang="ca-E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</a:rPr>
                        <a:t>Inclou (&lt;&lt;include&gt;&gt;) el càlcul del cost d'enviament.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Helvetica"/>
                      </a:endParaRPr>
                    </a:p>
                  </a:txBody>
                  <a:tcPr marL="38986" marR="38986" marT="40110" marB="4011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4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4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A7588-47D5-0462-1398-B945ABF1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A7FE27-005E-6D7C-CACD-F34DB0A2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 Client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tge 5" descr="Imatge que conté text, diagrama, Paral·lel, línia&#10;&#10;Pot ser que el contingut generat per IA no sigui correcte.">
            <a:extLst>
              <a:ext uri="{FF2B5EF4-FFF2-40B4-BE49-F238E27FC236}">
                <a16:creationId xmlns:a16="http://schemas.microsoft.com/office/drawing/2014/main" id="{13E96314-8615-B637-231F-740D5002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18" y="106266"/>
            <a:ext cx="8276417" cy="664035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63E3B4-ADC7-225A-08DE-A8710F05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236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966B3-FF97-93C5-17B6-3FA23834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99F62A-C255-81E8-A16C-C6876E72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 Client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B6DF57-3DDC-1247-AADC-96288E50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ula 4">
            <a:extLst>
              <a:ext uri="{FF2B5EF4-FFF2-40B4-BE49-F238E27FC236}">
                <a16:creationId xmlns:a16="http://schemas.microsoft.com/office/drawing/2014/main" id="{A7EFFEC7-319B-00DE-53A8-24AD0512F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402610"/>
              </p:ext>
            </p:extLst>
          </p:nvPr>
        </p:nvGraphicFramePr>
        <p:xfrm>
          <a:off x="5229616" y="584547"/>
          <a:ext cx="6771211" cy="5689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941">
                  <a:extLst>
                    <a:ext uri="{9D8B030D-6E8A-4147-A177-3AD203B41FA5}">
                      <a16:colId xmlns:a16="http://schemas.microsoft.com/office/drawing/2014/main" val="415452537"/>
                    </a:ext>
                  </a:extLst>
                </a:gridCol>
                <a:gridCol w="1113442">
                  <a:extLst>
                    <a:ext uri="{9D8B030D-6E8A-4147-A177-3AD203B41FA5}">
                      <a16:colId xmlns:a16="http://schemas.microsoft.com/office/drawing/2014/main" val="283343926"/>
                    </a:ext>
                  </a:extLst>
                </a:gridCol>
                <a:gridCol w="1446542">
                  <a:extLst>
                    <a:ext uri="{9D8B030D-6E8A-4147-A177-3AD203B41FA5}">
                      <a16:colId xmlns:a16="http://schemas.microsoft.com/office/drawing/2014/main" val="1124560161"/>
                    </a:ext>
                  </a:extLst>
                </a:gridCol>
                <a:gridCol w="2418286">
                  <a:extLst>
                    <a:ext uri="{9D8B030D-6E8A-4147-A177-3AD203B41FA5}">
                      <a16:colId xmlns:a16="http://schemas.microsoft.com/office/drawing/2014/main" val="3979263122"/>
                    </a:ext>
                  </a:extLst>
                </a:gridCol>
              </a:tblGrid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CAS D’ÚS: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84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FFFFFF"/>
                          </a:solidFill>
                          <a:effectLst/>
                          <a:latin typeface="Helvetica" panose="020B0604020202020204" pitchFamily="34" charset="0"/>
                        </a:rPr>
                        <a:t>Pagar una comanda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38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92325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Versió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1.0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Data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16/05/2026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538009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Autors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Enric, Blay, Maria i Neus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594137"/>
                  </a:ext>
                </a:extLst>
              </a:tr>
              <a:tr h="51194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Descripció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client pot pagar una comanda mitjançant tagreta bancària, PayPal o pagament dins de l’aplicació.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49831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Actors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Client, Passarel·la de pagament.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506491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Precondició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client té una comanda pendent de pagament.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758134"/>
                  </a:ext>
                </a:extLst>
              </a:tr>
              <a:tr h="112627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Flux principal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client confirma la comanda.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sistema mostra les opcions de pagament disponibles.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client selecciona un mètode de pagament.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lvl="0" indent="0" algn="just" fontAlgn="base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sistema confirma que el pagament s’ha realitzat correctament.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997054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Subfluxos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---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411848"/>
                  </a:ext>
                </a:extLst>
              </a:tr>
              <a:tr h="51194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Fluxos alternatius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El pagament falla; el sistema mostra un missatge d’error i permet tornar-ho a intentar.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742037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Postcondició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La comanda queda pagada.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041467"/>
                  </a:ext>
                </a:extLst>
              </a:tr>
              <a:tr h="51194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Requeriments no funcionals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RNF-04-00, RNF-04-01 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009289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Prioritat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Alta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007051"/>
                  </a:ext>
                </a:extLst>
              </a:tr>
              <a:tr h="33641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Comentaris</a:t>
                      </a:r>
                      <a:endParaRPr lang="ca-E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</a:rPr>
                        <a:t> Té com a extend usar punts I descomptes.</a:t>
                      </a:r>
                      <a:endParaRPr lang="en-US" sz="2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403" marR="104403" marT="52202" marB="52202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2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606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415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E71B4-DD27-7CCC-1C1B-F2BE0A0E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507AFB-F729-BACD-E9C2-9C68C1D6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 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tge 2" descr="Imatge que conté text, diagrama, captura de pantalla, Paral·lel&#10;&#10;Pot ser que el contingut generat per IA no sigui correcte.">
            <a:extLst>
              <a:ext uri="{FF2B5EF4-FFF2-40B4-BE49-F238E27FC236}">
                <a16:creationId xmlns:a16="http://schemas.microsoft.com/office/drawing/2014/main" id="{4E42B2ED-96FC-C7A4-43C7-B51FCB223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604" y="9821"/>
            <a:ext cx="6667825" cy="684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53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Burn-down chart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tge 14" descr="Imatge que conté text, captura de pantalla, nombre, diagrama&#10;&#10;Pot ser que el contingut generat per IA no sigui correcte.">
            <a:extLst>
              <a:ext uri="{FF2B5EF4-FFF2-40B4-BE49-F238E27FC236}">
                <a16:creationId xmlns:a16="http://schemas.microsoft.com/office/drawing/2014/main" id="{4DB531BD-9AA6-5898-8E42-673A2669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05" r="-73"/>
          <a:stretch>
            <a:fillRect/>
          </a:stretch>
        </p:blipFill>
        <p:spPr>
          <a:xfrm>
            <a:off x="4864608" y="1146905"/>
            <a:ext cx="6846363" cy="441293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número de diapositiva 1">
            <a:extLst>
              <a:ext uri="{FF2B5EF4-FFF2-40B4-BE49-F238E27FC236}">
                <a16:creationId xmlns:a16="http://schemas.microsoft.com/office/drawing/2014/main" id="{E56FFB01-14F1-4982-02D8-E43BC153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97E873-7ADC-E0F2-2634-9EF8AFA4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57"/>
          <a:stretch>
            <a:fillRect/>
          </a:stretch>
        </p:blipFill>
        <p:spPr>
          <a:xfrm>
            <a:off x="0" y="0"/>
            <a:ext cx="1697762" cy="146573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B6B0CBA-0D92-2B58-0402-2527DBC34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772" y="0"/>
            <a:ext cx="1492380" cy="146573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33DAF95-E4F0-1E0E-F49C-37CF62422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173" y="52488"/>
            <a:ext cx="1697762" cy="1360753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5608A23-81AB-E4D0-B350-E345D7DD77CE}"/>
              </a:ext>
            </a:extLst>
          </p:cNvPr>
          <p:cNvCxnSpPr>
            <a:cxnSpLocks/>
          </p:cNvCxnSpPr>
          <p:nvPr/>
        </p:nvCxnSpPr>
        <p:spPr>
          <a:xfrm>
            <a:off x="67173" y="1556657"/>
            <a:ext cx="3429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4CAE723-5BE4-5636-FEE1-073B41888918}"/>
              </a:ext>
            </a:extLst>
          </p:cNvPr>
          <p:cNvCxnSpPr>
            <a:cxnSpLocks/>
          </p:cNvCxnSpPr>
          <p:nvPr/>
        </p:nvCxnSpPr>
        <p:spPr>
          <a:xfrm>
            <a:off x="3394162" y="52488"/>
            <a:ext cx="7960" cy="155665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DB2C03DB-DC60-E947-4EB2-ED8BE3B51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986" y="52488"/>
            <a:ext cx="1866472" cy="132702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BC766A0-DB67-DB3E-C4CF-D19921F5B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509" y="139470"/>
            <a:ext cx="1697761" cy="1240047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DFD6BA7-017B-6790-EB5E-F5D6181A177F}"/>
              </a:ext>
            </a:extLst>
          </p:cNvPr>
          <p:cNvCxnSpPr>
            <a:cxnSpLocks/>
          </p:cNvCxnSpPr>
          <p:nvPr/>
        </p:nvCxnSpPr>
        <p:spPr>
          <a:xfrm>
            <a:off x="3402122" y="1556657"/>
            <a:ext cx="5672867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88DCF82-6AC8-0393-B726-8BEBAB156D27}"/>
              </a:ext>
            </a:extLst>
          </p:cNvPr>
          <p:cNvCxnSpPr>
            <a:cxnSpLocks/>
          </p:cNvCxnSpPr>
          <p:nvPr/>
        </p:nvCxnSpPr>
        <p:spPr>
          <a:xfrm>
            <a:off x="9067029" y="-1"/>
            <a:ext cx="7960" cy="155665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n 21">
            <a:extLst>
              <a:ext uri="{FF2B5EF4-FFF2-40B4-BE49-F238E27FC236}">
                <a16:creationId xmlns:a16="http://schemas.microsoft.com/office/drawing/2014/main" id="{5F77CC2A-4668-AF92-988F-9932E76C8B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5748" y="52489"/>
            <a:ext cx="1478612" cy="141324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2DE86C6-BCED-E5A0-6016-523AF8952B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1389" y="154745"/>
            <a:ext cx="1356766" cy="125849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6F99AA4-8C16-4CEB-3147-F38B91BF43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2664" y="1677384"/>
            <a:ext cx="1519688" cy="156106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026632D-65CF-FC99-0C58-D143989A0A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2878" y="1725158"/>
            <a:ext cx="1577149" cy="132702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73F914B-159B-F915-14C8-E510C5784B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0553" y="1642871"/>
            <a:ext cx="1311447" cy="1377019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D8DA245-F704-403E-C16C-F1CB7093CE9B}"/>
              </a:ext>
            </a:extLst>
          </p:cNvPr>
          <p:cNvCxnSpPr>
            <a:cxnSpLocks/>
          </p:cNvCxnSpPr>
          <p:nvPr/>
        </p:nvCxnSpPr>
        <p:spPr>
          <a:xfrm>
            <a:off x="7248509" y="1556656"/>
            <a:ext cx="0" cy="1872344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E4EF5ED-32FF-7552-79D1-B10C5B497FD4}"/>
              </a:ext>
            </a:extLst>
          </p:cNvPr>
          <p:cNvCxnSpPr>
            <a:cxnSpLocks/>
          </p:cNvCxnSpPr>
          <p:nvPr/>
        </p:nvCxnSpPr>
        <p:spPr>
          <a:xfrm>
            <a:off x="7248509" y="3429000"/>
            <a:ext cx="4943491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n 30">
            <a:extLst>
              <a:ext uri="{FF2B5EF4-FFF2-40B4-BE49-F238E27FC236}">
                <a16:creationId xmlns:a16="http://schemas.microsoft.com/office/drawing/2014/main" id="{04712FA4-681D-D266-0B88-2325DC39B7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73" y="1642871"/>
            <a:ext cx="1559163" cy="1465730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09FA471-1943-C359-BC8E-A1F1EEDC38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4608" y="1609145"/>
            <a:ext cx="1144044" cy="155665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AED49156-97B0-E728-3CBE-3A989973F8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80512" y="1653814"/>
            <a:ext cx="1554480" cy="139736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911C05D-113A-6609-8DA7-72D8AA6232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29104" y="1627318"/>
            <a:ext cx="1453716" cy="14503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21F7FFE1-9667-1312-B81B-8C572B8621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627" y="3315441"/>
            <a:ext cx="1555135" cy="136074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31D6EE9-C424-A60B-9472-A9358AC7C4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17801" y="3262951"/>
            <a:ext cx="1672691" cy="1465725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974E4937-AE32-3D46-374F-9B851B732D9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81957" y="3194814"/>
            <a:ext cx="2139265" cy="1450349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8AB3F607-510C-5D47-5901-3473B70EDC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92019" y="3458981"/>
            <a:ext cx="1818581" cy="1578194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B585065-55DD-15BE-167B-41FD01635CB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40343" y="3489751"/>
            <a:ext cx="1669684" cy="157819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21437C79-F0A1-BCE7-B4E6-8947FA2E8D0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13" y="4920935"/>
            <a:ext cx="1697762" cy="143541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6826A496-9BC4-F2BF-7B8A-627397B57C6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86591" y="4940452"/>
            <a:ext cx="1694810" cy="1529757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6674085-CD69-FA81-D0A3-1EA0DA8DC43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28481" y="4980156"/>
            <a:ext cx="1669684" cy="165247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04A95D9C-8896-0C32-99EE-CA67106D959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00854" y="5140772"/>
            <a:ext cx="1763931" cy="159376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D4FCA67B-30F0-D6E3-F044-37D2EA3603D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97389" y="5157683"/>
            <a:ext cx="1312446" cy="158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38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1400"/>
              <a:t>Pràctiques: Grup 411-08</a:t>
            </a:r>
          </a:p>
          <a:p>
            <a:pPr>
              <a:lnSpc>
                <a:spcPct val="100000"/>
              </a:lnSpc>
            </a:pPr>
            <a:endParaRPr lang="ca-ES" sz="1400"/>
          </a:p>
          <a:p>
            <a:pPr>
              <a:lnSpc>
                <a:spcPct val="100000"/>
              </a:lnSpc>
            </a:pPr>
            <a:r>
              <a:rPr lang="ca-ES" sz="1400"/>
              <a:t>Sprint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7A2FCE-FB77-4A2D-98B9-B8BD51BEE8CE}">
  <ds:schemaRefs>
    <ds:schemaRef ds:uri="7b814fa0-4f1b-4d56-8a36-064af1e36e66"/>
    <ds:schemaRef ds:uri="b1fa7ccf-aa4f-4f27-84db-07667d020a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7b814fa0-4f1b-4d56-8a36-064af1e36e66"/>
    <ds:schemaRef ds:uri="b1fa7ccf-aa4f-4f27-84db-07667d020a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Pantalla panoràmica</PresentationFormat>
  <Slides>17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Títols de les diapositives</vt:lpstr>
      </vt:variant>
      <vt:variant>
        <vt:i4>17</vt:i4>
      </vt:variant>
    </vt:vector>
  </HeadingPairs>
  <TitlesOfParts>
    <vt:vector size="18" baseType="lpstr">
      <vt:lpstr>AccentBoxVTI</vt:lpstr>
      <vt:lpstr>Enginyeria del Software</vt:lpstr>
      <vt:lpstr>Composició de l’equip </vt:lpstr>
      <vt:lpstr>Tasques fetes al sprint</vt:lpstr>
      <vt:lpstr>Diagrama Classes final</vt:lpstr>
      <vt:lpstr>Diagrames de Seqüencia Usuari No Registrat</vt:lpstr>
      <vt:lpstr>Diagrames de Seqüencia Usuari No Registrat</vt:lpstr>
      <vt:lpstr>Diagrames de Seqüencia Repartidor</vt:lpstr>
      <vt:lpstr>Diagrames de Seqüencia Repartidor</vt:lpstr>
      <vt:lpstr>Diagrames de Seqüencia Cuiner</vt:lpstr>
      <vt:lpstr>Diagrames de Seqüencia Cuiner</vt:lpstr>
      <vt:lpstr>Diagrames de Seqüencia Client</vt:lpstr>
      <vt:lpstr>Diagrames de Seqüencia Client</vt:lpstr>
      <vt:lpstr>Diagrames de Seqüencia Client</vt:lpstr>
      <vt:lpstr>Diagrames de Seqüencia Client</vt:lpstr>
      <vt:lpstr>Burn-down chart</vt:lpstr>
      <vt:lpstr>Presentació del PowerPoint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revision>134</cp:revision>
  <dcterms:created xsi:type="dcterms:W3CDTF">2023-02-10T08:32:17Z</dcterms:created>
  <dcterms:modified xsi:type="dcterms:W3CDTF">2026-06-18T10:16:32Z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