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23"/>
  </p:notesMasterIdLst>
  <p:sldIdLst>
    <p:sldId id="412" r:id="rId5"/>
    <p:sldId id="400" r:id="rId6"/>
    <p:sldId id="428" r:id="rId7"/>
    <p:sldId id="424" r:id="rId8"/>
    <p:sldId id="429" r:id="rId9"/>
    <p:sldId id="415" r:id="rId10"/>
    <p:sldId id="430" r:id="rId11"/>
    <p:sldId id="418" r:id="rId12"/>
    <p:sldId id="409" r:id="rId13"/>
    <p:sldId id="432" r:id="rId14"/>
    <p:sldId id="414" r:id="rId15"/>
    <p:sldId id="433" r:id="rId16"/>
    <p:sldId id="419" r:id="rId17"/>
    <p:sldId id="434" r:id="rId18"/>
    <p:sldId id="417" r:id="rId19"/>
    <p:sldId id="436" r:id="rId20"/>
    <p:sldId id="435" r:id="rId21"/>
    <p:sldId id="426" r:id="rId2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9D9D9"/>
    <a:srgbClr val="FEF8BE"/>
    <a:srgbClr val="B8CCE4"/>
    <a:srgbClr val="7693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78" autoAdjust="0"/>
    <p:restoredTop sz="96245"/>
  </p:normalViewPr>
  <p:slideViewPr>
    <p:cSldViewPr snapToGrid="0">
      <p:cViewPr>
        <p:scale>
          <a:sx n="113" d="100"/>
          <a:sy n="113" d="100"/>
        </p:scale>
        <p:origin x="368" y="3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ECDAD-75E1-4BC4-AB86-9BA5DFF857B3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AA5E4-F832-4E78-BDC0-6CAA09567E07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48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31DCF8F9-FE1E-467E-9B82-0FEB758F2FA6}" type="datetime1">
              <a:rPr lang="en-US" smtClean="0"/>
              <a:t>6/18/26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095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6219CF75-0ECC-4E76-B636-3ABF46261502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78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4E8BD-E6E8-42B0-9E1C-58D2F9C64A0C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33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D7AFBA47-0BC8-4C75-9B10-88B9F496CCB1}" type="datetime1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2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84512E72-AC33-43BA-BEE9-4FD4948C58D8}" type="datetime1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17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76718-59A8-49B1-AEC5-3662572A144D}" type="datetime1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4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EC767-5C82-4733-81D6-0B6B22CAF0EE}" type="datetime1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4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E4D41E06-6C86-4754-846D-56519DFF1F50}" type="datetime1">
              <a:rPr lang="en-US" smtClean="0"/>
              <a:t>6/18/26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60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A39B2-B176-40DF-B22F-280C511548AF}" type="datetime1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20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E393-D011-4B55-A9B6-0BBC79EF96B0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55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0C2F-F497-4247-8BB2-5746400D850B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9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AA1BC-C245-4537-A704-02F8919D151B}" type="datetime1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80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5CF02-92BA-5A94-2DEC-47F61A7CF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4481272-C222-8968-044D-3BAF0970A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02A8D1-3358-F5F1-4AF0-5F9969CD73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3CA4E186-A056-DACA-6812-E5F007704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318A6B-6752-F618-4EF4-1D267178C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EE755042-3AA6-3825-AEC6-571898FD7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429D88-9361-BCC7-DCE3-D5D1408F4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8F60D0DC-CA51-7547-B234-C04A874F0855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400" dirty="0"/>
              <a:t>Pràctiques: Grup 411-08</a:t>
            </a:r>
          </a:p>
          <a:p>
            <a:pPr>
              <a:lnSpc>
                <a:spcPct val="100000"/>
              </a:lnSpc>
            </a:pPr>
            <a:endParaRPr lang="ca-ES" sz="1400" dirty="0"/>
          </a:p>
          <a:p>
            <a:pPr>
              <a:lnSpc>
                <a:spcPct val="100000"/>
              </a:lnSpc>
            </a:pPr>
            <a:r>
              <a:rPr lang="ca-ES" sz="1400" dirty="0"/>
              <a:t>Diagrames de Seqüència Individuals</a:t>
            </a:r>
          </a:p>
        </p:txBody>
      </p:sp>
    </p:spTree>
    <p:extLst>
      <p:ext uri="{BB962C8B-B14F-4D97-AF65-F5344CB8AC3E}">
        <p14:creationId xmlns:p14="http://schemas.microsoft.com/office/powerpoint/2010/main" val="751733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F9086-B6B4-D19E-C791-6006CEAD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Composició de l’equip</a:t>
            </a:r>
            <a:r>
              <a:rPr lang="en-GB" dirty="0"/>
              <a:t>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DBCED9-7F51-70EF-594E-F7D7A979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CuadroTexto 5">
            <a:extLst>
              <a:ext uri="{FF2B5EF4-FFF2-40B4-BE49-F238E27FC236}">
                <a16:creationId xmlns:a16="http://schemas.microsoft.com/office/drawing/2014/main" id="{2314AE07-3639-F5C2-D9BA-C0FC3F1B97C3}"/>
              </a:ext>
            </a:extLst>
          </p:cNvPr>
          <p:cNvSpPr txBox="1"/>
          <p:nvPr/>
        </p:nvSpPr>
        <p:spPr>
          <a:xfrm>
            <a:off x="1120073" y="2291996"/>
            <a:ext cx="345192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dirty="0"/>
              <a:t>Enric Alvarez Bargada</a:t>
            </a:r>
          </a:p>
        </p:txBody>
      </p:sp>
      <p:sp>
        <p:nvSpPr>
          <p:cNvPr id="6" name="CuadroTexto 6">
            <a:extLst>
              <a:ext uri="{FF2B5EF4-FFF2-40B4-BE49-F238E27FC236}">
                <a16:creationId xmlns:a16="http://schemas.microsoft.com/office/drawing/2014/main" id="{BDC369DB-16A4-5A1E-3B9A-B758A83E309A}"/>
              </a:ext>
            </a:extLst>
          </p:cNvPr>
          <p:cNvSpPr txBox="1"/>
          <p:nvPr/>
        </p:nvSpPr>
        <p:spPr>
          <a:xfrm>
            <a:off x="1115568" y="2971835"/>
            <a:ext cx="231913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Neus Roig Prat</a:t>
            </a:r>
            <a:endParaRPr lang="ca-ES"/>
          </a:p>
        </p:txBody>
      </p:sp>
      <p:sp>
        <p:nvSpPr>
          <p:cNvPr id="7" name="CuadroTexto 14">
            <a:extLst>
              <a:ext uri="{FF2B5EF4-FFF2-40B4-BE49-F238E27FC236}">
                <a16:creationId xmlns:a16="http://schemas.microsoft.com/office/drawing/2014/main" id="{03C62CEE-6A8B-2B35-B786-8B14CB14DC3C}"/>
              </a:ext>
            </a:extLst>
          </p:cNvPr>
          <p:cNvSpPr txBox="1"/>
          <p:nvPr/>
        </p:nvSpPr>
        <p:spPr>
          <a:xfrm>
            <a:off x="1173616" y="3651674"/>
            <a:ext cx="516358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Blay Clotas </a:t>
            </a:r>
            <a:r>
              <a:rPr lang="es-ES" dirty="0" err="1"/>
              <a:t>Cekov</a:t>
            </a:r>
            <a:endParaRPr lang="ca-ES" dirty="0"/>
          </a:p>
        </p:txBody>
      </p:sp>
      <p:sp>
        <p:nvSpPr>
          <p:cNvPr id="15" name="CuadroTexto 15">
            <a:extLst>
              <a:ext uri="{FF2B5EF4-FFF2-40B4-BE49-F238E27FC236}">
                <a16:creationId xmlns:a16="http://schemas.microsoft.com/office/drawing/2014/main" id="{3D766566-045E-7674-F7AA-34E878B42A0B}"/>
              </a:ext>
            </a:extLst>
          </p:cNvPr>
          <p:cNvSpPr txBox="1"/>
          <p:nvPr/>
        </p:nvSpPr>
        <p:spPr>
          <a:xfrm>
            <a:off x="1115568" y="4224473"/>
            <a:ext cx="2807861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err="1"/>
              <a:t>Maria</a:t>
            </a:r>
            <a:r>
              <a:rPr lang="es-ES"/>
              <a:t> Figueras Martínez</a:t>
            </a:r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9967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F2335-E107-F603-9644-1D4D21EED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23076E-163F-5C93-2939-0C690A96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 err="1"/>
              <a:t>Consultar</a:t>
            </a:r>
            <a:r>
              <a:rPr lang="en-US" sz="4800" dirty="0"/>
              <a:t> </a:t>
            </a:r>
            <a:r>
              <a:rPr lang="en-US" sz="4800" dirty="0" err="1"/>
              <a:t>Menús</a:t>
            </a:r>
            <a:r>
              <a:rPr lang="en-US" sz="4800" dirty="0"/>
              <a:t> I plats</a:t>
            </a:r>
            <a:endParaRPr lang="ca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ECCED6-75E4-83F6-EAC6-34936064A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10" y="6356350"/>
            <a:ext cx="15059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Taula 5">
            <a:extLst>
              <a:ext uri="{FF2B5EF4-FFF2-40B4-BE49-F238E27FC236}">
                <a16:creationId xmlns:a16="http://schemas.microsoft.com/office/drawing/2014/main" id="{80F1CBB9-2D6E-AE6D-4579-2BAD6DB882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461482"/>
              </p:ext>
            </p:extLst>
          </p:nvPr>
        </p:nvGraphicFramePr>
        <p:xfrm>
          <a:off x="4393376" y="198858"/>
          <a:ext cx="6408838" cy="5928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5336">
                  <a:extLst>
                    <a:ext uri="{9D8B030D-6E8A-4147-A177-3AD203B41FA5}">
                      <a16:colId xmlns:a16="http://schemas.microsoft.com/office/drawing/2014/main" val="3845405021"/>
                    </a:ext>
                  </a:extLst>
                </a:gridCol>
                <a:gridCol w="1451054">
                  <a:extLst>
                    <a:ext uri="{9D8B030D-6E8A-4147-A177-3AD203B41FA5}">
                      <a16:colId xmlns:a16="http://schemas.microsoft.com/office/drawing/2014/main" val="3925071806"/>
                    </a:ext>
                  </a:extLst>
                </a:gridCol>
                <a:gridCol w="1545894">
                  <a:extLst>
                    <a:ext uri="{9D8B030D-6E8A-4147-A177-3AD203B41FA5}">
                      <a16:colId xmlns:a16="http://schemas.microsoft.com/office/drawing/2014/main" val="2745681793"/>
                    </a:ext>
                  </a:extLst>
                </a:gridCol>
                <a:gridCol w="2066554">
                  <a:extLst>
                    <a:ext uri="{9D8B030D-6E8A-4147-A177-3AD203B41FA5}">
                      <a16:colId xmlns:a16="http://schemas.microsoft.com/office/drawing/2014/main" val="472764123"/>
                    </a:ext>
                  </a:extLst>
                </a:gridCol>
              </a:tblGrid>
              <a:tr h="311003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 dirty="0">
                          <a:solidFill>
                            <a:srgbClr val="FFFFFF"/>
                          </a:solidFill>
                          <a:effectLst/>
                          <a:latin typeface="Helvetica"/>
                          <a:cs typeface="Helvetica"/>
                        </a:rPr>
                        <a:t>CAS D’ÚS:</a:t>
                      </a:r>
                      <a:endParaRPr lang="ca-ES" sz="1100" b="1" i="0" dirty="0">
                        <a:solidFill>
                          <a:srgbClr val="FFFFFF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81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ca-ES" sz="1200" b="1" i="0" dirty="0">
                          <a:solidFill>
                            <a:srgbClr val="FFFFFF"/>
                          </a:solidFill>
                          <a:effectLst/>
                          <a:latin typeface="Helvetica"/>
                          <a:cs typeface="Helvetica"/>
                        </a:rPr>
                        <a:t>Consultar Menús i plats</a:t>
                      </a:r>
                      <a:endParaRPr lang="ca-ES" dirty="0"/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781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836845"/>
                  </a:ext>
                </a:extLst>
              </a:tr>
              <a:tr h="311003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1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Versió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81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1.0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81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1" i="0" dirty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Data</a:t>
                      </a:r>
                      <a:endParaRPr lang="ca-ES" sz="1100" b="0" i="0" dirty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81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16/05/2026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781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859861"/>
                  </a:ext>
                </a:extLst>
              </a:tr>
              <a:tr h="311003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Autors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 dirty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Enric, Blay, Maria i Neus</a:t>
                      </a:r>
                      <a:endParaRPr lang="ca-ES" sz="1100" b="0" i="0" dirty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8086774"/>
                  </a:ext>
                </a:extLst>
              </a:tr>
              <a:tr h="465846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Descripció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 dirty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L'usuari pot consultar en temps real el catàleg de plats i menús disponibles a l'aplicació.</a:t>
                      </a:r>
                      <a:endParaRPr lang="ca-ES" dirty="0"/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918982"/>
                  </a:ext>
                </a:extLst>
              </a:tr>
              <a:tr h="311003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Actors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 dirty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Usuari no registrat</a:t>
                      </a:r>
                      <a:endParaRPr lang="ca-ES" sz="1100" b="0" i="0" dirty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175097"/>
                  </a:ext>
                </a:extLst>
              </a:tr>
              <a:tr h="311003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Precondició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 dirty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El sistema està actiu i operatiu.</a:t>
                      </a:r>
                      <a:endParaRPr lang="ca-ES" dirty="0"/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090688"/>
                  </a:ext>
                </a:extLst>
              </a:tr>
              <a:tr h="620689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Flux principal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buAutoNum type="arabicPeriod"/>
                      </a:pPr>
                      <a:r>
                        <a:rPr lang="ca-ES" sz="1300" b="0" i="0" dirty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 L'usuari</a:t>
                      </a:r>
                      <a:r>
                        <a:rPr lang="es-ES" altLang="ja-JP" sz="1300" b="0" i="0" dirty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o </a:t>
                      </a:r>
                      <a:r>
                        <a:rPr lang="ca-ES" sz="1300" b="0" i="0" dirty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accedeix a la consulta del catàleg de l'aplicació.</a:t>
                      </a:r>
                    </a:p>
                    <a:p>
                      <a:pPr marL="0" marR="0" lvl="0" indent="0" algn="just">
                        <a:lnSpc>
                          <a:spcPct val="100000"/>
                        </a:lnSpc>
                        <a:buAutoNum type="arabicPeriod"/>
                      </a:pPr>
                      <a:r>
                        <a:rPr lang="ca-ES" sz="1300" b="0" i="0" dirty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 El sistema processa la petició enviant el missatge "consultar catàleg".</a:t>
                      </a:r>
                    </a:p>
                    <a:p>
                      <a:pPr marL="0" marR="0" lvl="0" indent="0" algn="just">
                        <a:lnSpc>
                          <a:spcPct val="100000"/>
                        </a:lnSpc>
                        <a:buAutoNum type="arabicPeriod"/>
                      </a:pPr>
                      <a:r>
                        <a:rPr lang="ca-ES" sz="1300" b="0" i="0" dirty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 El sistema respon mostrant a la interfície la informació mitjançant el missatge ”mostrar </a:t>
                      </a:r>
                      <a:r>
                        <a:rPr lang="ca-ES" sz="1300" b="0" i="0" dirty="0" err="1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menus</a:t>
                      </a:r>
                      <a:r>
                        <a:rPr lang="ca-ES" sz="1300" b="0" i="0" dirty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 i plats".</a:t>
                      </a: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793661"/>
                  </a:ext>
                </a:extLst>
              </a:tr>
              <a:tr h="311003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 dirty="0" err="1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Subfluxos</a:t>
                      </a:r>
                      <a:endParaRPr lang="ca-ES" sz="1100" b="0" i="0" dirty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just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0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---</a:t>
                      </a:r>
                      <a:endParaRPr lang="en-U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822348"/>
                  </a:ext>
                </a:extLst>
              </a:tr>
              <a:tr h="465846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Fluxos alternatius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166370" marR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200" b="0" i="0" dirty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El catàleg es troba buit o sense connexió: el sistema mostra un missatge informant que no hi ha plats o menús disponibles en aquest moment.</a:t>
                      </a: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321271"/>
                  </a:ext>
                </a:extLst>
              </a:tr>
              <a:tr h="465846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Postcondició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 dirty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El sistema mostra correctament la llista de plats i menús ordenats segons els criteris establerts.</a:t>
                      </a:r>
                      <a:endParaRPr lang="ca-ES" dirty="0"/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909587"/>
                  </a:ext>
                </a:extLst>
              </a:tr>
              <a:tr h="465846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Requeriments no funcionals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 dirty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RNF-06-00, RNF-06-01</a:t>
                      </a:r>
                      <a:endParaRPr lang="en-US" sz="1100" b="0" i="0" dirty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105568"/>
                  </a:ext>
                </a:extLst>
              </a:tr>
              <a:tr h="311003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Prioritat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0" i="0" dirty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Alta</a:t>
                      </a:r>
                      <a:endParaRPr lang="ca-ES" sz="1100" b="0" i="0" dirty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825788"/>
                  </a:ext>
                </a:extLst>
              </a:tr>
              <a:tr h="465846"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ca-ES" sz="1300" b="1" i="0">
                          <a:solidFill>
                            <a:srgbClr val="000000"/>
                          </a:solidFill>
                          <a:effectLst/>
                          <a:latin typeface="Helvetica"/>
                          <a:cs typeface="Helvetica"/>
                        </a:rPr>
                        <a:t>Comentaris</a:t>
                      </a:r>
                      <a:endParaRPr lang="ca-ES" sz="1100" b="0" i="0">
                        <a:solidFill>
                          <a:srgbClr val="000000"/>
                        </a:solidFill>
                        <a:effectLst/>
                        <a:latin typeface="Helvetica"/>
                        <a:cs typeface="Helvetica"/>
                      </a:endParaRPr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buNone/>
                      </a:pPr>
                      <a:endParaRPr lang="ca-ES" dirty="0"/>
                    </a:p>
                  </a:txBody>
                  <a:tcPr marL="39554" marR="39554" marT="55743" marB="55743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a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119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9053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E4A55D-80FE-2B60-D6BB-449948D67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F80B89-C9A5-551A-1664-1614F1F2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 err="1"/>
              <a:t>Diagrames</a:t>
            </a:r>
            <a:r>
              <a:rPr lang="en-US" sz="4800" dirty="0"/>
              <a:t> de </a:t>
            </a:r>
            <a:r>
              <a:rPr lang="en-US" sz="4800" dirty="0" err="1"/>
              <a:t>Seqüencia</a:t>
            </a:r>
            <a:endParaRPr lang="en-US" sz="4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7CC24F6-6EE9-C913-E40B-E3352CE2E3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44513" y="957529"/>
            <a:ext cx="5486553" cy="4791686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8ECBE9D-B20F-9C58-AA7B-CD1D090EA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26319" y="6356350"/>
            <a:ext cx="178769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5698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C2E41-EFAA-7C38-879A-7DCEF17D8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38EC0-8AF9-9A8A-63FD-EE24C92D0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16" y="730885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 err="1"/>
              <a:t>Iniciar</a:t>
            </a:r>
            <a:r>
              <a:rPr lang="en-US" sz="4400" dirty="0"/>
              <a:t> </a:t>
            </a:r>
            <a:r>
              <a:rPr lang="en-US" sz="4400" dirty="0" err="1"/>
              <a:t>Sessió</a:t>
            </a:r>
            <a:endParaRPr lang="ca-ES" sz="36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6D4B4B7-E459-E047-9D56-1732E0D52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10" y="6356350"/>
            <a:ext cx="15059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E0FBB502-728F-4C8A-55B6-DB1ADDBDC0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973226"/>
              </p:ext>
            </p:extLst>
          </p:nvPr>
        </p:nvGraphicFramePr>
        <p:xfrm>
          <a:off x="4564854" y="917873"/>
          <a:ext cx="6467544" cy="5022254"/>
        </p:xfrm>
        <a:graphic>
          <a:graphicData uri="http://schemas.openxmlformats.org/drawingml/2006/table">
            <a:tbl>
              <a:tblPr/>
              <a:tblGrid>
                <a:gridCol w="1963640">
                  <a:extLst>
                    <a:ext uri="{9D8B030D-6E8A-4147-A177-3AD203B41FA5}">
                      <a16:colId xmlns:a16="http://schemas.microsoft.com/office/drawing/2014/main" val="1263989641"/>
                    </a:ext>
                  </a:extLst>
                </a:gridCol>
                <a:gridCol w="2119484">
                  <a:extLst>
                    <a:ext uri="{9D8B030D-6E8A-4147-A177-3AD203B41FA5}">
                      <a16:colId xmlns:a16="http://schemas.microsoft.com/office/drawing/2014/main" val="948114756"/>
                    </a:ext>
                  </a:extLst>
                </a:gridCol>
                <a:gridCol w="810391">
                  <a:extLst>
                    <a:ext uri="{9D8B030D-6E8A-4147-A177-3AD203B41FA5}">
                      <a16:colId xmlns:a16="http://schemas.microsoft.com/office/drawing/2014/main" val="4252211438"/>
                    </a:ext>
                  </a:extLst>
                </a:gridCol>
                <a:gridCol w="1574029">
                  <a:extLst>
                    <a:ext uri="{9D8B030D-6E8A-4147-A177-3AD203B41FA5}">
                      <a16:colId xmlns:a16="http://schemas.microsoft.com/office/drawing/2014/main" val="330311630"/>
                    </a:ext>
                  </a:extLst>
                </a:gridCol>
              </a:tblGrid>
              <a:tr h="212001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1" i="0">
                          <a:solidFill>
                            <a:srgbClr val="FFFFFF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CAS D’ÚS:​</a:t>
                      </a:r>
                      <a:endParaRPr lang="ca-ES" sz="15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4805" marR="74805" marT="37403" marB="37403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4D5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1" i="0">
                          <a:solidFill>
                            <a:srgbClr val="FFFFFF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Iniciar sessió</a:t>
                      </a:r>
                      <a:r>
                        <a:rPr lang="en-US" sz="900" b="1" i="0">
                          <a:solidFill>
                            <a:srgbClr val="FFFFFF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15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4805" marR="74805" marT="37403" marB="37403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4D5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477677"/>
                  </a:ext>
                </a:extLst>
              </a:tr>
              <a:tr h="211066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8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Versió</a:t>
                      </a:r>
                      <a:r>
                        <a:rPr lang="ca-ES" sz="8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4805" marR="74805" marT="37403" marB="37403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1.0​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4805" marR="74805" marT="37403" marB="37403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8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Data</a:t>
                      </a:r>
                      <a:r>
                        <a:rPr lang="ca-ES" sz="8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4805" marR="74805" marT="37403" marB="37403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16/05/2026​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4805" marR="74805" marT="37403" marB="37403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565042"/>
                  </a:ext>
                </a:extLst>
              </a:tr>
              <a:tr h="212001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Autors</a:t>
                      </a: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4805" marR="74805" marT="37403" marB="37403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8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Enric, Blay, Maria i Neus​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4805" marR="74805" marT="37403" marB="37403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105207"/>
                  </a:ext>
                </a:extLst>
              </a:tr>
              <a:tr h="356521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Descripció</a:t>
                      </a: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4805" marR="74805" marT="37403" marB="37403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Permet a un usuari registrat introduir les seves credencials per accedir a totes les funcionalitats i dades segons el seu perfil.</a:t>
                      </a:r>
                      <a:r>
                        <a:rPr lang="en-U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4805" marR="74805" marT="37403" marB="37403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555978"/>
                  </a:ext>
                </a:extLst>
              </a:tr>
              <a:tr h="212001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Actors</a:t>
                      </a: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4805" marR="74805" marT="37403" marB="37403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Usuari No registrat</a:t>
                      </a:r>
                      <a:r>
                        <a:rPr lang="en-U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4805" marR="74805" marT="37403" marB="37403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510878"/>
                  </a:ext>
                </a:extLst>
              </a:tr>
              <a:tr h="212001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Precondició</a:t>
                      </a: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4805" marR="74805" marT="37403" marB="37403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 L'usuari ja ha de tenir un compte creat prèviament.</a:t>
                      </a:r>
                      <a:r>
                        <a:rPr lang="en-U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4805" marR="74805" marT="37403" marB="37403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968899"/>
                  </a:ext>
                </a:extLst>
              </a:tr>
              <a:tr h="93834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Flux principal</a:t>
                      </a: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4805" marR="74805" marT="37403" marB="37403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Font typeface="+mj-lt"/>
                        <a:buAutoNum type="arabicPeriod"/>
                      </a:pPr>
                      <a:r>
                        <a:rPr lang="ca-ES" sz="900" b="0" i="0" dirty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L'usuari prem el botó Iniciar sessió.</a:t>
                      </a:r>
                      <a:r>
                        <a:rPr lang="en-US" sz="900" b="0" i="0" dirty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Font typeface="+mj-lt"/>
                        <a:buAutoNum type="arabicPeriod"/>
                      </a:pPr>
                      <a:r>
                        <a:rPr lang="ca-ES" sz="900" b="0" i="0" dirty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El sistema mostra la pantalla de </a:t>
                      </a:r>
                      <a:r>
                        <a:rPr lang="ca-ES" sz="900" b="0" i="0" dirty="0" err="1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login</a:t>
                      </a:r>
                      <a:r>
                        <a:rPr lang="ca-ES" sz="900" b="0" i="0" dirty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 demanant correu electrònic i contrasenya.</a:t>
                      </a:r>
                      <a:r>
                        <a:rPr lang="en-US" sz="900" b="0" i="0" dirty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Font typeface="+mj-lt"/>
                        <a:buAutoNum type="arabicPeriod"/>
                      </a:pPr>
                      <a:r>
                        <a:rPr lang="ca-ES" sz="900" b="0" i="0" dirty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L'usuari introdueix les seves credencials i prem el botó d'accés.</a:t>
                      </a:r>
                      <a:r>
                        <a:rPr lang="en-US" sz="900" b="0" i="0" dirty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Font typeface="+mj-lt"/>
                        <a:buAutoNum type="arabicPeriod"/>
                      </a:pPr>
                      <a:r>
                        <a:rPr lang="ca-ES" sz="900" b="0" i="0" dirty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El sistema valida la informació contra la base de dades.</a:t>
                      </a:r>
                      <a:r>
                        <a:rPr lang="en-US" sz="900" b="0" i="0" dirty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Font typeface="+mj-lt"/>
                        <a:buAutoNum type="arabicPeriod"/>
                      </a:pPr>
                      <a:r>
                        <a:rPr lang="ca-ES" sz="900" b="0" i="0" dirty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El sistema inicia la sessió i redirigeix l'usuari a la pantalla d'inici corresponent al seu rol (Client, Cuiner o Repartidor).</a:t>
                      </a:r>
                      <a:r>
                        <a:rPr lang="en-US" sz="900" b="0" i="0" dirty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805" marR="74805" marT="37403" marB="37403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616593"/>
                  </a:ext>
                </a:extLst>
              </a:tr>
              <a:tr h="212001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Subfluxos</a:t>
                      </a: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4805" marR="74805" marT="37403" marB="37403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---​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4805" marR="74805" marT="37403" marB="37403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875495"/>
                  </a:ext>
                </a:extLst>
              </a:tr>
              <a:tr h="64743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Fluxos alternatius</a:t>
                      </a: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4805" marR="74805" marT="37403" marB="37403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22860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Nom d’usuari / passwordincorrectes​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Si la identificació d’usuari és incorrecta, es mostra un missatge d’error demanant a l’usuari que torni a entrar les dades o cancel·li l’operació. En aquest últim cas, el cas d’ús acaba.​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4805" marR="74805" marT="37403" marB="37403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850486"/>
                  </a:ext>
                </a:extLst>
              </a:tr>
              <a:tr h="212001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Postcondició</a:t>
                      </a: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4805" marR="74805" marT="37403" marB="37403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 L'usuari queda correctament autenticat dins l'aplicació amb el seu rol actiu.</a:t>
                      </a:r>
                      <a:r>
                        <a:rPr lang="en-U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4805" marR="74805" marT="37403" marB="37403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074286"/>
                  </a:ext>
                </a:extLst>
              </a:tr>
              <a:tr h="501975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Requeriments no funcionals</a:t>
                      </a: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4805" marR="74805" marT="37403" marB="37403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RNF-09-01: Temps de resposta màxim de 5 mil·lisegons.</a:t>
                      </a:r>
                      <a:r>
                        <a:rPr lang="en-U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RNF-01-02: Garantir la seguretat i confidencialitat de tota la informació dels usuaris.</a:t>
                      </a:r>
                      <a:r>
                        <a:rPr lang="en-U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4805" marR="74805" marT="37403" marB="37403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065123"/>
                  </a:ext>
                </a:extLst>
              </a:tr>
              <a:tr h="212001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Prioritat</a:t>
                      </a: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4805" marR="74805" marT="37403" marB="37403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Alta​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4805" marR="74805" marT="37403" marB="37403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988749"/>
                  </a:ext>
                </a:extLst>
              </a:tr>
              <a:tr h="212001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Comentaris</a:t>
                      </a: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4805" marR="74805" marT="37403" marB="37403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0" i="0" dirty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 Necessari per poder utilitzar totes les funcionalitats de la aplicació​</a:t>
                      </a:r>
                      <a:endParaRPr lang="ca-ES" sz="15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4805" marR="74805" marT="37403" marB="37403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519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8441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87C415-B638-429D-A835-CCE7352B2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39F3FF-0FF3-6229-46E8-069488713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Diagrames de Seqüencia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16A6AB4-C994-E4D1-4979-CDE1B0A27C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24949" y="625683"/>
            <a:ext cx="5525681" cy="5455380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0821DB3-336B-054A-A5FA-A967926B0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26319" y="6356350"/>
            <a:ext cx="178769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822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98C75-2BAF-79DB-EBAE-521BA6172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22522E-8A47-9801-BA5C-F0388AE6C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862" y="659519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Registrar-se</a:t>
            </a:r>
            <a:endParaRPr lang="ca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6279CC3-4771-1555-7EBA-B4B3C1C60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10" y="6356350"/>
            <a:ext cx="15059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29BEA411-E5E3-8344-3BFE-96EE0A64A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975583"/>
              </p:ext>
            </p:extLst>
          </p:nvPr>
        </p:nvGraphicFramePr>
        <p:xfrm>
          <a:off x="4630444" y="907874"/>
          <a:ext cx="7057652" cy="5114098"/>
        </p:xfrm>
        <a:graphic>
          <a:graphicData uri="http://schemas.openxmlformats.org/drawingml/2006/table">
            <a:tbl>
              <a:tblPr/>
              <a:tblGrid>
                <a:gridCol w="2142806">
                  <a:extLst>
                    <a:ext uri="{9D8B030D-6E8A-4147-A177-3AD203B41FA5}">
                      <a16:colId xmlns:a16="http://schemas.microsoft.com/office/drawing/2014/main" val="3642237168"/>
                    </a:ext>
                  </a:extLst>
                </a:gridCol>
                <a:gridCol w="2312869">
                  <a:extLst>
                    <a:ext uri="{9D8B030D-6E8A-4147-A177-3AD203B41FA5}">
                      <a16:colId xmlns:a16="http://schemas.microsoft.com/office/drawing/2014/main" val="2666092583"/>
                    </a:ext>
                  </a:extLst>
                </a:gridCol>
                <a:gridCol w="884332">
                  <a:extLst>
                    <a:ext uri="{9D8B030D-6E8A-4147-A177-3AD203B41FA5}">
                      <a16:colId xmlns:a16="http://schemas.microsoft.com/office/drawing/2014/main" val="790248081"/>
                    </a:ext>
                  </a:extLst>
                </a:gridCol>
                <a:gridCol w="1717645">
                  <a:extLst>
                    <a:ext uri="{9D8B030D-6E8A-4147-A177-3AD203B41FA5}">
                      <a16:colId xmlns:a16="http://schemas.microsoft.com/office/drawing/2014/main" val="3535283412"/>
                    </a:ext>
                  </a:extLst>
                </a:gridCol>
              </a:tblGrid>
              <a:tr h="25423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1" i="0">
                          <a:solidFill>
                            <a:srgbClr val="FFFFFF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CAS D’ÚS:​</a:t>
                      </a:r>
                      <a:endParaRPr lang="ca-ES" sz="15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7392" marR="77392" marT="38696" marB="38696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4D5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1" i="0">
                          <a:solidFill>
                            <a:srgbClr val="FFFFFF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Registrar-se</a:t>
                      </a:r>
                      <a:r>
                        <a:rPr lang="en-US" sz="900" b="1" i="0">
                          <a:solidFill>
                            <a:srgbClr val="FFFFFF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15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7392" marR="77392" marT="38696" marB="38696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4D5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96689"/>
                  </a:ext>
                </a:extLst>
              </a:tr>
              <a:tr h="253284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8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Versió</a:t>
                      </a:r>
                      <a:r>
                        <a:rPr lang="ca-ES" sz="8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392" marR="77392" marT="38696" marB="38696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1.0​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392" marR="77392" marT="38696" marB="38696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8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Data</a:t>
                      </a:r>
                      <a:r>
                        <a:rPr lang="ca-ES" sz="8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392" marR="77392" marT="38696" marB="38696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16/05/2026​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392" marR="77392" marT="38696" marB="38696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557477"/>
                  </a:ext>
                </a:extLst>
              </a:tr>
              <a:tr h="25423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Autors</a:t>
                      </a: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392" marR="77392" marT="38696" marB="38696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8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Enric, Blay, Maria i Neus​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392" marR="77392" marT="38696" marB="38696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196057"/>
                  </a:ext>
                </a:extLst>
              </a:tr>
              <a:tr h="552871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Descripció</a:t>
                      </a: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392" marR="77392" marT="38696" marB="38696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El sistema ha de permetre el registre d'usuaris nous mitjançant un compte de correu electrònic i contrasenya o mitjançant comptes de Gmail i Outlook (accés ràpid).</a:t>
                      </a:r>
                      <a:r>
                        <a:rPr lang="en-U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392" marR="77392" marT="38696" marB="38696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695643"/>
                  </a:ext>
                </a:extLst>
              </a:tr>
              <a:tr h="25423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Actors</a:t>
                      </a: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392" marR="77392" marT="38696" marB="38696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Usuari No registrat</a:t>
                      </a:r>
                      <a:r>
                        <a:rPr lang="en-U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392" marR="77392" marT="38696" marB="38696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048202"/>
                  </a:ext>
                </a:extLst>
              </a:tr>
              <a:tr h="25423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Precondició</a:t>
                      </a: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392" marR="77392" marT="38696" marB="38696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L'usuari no ha d'estar autenticat.</a:t>
                      </a:r>
                      <a:r>
                        <a:rPr lang="en-U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392" marR="77392" marT="38696" marB="38696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119261"/>
                  </a:ext>
                </a:extLst>
              </a:tr>
              <a:tr h="1199691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Flux principal</a:t>
                      </a: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392" marR="77392" marT="38696" marB="38696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Font typeface="+mj-lt"/>
                        <a:buAutoNum type="arabicPeriod"/>
                      </a:pP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L'usuari prem el botó de registre.</a:t>
                      </a:r>
                      <a:r>
                        <a:rPr lang="en-U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70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Font typeface="+mj-lt"/>
                        <a:buAutoNum type="arabicPeriod"/>
                      </a:pP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L'usuari introdueix un compte de correu electrònic i contrasenya o utilitza un compte de Gmail o Outlook (accés ràpid).</a:t>
                      </a:r>
                      <a:r>
                        <a:rPr lang="en-U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70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Font typeface="+mj-lt"/>
                        <a:buAutoNum type="arabicPeriod"/>
                      </a:pP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Durant el registre s'especifica obligatòriament el tipus de compte (client/cuiner/repartidor).</a:t>
                      </a:r>
                      <a:r>
                        <a:rPr lang="en-U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70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Font typeface="+mj-lt"/>
                        <a:buAutoNum type="arabicPeriod"/>
                      </a:pP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El sistema valida l’usuari i el mail i crea el compte d'usuari nou.</a:t>
                      </a:r>
                      <a:r>
                        <a:rPr lang="en-U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70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7392" marR="77392" marT="38696" marB="38696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664601"/>
                  </a:ext>
                </a:extLst>
              </a:tr>
              <a:tr h="25423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Subfluxos</a:t>
                      </a: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392" marR="77392" marT="38696" marB="38696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---​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392" marR="77392" marT="38696" marB="38696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69962"/>
                  </a:ext>
                </a:extLst>
              </a:tr>
              <a:tr h="442565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Fluxos alternatius</a:t>
                      </a: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392" marR="77392" marT="38696" marB="38696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22860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Nom d’usuari/mail amb un compte ja associada.​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Si l’usuari ja existeix, s’haurà de notificar que ja hi ha un compte/usuari existent.​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392" marR="77392" marT="38696" marB="38696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401111"/>
                  </a:ext>
                </a:extLst>
              </a:tr>
              <a:tr h="25423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Postcondició</a:t>
                      </a: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392" marR="77392" marT="38696" marB="38696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Creació del nou compte amb el rol especificat (client/cuiner/repartidor).</a:t>
                      </a:r>
                      <a:r>
                        <a:rPr lang="en-U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392" marR="77392" marT="38696" marB="38696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064109"/>
                  </a:ext>
                </a:extLst>
              </a:tr>
              <a:tr h="631847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Requeriments no funcionals</a:t>
                      </a: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392" marR="77392" marT="38696" marB="38696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RNF-01-02: Les contrasenyes s'emmagatzemen sempre xifrades i mai en text pla.</a:t>
                      </a:r>
                      <a:r>
                        <a:rPr lang="en-U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RNF-09-01: Temps de resposta màxim de 5 mil·lisegons.</a:t>
                      </a:r>
                      <a:r>
                        <a:rPr lang="en-U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1500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392" marR="77392" marT="38696" marB="38696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00416"/>
                  </a:ext>
                </a:extLst>
              </a:tr>
              <a:tr h="25423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Prioritat</a:t>
                      </a: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392" marR="77392" marT="38696" marB="38696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Alta​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392" marR="77392" marT="38696" marB="38696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498900"/>
                  </a:ext>
                </a:extLst>
              </a:tr>
              <a:tr h="25423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Comentaris</a:t>
                      </a:r>
                      <a:r>
                        <a:rPr lang="ca-ES" sz="9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5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392" marR="77392" marT="38696" marB="38696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900" b="0" i="0" dirty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 Necessari per poder utilitzar totes les funcionalitats de la aplicació​</a:t>
                      </a:r>
                      <a:endParaRPr lang="ca-ES" sz="15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7392" marR="77392" marT="38696" marB="38696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5056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7867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BD9754-873B-961C-DF9A-B84AD1BA1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34C151-A493-E4C8-BD33-530F0D779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Diagrames de Seqüencia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60782D4-E35B-A43A-95A0-56C8A09892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32822" y="625683"/>
            <a:ext cx="5509933" cy="5455380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8693092-A445-74AE-61F7-82AB651E8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26319" y="6356350"/>
            <a:ext cx="178769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060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05829A-DA28-0229-A05E-FCE0F2EF1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Rectangle 12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14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Freeform: Shape 16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BF99BE-BBF6-B2B3-02F4-217E7C780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Diagrama Classes final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1F8EECB-67EF-96B0-12BB-B48E25432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719311"/>
            <a:ext cx="4692949" cy="5419375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58B65D-2614-915C-82AC-99B679A02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10" y="6356350"/>
            <a:ext cx="15059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669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0659B-2AEA-8388-F3BD-D438C6633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F440AE-3175-3151-D13A-7380AC24E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 err="1"/>
              <a:t>Realitzar</a:t>
            </a:r>
            <a:r>
              <a:rPr lang="en-US" sz="4800" dirty="0"/>
              <a:t> </a:t>
            </a:r>
            <a:r>
              <a:rPr lang="en-US" sz="4800" dirty="0" err="1"/>
              <a:t>lliurament</a:t>
            </a:r>
            <a:r>
              <a:rPr lang="en-US" sz="4800" dirty="0"/>
              <a:t> de </a:t>
            </a:r>
            <a:r>
              <a:rPr lang="en-US" sz="4800" dirty="0" err="1"/>
              <a:t>comanda</a:t>
            </a:r>
            <a:endParaRPr lang="ca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74F25B1-B533-CC52-9A29-93C7E1091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10" y="6356350"/>
            <a:ext cx="15059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5869B71F-101A-67C6-A4A9-23352D2F1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702670"/>
              </p:ext>
            </p:extLst>
          </p:nvPr>
        </p:nvGraphicFramePr>
        <p:xfrm>
          <a:off x="4378325" y="1302921"/>
          <a:ext cx="7599186" cy="4252157"/>
        </p:xfrm>
        <a:graphic>
          <a:graphicData uri="http://schemas.openxmlformats.org/drawingml/2006/table">
            <a:tbl>
              <a:tblPr/>
              <a:tblGrid>
                <a:gridCol w="2307223">
                  <a:extLst>
                    <a:ext uri="{9D8B030D-6E8A-4147-A177-3AD203B41FA5}">
                      <a16:colId xmlns:a16="http://schemas.microsoft.com/office/drawing/2014/main" val="3938790054"/>
                    </a:ext>
                  </a:extLst>
                </a:gridCol>
                <a:gridCol w="2490336">
                  <a:extLst>
                    <a:ext uri="{9D8B030D-6E8A-4147-A177-3AD203B41FA5}">
                      <a16:colId xmlns:a16="http://schemas.microsoft.com/office/drawing/2014/main" val="1797610043"/>
                    </a:ext>
                  </a:extLst>
                </a:gridCol>
                <a:gridCol w="952187">
                  <a:extLst>
                    <a:ext uri="{9D8B030D-6E8A-4147-A177-3AD203B41FA5}">
                      <a16:colId xmlns:a16="http://schemas.microsoft.com/office/drawing/2014/main" val="3592836960"/>
                    </a:ext>
                  </a:extLst>
                </a:gridCol>
                <a:gridCol w="1849440">
                  <a:extLst>
                    <a:ext uri="{9D8B030D-6E8A-4147-A177-3AD203B41FA5}">
                      <a16:colId xmlns:a16="http://schemas.microsoft.com/office/drawing/2014/main" val="718798086"/>
                    </a:ext>
                  </a:extLst>
                </a:gridCol>
              </a:tblGrid>
              <a:tr h="251782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FFFFFF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CAS D’ÚS:​</a:t>
                      </a:r>
                      <a:endParaRPr lang="ca-E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4D5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1000" b="1" i="0">
                          <a:solidFill>
                            <a:srgbClr val="FFFFFF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Realitzar lliurament de comanda </a:t>
                      </a: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4D5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363175"/>
                  </a:ext>
                </a:extLst>
              </a:tr>
              <a:tr h="250671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10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Versió</a:t>
                      </a:r>
                      <a:r>
                        <a:rPr lang="ca-ES" sz="10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dirty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1.0​</a:t>
                      </a:r>
                      <a:endParaRPr lang="ca-E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10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Data</a:t>
                      </a:r>
                      <a:r>
                        <a:rPr lang="ca-ES" sz="10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16/05/2026​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191540"/>
                  </a:ext>
                </a:extLst>
              </a:tr>
              <a:tr h="251782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Autors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Enric, Blay, Maria i Neus​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441624"/>
                  </a:ext>
                </a:extLst>
              </a:tr>
              <a:tr h="42342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Descripció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El repartidor duu a terme el lliurament de la comanda assignada al destí indicat pel client.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887423"/>
                  </a:ext>
                </a:extLst>
              </a:tr>
              <a:tr h="251782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Actors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Repartidor​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37140"/>
                  </a:ext>
                </a:extLst>
              </a:tr>
              <a:tr h="251782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Precondició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La comanda ha d'haver estat recollida prèviament pel repartidor.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069181"/>
                  </a:ext>
                </a:extLst>
              </a:tr>
              <a:tr h="596169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Flux principal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Font typeface="+mj-lt"/>
                        <a:buAutoNum type="arabicPeriod"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El repartidor transporta la comanda fins a la destinació.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88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Font typeface="+mj-lt"/>
                        <a:buAutoNum type="arabicPeriod"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El repartidor confirma el lliurament de la comanda desdel'aplicació per finalitzar el procés d'enviament.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88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645255"/>
                  </a:ext>
                </a:extLst>
              </a:tr>
              <a:tr h="251782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Subfluxos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---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425311"/>
                  </a:ext>
                </a:extLst>
              </a:tr>
              <a:tr h="251782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Fluxos alternatius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228600" indent="0" algn="l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---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91595"/>
                  </a:ext>
                </a:extLst>
              </a:tr>
              <a:tr h="251782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Postcondició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La comanda es confirma com a lliurada correctament dins del sistema.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419795"/>
                  </a:ext>
                </a:extLst>
              </a:tr>
              <a:tr h="42342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Requeriments no funcionals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RNF-09-01: Temps de resposta màxim de 5 mil·lisegons.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RNF-10-00: Funcionament en dispositius mòbils Androidi iOS.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986193"/>
                  </a:ext>
                </a:extLst>
              </a:tr>
              <a:tr h="251782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Prioritat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Alta​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013875"/>
                  </a:ext>
                </a:extLst>
              </a:tr>
              <a:tr h="42342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Comentaris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dirty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Necessari tenir finalitzada la comanda perquè el repartidor pugui cobrar l’enviament.​</a:t>
                      </a:r>
                      <a:endParaRPr lang="ca-E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020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132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53C2C6-B690-4B7D-0A0F-47A9EFFBA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5A161C-79F2-DD1F-1A3B-9EF1ADE06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Diagrames de Seqüencia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054E6B0-3FB8-5C09-2BA3-7682D310A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65020" y="710207"/>
            <a:ext cx="6045539" cy="5286331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6C2568-5805-6D5C-BB27-F900F1375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26319" y="6356350"/>
            <a:ext cx="178769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4460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27B2B-B300-5AFF-D7A6-5CF23B6A7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B7C58C-B472-CEFD-8FBD-A83DB6C77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 err="1"/>
              <a:t>Rebre</a:t>
            </a:r>
            <a:r>
              <a:rPr lang="en-US" sz="4800" dirty="0"/>
              <a:t> </a:t>
            </a:r>
            <a:r>
              <a:rPr lang="en-US" sz="4800" dirty="0" err="1"/>
              <a:t>ingrés</a:t>
            </a:r>
            <a:r>
              <a:rPr lang="en-US" sz="4800" dirty="0"/>
              <a:t> per </a:t>
            </a:r>
            <a:r>
              <a:rPr lang="en-US" sz="4800" dirty="0" err="1"/>
              <a:t>enviament</a:t>
            </a:r>
            <a:endParaRPr lang="ca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34CFAD-9B31-7700-C1E8-83588CDF6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10" y="6356350"/>
            <a:ext cx="15059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1D63EC2B-7F55-1638-55D8-592F6A9CB2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960904"/>
              </p:ext>
            </p:extLst>
          </p:nvPr>
        </p:nvGraphicFramePr>
        <p:xfrm>
          <a:off x="4684519" y="1122363"/>
          <a:ext cx="7029500" cy="4585528"/>
        </p:xfrm>
        <a:graphic>
          <a:graphicData uri="http://schemas.openxmlformats.org/drawingml/2006/table">
            <a:tbl>
              <a:tblPr/>
              <a:tblGrid>
                <a:gridCol w="2134257">
                  <a:extLst>
                    <a:ext uri="{9D8B030D-6E8A-4147-A177-3AD203B41FA5}">
                      <a16:colId xmlns:a16="http://schemas.microsoft.com/office/drawing/2014/main" val="2416780061"/>
                    </a:ext>
                  </a:extLst>
                </a:gridCol>
                <a:gridCol w="2303644">
                  <a:extLst>
                    <a:ext uri="{9D8B030D-6E8A-4147-A177-3AD203B41FA5}">
                      <a16:colId xmlns:a16="http://schemas.microsoft.com/office/drawing/2014/main" val="2528878196"/>
                    </a:ext>
                  </a:extLst>
                </a:gridCol>
                <a:gridCol w="880805">
                  <a:extLst>
                    <a:ext uri="{9D8B030D-6E8A-4147-A177-3AD203B41FA5}">
                      <a16:colId xmlns:a16="http://schemas.microsoft.com/office/drawing/2014/main" val="1691135882"/>
                    </a:ext>
                  </a:extLst>
                </a:gridCol>
                <a:gridCol w="1710794">
                  <a:extLst>
                    <a:ext uri="{9D8B030D-6E8A-4147-A177-3AD203B41FA5}">
                      <a16:colId xmlns:a16="http://schemas.microsoft.com/office/drawing/2014/main" val="142568059"/>
                    </a:ext>
                  </a:extLst>
                </a:gridCol>
              </a:tblGrid>
              <a:tr h="254545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FFFFFF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CAS D’ÚS:​</a:t>
                      </a:r>
                      <a:endParaRPr lang="ca-ES" sz="18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9817" marR="89817" marT="44909" marB="44909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4D5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1000" b="1" i="0">
                          <a:solidFill>
                            <a:srgbClr val="FFFFFF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Rebre ingrés per enviament</a:t>
                      </a: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18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9817" marR="89817" marT="44909" marB="44909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4D5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798852"/>
                  </a:ext>
                </a:extLst>
              </a:tr>
              <a:tr h="253422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10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Versió</a:t>
                      </a:r>
                      <a:r>
                        <a:rPr lang="ca-ES" sz="10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817" marR="89817" marT="44909" marB="44909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1.0​</a:t>
                      </a:r>
                      <a:endParaRPr lang="ca-ES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817" marR="89817" marT="44909" marB="44909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10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Data</a:t>
                      </a:r>
                      <a:r>
                        <a:rPr lang="ca-ES" sz="10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817" marR="89817" marT="44909" marB="44909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16/05/2026​</a:t>
                      </a:r>
                      <a:endParaRPr lang="ca-ES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817" marR="89817" marT="44909" marB="44909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380656"/>
                  </a:ext>
                </a:extLst>
              </a:tr>
              <a:tr h="254545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Autors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817" marR="89817" marT="44909" marB="44909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Enric, Blay, Maria i Neus​</a:t>
                      </a:r>
                      <a:endParaRPr lang="ca-ES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817" marR="89817" marT="44909" marB="44909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314595"/>
                  </a:ext>
                </a:extLst>
              </a:tr>
              <a:tr h="428067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Descripció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817" marR="89817" marT="44909" marB="44909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El sistema gestiona l'ingrés automàtic de l'import de l'enviament al compte del repartidor un cop es confirma el pagament i el procés.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817" marR="89817" marT="44909" marB="44909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109104"/>
                  </a:ext>
                </a:extLst>
              </a:tr>
              <a:tr h="254545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Actors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817" marR="89817" marT="44909" marB="44909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Repartidor, Passarel·la de pagament.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817" marR="89817" marT="44909" marB="44909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321567"/>
                  </a:ext>
                </a:extLst>
              </a:tr>
              <a:tr h="428067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Precondició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817" marR="89817" marT="44909" marB="44909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El pagament de la comanda ha d'estar realitzat i el lliurament de la comanda confirmada.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817" marR="89817" marT="44909" marB="44909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22342"/>
                  </a:ext>
                </a:extLst>
              </a:tr>
              <a:tr h="602711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Flux principal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817" marR="89817" marT="44909" marB="44909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Font typeface="+mj-lt"/>
                        <a:buAutoNum type="arabicPeriod"/>
                      </a:pPr>
                      <a:r>
                        <a:rPr lang="ca-ES" sz="1100" b="0" i="0" dirty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El sistema valida la finalització correcta de la comanda.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Font typeface="+mj-lt"/>
                        <a:buAutoNum type="arabicPeriod"/>
                      </a:pPr>
                      <a:r>
                        <a:rPr lang="ca-ES" sz="1100" b="0" i="0" dirty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El sistema ingressa automàticament l'import corresponent de l'enviament al compte bancari del repartidor mitjançant la passarel·la.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9817" marR="89817" marT="44909" marB="44909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2435570"/>
                  </a:ext>
                </a:extLst>
              </a:tr>
              <a:tr h="254545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Subfluxos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817" marR="89817" marT="44909" marB="44909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---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817" marR="89817" marT="44909" marB="44909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946514"/>
                  </a:ext>
                </a:extLst>
              </a:tr>
              <a:tr h="254545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Fluxos alternatius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817" marR="89817" marT="44909" marB="44909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228600" indent="0" algn="l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---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817" marR="89817" marT="44909" marB="44909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6606977"/>
                  </a:ext>
                </a:extLst>
              </a:tr>
              <a:tr h="254545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Postcondició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817" marR="89817" marT="44909" marB="44909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L'import de l'enviament queda transferit correctament al compte del repartidor.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817" marR="89817" marT="44909" marB="44909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9162683"/>
                  </a:ext>
                </a:extLst>
              </a:tr>
              <a:tr h="602711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Requeriments no funcionals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817" marR="89817" marT="44909" marB="44909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RNF-04-00: Connexió obligatòria amb la passarel·la de pagament externa (banc o PayPal).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RNF-09-01: Temps de resposta de la petició mòbil de 5 mil·lisegons.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817" marR="89817" marT="44909" marB="44909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799235"/>
                  </a:ext>
                </a:extLst>
              </a:tr>
              <a:tr h="254545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Prioritat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817" marR="89817" marT="44909" marB="44909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Alta​</a:t>
                      </a:r>
                      <a:endParaRPr lang="ca-ES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817" marR="89817" marT="44909" marB="44909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404943"/>
                  </a:ext>
                </a:extLst>
              </a:tr>
              <a:tr h="254545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Comentaris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817" marR="89817" marT="44909" marB="44909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dirty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 ---​</a:t>
                      </a:r>
                      <a:endParaRPr lang="ca-ES" sz="18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9817" marR="89817" marT="44909" marB="44909"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5512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8295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AE6DA1-6352-8A2E-C9E7-4627259F5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1B52C3-ABFC-7E91-782E-ED0518FE7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 err="1"/>
              <a:t>Diagrames</a:t>
            </a:r>
            <a:r>
              <a:rPr lang="en-US" sz="4800" dirty="0"/>
              <a:t> de </a:t>
            </a:r>
            <a:r>
              <a:rPr lang="en-US" sz="4800" dirty="0" err="1"/>
              <a:t>Seqüencia</a:t>
            </a:r>
            <a:endParaRPr lang="en-US" sz="480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7062E18-E2FF-8C35-F562-1092B1A457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37741" y="1223055"/>
            <a:ext cx="5500096" cy="4260637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B7D5156-16A6-ADE6-3A86-568A12664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26319" y="6356350"/>
            <a:ext cx="178769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2493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478ED-7C9D-E9AB-F46D-08EAAB814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5F392-DB01-C7B2-8452-DA3EF7294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16" y="1054630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 err="1"/>
              <a:t>Proporcionar</a:t>
            </a:r>
            <a:r>
              <a:rPr lang="en-US" sz="4400" dirty="0"/>
              <a:t> </a:t>
            </a:r>
            <a:r>
              <a:rPr lang="en-US" sz="4400" dirty="0" err="1"/>
              <a:t>ubicació</a:t>
            </a:r>
            <a:r>
              <a:rPr lang="en-US" sz="4400" dirty="0"/>
              <a:t> GPS</a:t>
            </a:r>
            <a:endParaRPr lang="ca-ES" sz="36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30B97AB-FDB4-5EF6-7528-A4CE6ADEE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10" y="6356350"/>
            <a:ext cx="15059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8B4C476-B5AE-D3FD-115C-09E520A85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213619"/>
              </p:ext>
            </p:extLst>
          </p:nvPr>
        </p:nvGraphicFramePr>
        <p:xfrm>
          <a:off x="4580410" y="1410388"/>
          <a:ext cx="6773389" cy="4764635"/>
        </p:xfrm>
        <a:graphic>
          <a:graphicData uri="http://schemas.openxmlformats.org/drawingml/2006/table">
            <a:tbl>
              <a:tblPr/>
              <a:tblGrid>
                <a:gridCol w="2056499">
                  <a:extLst>
                    <a:ext uri="{9D8B030D-6E8A-4147-A177-3AD203B41FA5}">
                      <a16:colId xmlns:a16="http://schemas.microsoft.com/office/drawing/2014/main" val="3954133174"/>
                    </a:ext>
                  </a:extLst>
                </a:gridCol>
                <a:gridCol w="2219713">
                  <a:extLst>
                    <a:ext uri="{9D8B030D-6E8A-4147-A177-3AD203B41FA5}">
                      <a16:colId xmlns:a16="http://schemas.microsoft.com/office/drawing/2014/main" val="111160541"/>
                    </a:ext>
                  </a:extLst>
                </a:gridCol>
                <a:gridCol w="848713">
                  <a:extLst>
                    <a:ext uri="{9D8B030D-6E8A-4147-A177-3AD203B41FA5}">
                      <a16:colId xmlns:a16="http://schemas.microsoft.com/office/drawing/2014/main" val="983067738"/>
                    </a:ext>
                  </a:extLst>
                </a:gridCol>
                <a:gridCol w="1648464">
                  <a:extLst>
                    <a:ext uri="{9D8B030D-6E8A-4147-A177-3AD203B41FA5}">
                      <a16:colId xmlns:a16="http://schemas.microsoft.com/office/drawing/2014/main" val="978775408"/>
                    </a:ext>
                  </a:extLst>
                </a:gridCol>
              </a:tblGrid>
              <a:tr h="278722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FFFFFF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CAS D’ÚS:​</a:t>
                      </a:r>
                      <a:endParaRPr lang="ca-E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4D5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1000" b="1" i="0">
                          <a:solidFill>
                            <a:srgbClr val="FFFFFF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Proporcionar ubicació GPS </a:t>
                      </a: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4D5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376706"/>
                  </a:ext>
                </a:extLst>
              </a:tr>
              <a:tr h="277493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10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Versió</a:t>
                      </a:r>
                      <a:r>
                        <a:rPr lang="ca-ES" sz="10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1.0​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10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Data</a:t>
                      </a:r>
                      <a:r>
                        <a:rPr lang="ca-ES" sz="10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16/05/2026​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1449505"/>
                  </a:ext>
                </a:extLst>
              </a:tr>
              <a:tr h="278722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Autors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Enric, Blay, Maria i Neus​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184214"/>
                  </a:ext>
                </a:extLst>
              </a:tr>
              <a:tr h="468725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Descripció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El sistema transmet la ubicació geogràfica del repartidor en temps real perquè pugui ser visualitzada pel client.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7670373"/>
                  </a:ext>
                </a:extLst>
              </a:tr>
              <a:tr h="278722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Actors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Repartidor, Mapa.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696388"/>
                  </a:ext>
                </a:extLst>
              </a:tr>
              <a:tr h="278722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Precondició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L'enviament de la comanda ha d'estar actiu i en progrés.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612114"/>
                  </a:ext>
                </a:extLst>
              </a:tr>
              <a:tr h="659958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Flux principal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Font typeface="+mj-lt"/>
                        <a:buAutoNum type="arabicPeriod"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El dispositiu mòbil del repartidor envia les coordenades de gps.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88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Font typeface="+mj-lt"/>
                        <a:buAutoNum type="arabicPeriod"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El sistema vincula les dades amb el mapa interactiu perquè el client pugui visualitzar la ubicació del repartidor en temps real.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88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30481"/>
                  </a:ext>
                </a:extLst>
              </a:tr>
              <a:tr h="278722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Subfluxos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---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7812"/>
                  </a:ext>
                </a:extLst>
              </a:tr>
              <a:tr h="278722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Fluxos alternatius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228600" indent="0" algn="l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---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4410329"/>
                  </a:ext>
                </a:extLst>
              </a:tr>
              <a:tr h="468725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Postcondició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Ubicació del repartidor actualitzada i visible al mapa interactiu dins de l’aplicació..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655850"/>
                  </a:ext>
                </a:extLst>
              </a:tr>
              <a:tr h="659958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Requeriments no funcionals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RNF-09-01: Temps de resposta màxim de 5 mil·lisegons.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RNF-03-00: El càlcul de distància es realitza mitjançant la distància Manhattan.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647773"/>
                  </a:ext>
                </a:extLst>
              </a:tr>
              <a:tr h="278722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Prioritat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Mitjana​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390436"/>
                  </a:ext>
                </a:extLst>
              </a:tr>
              <a:tr h="278722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Comentaris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dirty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Utilitzarem la API de </a:t>
                      </a:r>
                      <a:r>
                        <a:rPr lang="ca-ES" sz="1100" b="0" i="0" dirty="0" err="1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GoogleMaps</a:t>
                      </a:r>
                      <a:r>
                        <a:rPr lang="ca-ES" sz="1100" b="0" i="0" dirty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302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9680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6253BA-895F-69CC-4178-070346747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B2A5602-525E-F601-4270-C735FE986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Diagrames de Seqüencia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3E77491-1B6F-7134-0F4D-852E1CBB38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64608" y="951940"/>
            <a:ext cx="6846363" cy="4802866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1868A2-953D-5542-B32D-49DBA8269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26319" y="6356350"/>
            <a:ext cx="178769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415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4480E-F754-AD27-B908-F7A14C754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A778D5-DF86-6D97-3E66-14C6A656E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16" y="1054630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 err="1"/>
              <a:t>Visualitzar</a:t>
            </a:r>
            <a:r>
              <a:rPr lang="en-US" sz="4400" dirty="0"/>
              <a:t> </a:t>
            </a:r>
            <a:r>
              <a:rPr lang="en-US" sz="4400" dirty="0" err="1"/>
              <a:t>comandes</a:t>
            </a:r>
            <a:r>
              <a:rPr lang="en-US" sz="4400" dirty="0"/>
              <a:t> </a:t>
            </a:r>
            <a:r>
              <a:rPr lang="en-US" sz="4400" dirty="0" err="1"/>
              <a:t>d’enviament</a:t>
            </a:r>
            <a:endParaRPr lang="ca-ES" sz="36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194E3C2-095E-B4F0-2C6F-E0C0C4D62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10" y="6356350"/>
            <a:ext cx="15059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16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24364A63-A684-8000-3D4B-0739BFC32B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304128"/>
              </p:ext>
            </p:extLst>
          </p:nvPr>
        </p:nvGraphicFramePr>
        <p:xfrm>
          <a:off x="4036836" y="1162033"/>
          <a:ext cx="7316963" cy="4253300"/>
        </p:xfrm>
        <a:graphic>
          <a:graphicData uri="http://schemas.openxmlformats.org/drawingml/2006/table">
            <a:tbl>
              <a:tblPr/>
              <a:tblGrid>
                <a:gridCol w="2221536">
                  <a:extLst>
                    <a:ext uri="{9D8B030D-6E8A-4147-A177-3AD203B41FA5}">
                      <a16:colId xmlns:a16="http://schemas.microsoft.com/office/drawing/2014/main" val="2165298459"/>
                    </a:ext>
                  </a:extLst>
                </a:gridCol>
                <a:gridCol w="2397848">
                  <a:extLst>
                    <a:ext uri="{9D8B030D-6E8A-4147-A177-3AD203B41FA5}">
                      <a16:colId xmlns:a16="http://schemas.microsoft.com/office/drawing/2014/main" val="4087073378"/>
                    </a:ext>
                  </a:extLst>
                </a:gridCol>
                <a:gridCol w="916824">
                  <a:extLst>
                    <a:ext uri="{9D8B030D-6E8A-4147-A177-3AD203B41FA5}">
                      <a16:colId xmlns:a16="http://schemas.microsoft.com/office/drawing/2014/main" val="2244882936"/>
                    </a:ext>
                  </a:extLst>
                </a:gridCol>
                <a:gridCol w="1780755">
                  <a:extLst>
                    <a:ext uri="{9D8B030D-6E8A-4147-A177-3AD203B41FA5}">
                      <a16:colId xmlns:a16="http://schemas.microsoft.com/office/drawing/2014/main" val="32289609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FFFFFF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CAS D’ÚS:​</a:t>
                      </a:r>
                      <a:endParaRPr lang="ca-E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4D5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1000" b="1" i="0">
                          <a:solidFill>
                            <a:srgbClr val="FFFFFF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Visualitzar comandes d'enviament</a:t>
                      </a: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4D5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1764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10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Versió</a:t>
                      </a:r>
                      <a:r>
                        <a:rPr lang="ca-ES" sz="10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1.0​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10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Data</a:t>
                      </a:r>
                      <a:r>
                        <a:rPr lang="ca-ES" sz="10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16/05/2026​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4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618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Autors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Enric, Blay, Maria i Neus​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64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Descripció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El sistema permet al repartidor visualitzar les comandes de menjar disponibles que requereixen servei d'enviament a domicili.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591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Actors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Repartidor​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979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Precondició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 El repartidor ha d'estar autenticat al sistema amb el seu rol actiu.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152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Flux principal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350"/>
                        </a:lnSpc>
                        <a:buFont typeface="+mj-lt"/>
                        <a:buAutoNum type="arabicPeriod"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El repartidor sol·licita la visualització de les comandes d'enviament disponibles.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88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indent="0" algn="just" fontAlgn="base">
                        <a:lnSpc>
                          <a:spcPts val="1350"/>
                        </a:lnSpc>
                        <a:buFont typeface="+mj-lt"/>
                        <a:buAutoNum type="arabicPeriod"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El sistema filtra i mostra la llista de comandes segons la distancia entre el repartidor i el lloc de recollida.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sz="880" b="0" i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905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Subfluxos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just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---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708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Fluxos alternatius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228600" indent="0" algn="l" fontAlgn="base">
                        <a:lnSpc>
                          <a:spcPts val="1200"/>
                        </a:lnSpc>
                        <a:buNone/>
                      </a:pPr>
                      <a:r>
                        <a:rPr lang="ca-E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---</a:t>
                      </a:r>
                      <a:r>
                        <a:rPr lang="en-US" sz="1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614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Postcondició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 Mostra les comandes d'enviament disponibles del sistema.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396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Requeriments no funcionals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RNF-09-01: Temps de resposta màxim de 5 mil·lisegons.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RNF-10-00: Funcionament en dispositius mòbils Androidi iOS.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003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Prioritat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Alta​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220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r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1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Comentaris</a:t>
                      </a:r>
                      <a:r>
                        <a:rPr lang="ca-ES" sz="1100" b="0" i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​</a:t>
                      </a:r>
                      <a:endParaRPr lang="ca-E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 fontAlgn="base">
                        <a:lnSpc>
                          <a:spcPts val="1350"/>
                        </a:lnSpc>
                        <a:buNone/>
                      </a:pPr>
                      <a:r>
                        <a:rPr lang="ca-ES" sz="1100" b="0" i="0" dirty="0">
                          <a:solidFill>
                            <a:srgbClr val="000000"/>
                          </a:solidFill>
                          <a:effectLst/>
                          <a:latin typeface="Neue Haas Grotesk Text Pro" panose="020B0504020202020204" pitchFamily="34" charset="77"/>
                        </a:rPr>
                        <a:t> ---​</a:t>
                      </a:r>
                      <a:endParaRPr lang="ca-E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5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481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48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BE27E-4FE7-B724-625A-13F3B4443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038706-E033-7775-7CBD-213D626F9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Diagrames de Seqüencia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4FA0A7-B3AA-9796-5921-82A91A6055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00828" y="951940"/>
            <a:ext cx="6573922" cy="4802866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2A42A3-B244-96A3-4826-0FC2E70C7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26319" y="6356350"/>
            <a:ext cx="178769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17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792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3C76CC-7BC0-33DA-EC3C-5185EF8CE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>
            <a:extLst>
              <a:ext uri="{FF2B5EF4-FFF2-40B4-BE49-F238E27FC236}">
                <a16:creationId xmlns:a16="http://schemas.microsoft.com/office/drawing/2014/main" id="{2DB77D6B-1800-28A3-31DC-BE00BCC55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3E4C1A80-11A7-B2A5-E5CA-9B7AD57A9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Rectangle 12">
            <a:extLst>
              <a:ext uri="{FF2B5EF4-FFF2-40B4-BE49-F238E27FC236}">
                <a16:creationId xmlns:a16="http://schemas.microsoft.com/office/drawing/2014/main" id="{225032CE-3E1E-9234-B12B-D92485D41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14">
            <a:extLst>
              <a:ext uri="{FF2B5EF4-FFF2-40B4-BE49-F238E27FC236}">
                <a16:creationId xmlns:a16="http://schemas.microsoft.com/office/drawing/2014/main" id="{03CFE02E-796E-0EBE-7C71-E6BB19672D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Freeform: Shape 16">
            <a:extLst>
              <a:ext uri="{FF2B5EF4-FFF2-40B4-BE49-F238E27FC236}">
                <a16:creationId xmlns:a16="http://schemas.microsoft.com/office/drawing/2014/main" id="{913B2768-E501-548E-D35A-706F6A10D2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8E940C-F70F-2811-F310-7BB82380A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Diagrama Classes final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5B368D-5880-76E8-57DA-C40501457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E4F431-7880-F46C-F71A-8AF45EEFD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69EA58-0B47-E1F4-6745-FB309665D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10" y="6356350"/>
            <a:ext cx="15059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18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1F908E1-1B5F-B829-DDDC-4C803B225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954" y="418141"/>
            <a:ext cx="6358486" cy="602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068661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b814fa0-4f1b-4d56-8a36-064af1e36e66">
      <UserInfo>
        <DisplayName/>
        <AccountId xsi:nil="true"/>
        <AccountType/>
      </UserInfo>
    </SharedWithUsers>
    <_activity xmlns="b1fa7ccf-aa4f-4f27-84db-07667d020ac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3BD3DC6F0E81D4FA56575A4B7B24AF5" ma:contentTypeVersion="14" ma:contentTypeDescription="Crear nuevo documento." ma:contentTypeScope="" ma:versionID="ded3d347f3a98b31a82ee0cc093f824b">
  <xsd:schema xmlns:xsd="http://www.w3.org/2001/XMLSchema" xmlns:xs="http://www.w3.org/2001/XMLSchema" xmlns:p="http://schemas.microsoft.com/office/2006/metadata/properties" xmlns:ns3="7b814fa0-4f1b-4d56-8a36-064af1e36e66" xmlns:ns4="b1fa7ccf-aa4f-4f27-84db-07667d020acb" targetNamespace="http://schemas.microsoft.com/office/2006/metadata/properties" ma:root="true" ma:fieldsID="fe3adeea5df1e60fd0d7c7fb86895927" ns3:_="" ns4:_="">
    <xsd:import namespace="7b814fa0-4f1b-4d56-8a36-064af1e36e66"/>
    <xsd:import namespace="b1fa7ccf-aa4f-4f27-84db-07667d020ac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814fa0-4f1b-4d56-8a36-064af1e36e6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fa7ccf-aa4f-4f27-84db-07667d020a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BF3923-D9E5-4962-BBB8-690B0ABC4F42}">
  <ds:schemaRefs>
    <ds:schemaRef ds:uri="http://www.w3.org/XML/1998/namespace"/>
    <ds:schemaRef ds:uri="b1fa7ccf-aa4f-4f27-84db-07667d020acb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7b814fa0-4f1b-4d56-8a36-064af1e36e66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77A2FCE-FB77-4A2D-98B9-B8BD51BEE8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814fa0-4f1b-4d56-8a36-064af1e36e66"/>
    <ds:schemaRef ds:uri="b1fa7ccf-aa4f-4f27-84db-07667d020a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4171512-FDE1-4E49-B7EA-58AD2B3337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11040</TotalTime>
  <Words>1243</Words>
  <Application>Microsoft Macintosh PowerPoint</Application>
  <PresentationFormat>Panorámica</PresentationFormat>
  <Paragraphs>259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Arial</vt:lpstr>
      <vt:lpstr>Calibri</vt:lpstr>
      <vt:lpstr>Helvetica</vt:lpstr>
      <vt:lpstr>Neue Haas Grotesk Text Pro</vt:lpstr>
      <vt:lpstr>Times New Roman</vt:lpstr>
      <vt:lpstr>AccentBoxVTI</vt:lpstr>
      <vt:lpstr>Enginyeria del Software</vt:lpstr>
      <vt:lpstr>Composició de l’equip </vt:lpstr>
      <vt:lpstr>Consultar Menús I plats</vt:lpstr>
      <vt:lpstr>Diagrames de Seqüencia</vt:lpstr>
      <vt:lpstr>Iniciar Sessió</vt:lpstr>
      <vt:lpstr>Diagrames de Seqüencia</vt:lpstr>
      <vt:lpstr>Registrar-se</vt:lpstr>
      <vt:lpstr>Diagrames de Seqüencia</vt:lpstr>
      <vt:lpstr>Diagrama Classes final</vt:lpstr>
      <vt:lpstr>Realitzar lliurament de comanda</vt:lpstr>
      <vt:lpstr>Diagrames de Seqüencia</vt:lpstr>
      <vt:lpstr>Rebre ingrés per enviament</vt:lpstr>
      <vt:lpstr>Diagrames de Seqüencia</vt:lpstr>
      <vt:lpstr>Proporcionar ubicació GPS</vt:lpstr>
      <vt:lpstr>Diagrames de Seqüencia</vt:lpstr>
      <vt:lpstr>Visualitzar comandes d’enviament</vt:lpstr>
      <vt:lpstr>Diagrames de Seqüencia</vt:lpstr>
      <vt:lpstr>Diagrama Classes 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Enginyeria del Software</dc:title>
  <dc:creator>Jorge Bernal del Nozal</dc:creator>
  <cp:lastModifiedBy>Blay Clotas Cekov</cp:lastModifiedBy>
  <cp:revision>39</cp:revision>
  <dcterms:created xsi:type="dcterms:W3CDTF">2023-02-10T08:32:17Z</dcterms:created>
  <dcterms:modified xsi:type="dcterms:W3CDTF">2026-06-18T11:24:19Z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0x01010063BD3DC6F0E81D4FA56575A4B7B24AF5</vt:lpwstr>
  </property>
  <property fmtid="{D5CDD505-2E9C-101B-9397-08002B2CF9AE}" pid="3" name="Order">
    <vt:r8>1700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ComplianceAssetId">
    <vt:lpwstr/>
  </property>
</Properties>
</file>