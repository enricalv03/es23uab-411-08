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6"/>
  </p:notesMasterIdLst>
  <p:sldIdLst>
    <p:sldId id="412" r:id="rId5"/>
    <p:sldId id="400" r:id="rId6"/>
    <p:sldId id="408" r:id="rId7"/>
    <p:sldId id="467" r:id="rId8"/>
    <p:sldId id="409" r:id="rId9"/>
    <p:sldId id="468" r:id="rId10"/>
    <p:sldId id="469" r:id="rId11"/>
    <p:sldId id="464" r:id="rId12"/>
    <p:sldId id="417" r:id="rId13"/>
    <p:sldId id="443" r:id="rId14"/>
    <p:sldId id="444" r:id="rId15"/>
    <p:sldId id="420" r:id="rId16"/>
    <p:sldId id="446" r:id="rId17"/>
    <p:sldId id="445" r:id="rId18"/>
    <p:sldId id="447" r:id="rId19"/>
    <p:sldId id="442" r:id="rId20"/>
    <p:sldId id="437" r:id="rId21"/>
    <p:sldId id="438" r:id="rId22"/>
    <p:sldId id="439" r:id="rId23"/>
    <p:sldId id="440" r:id="rId24"/>
    <p:sldId id="441" r:id="rId25"/>
    <p:sldId id="448" r:id="rId26"/>
    <p:sldId id="450" r:id="rId27"/>
    <p:sldId id="451" r:id="rId28"/>
    <p:sldId id="452" r:id="rId29"/>
    <p:sldId id="453" r:id="rId30"/>
    <p:sldId id="454" r:id="rId31"/>
    <p:sldId id="449" r:id="rId32"/>
    <p:sldId id="455" r:id="rId33"/>
    <p:sldId id="456" r:id="rId34"/>
    <p:sldId id="457" r:id="rId35"/>
    <p:sldId id="458" r:id="rId36"/>
    <p:sldId id="459" r:id="rId37"/>
    <p:sldId id="461" r:id="rId38"/>
    <p:sldId id="460" r:id="rId39"/>
    <p:sldId id="462" r:id="rId40"/>
    <p:sldId id="413" r:id="rId41"/>
    <p:sldId id="411" r:id="rId42"/>
    <p:sldId id="463" r:id="rId43"/>
    <p:sldId id="470" r:id="rId44"/>
    <p:sldId id="399" r:id="rId4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9D9D9"/>
    <a:srgbClr val="FEF8BE"/>
    <a:srgbClr val="B8CCE4"/>
    <a:srgbClr val="7693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69D245-F862-5741-93CC-6B64F00D5AC9}" v="3" dt="2026-06-18T10:14:58.85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 cla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Estil clar 2 - èmfasi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Estil mitjà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6"/>
  </p:normalViewPr>
  <p:slideViewPr>
    <p:cSldViewPr snapToGrid="0">
      <p:cViewPr varScale="1">
        <p:scale>
          <a:sx n="114" d="100"/>
          <a:sy n="114" d="100"/>
        </p:scale>
        <p:origin x="6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ECDAD-75E1-4BC4-AB86-9BA5DFF857B3}" type="datetimeFigureOut">
              <a:rPr lang="en-GB" smtClean="0"/>
              <a:t>18/06/2026</a:t>
            </a:fld>
            <a:endParaRPr lang="en-GB"/>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BAA5E4-F832-4E78-BDC0-6CAA09567E07}" type="slidenum">
              <a:rPr lang="en-GB" smtClean="0"/>
              <a:t>‹Nº›</a:t>
            </a:fld>
            <a:endParaRPr lang="en-GB"/>
          </a:p>
        </p:txBody>
      </p:sp>
    </p:spTree>
    <p:extLst>
      <p:ext uri="{BB962C8B-B14F-4D97-AF65-F5344CB8AC3E}">
        <p14:creationId xmlns:p14="http://schemas.microsoft.com/office/powerpoint/2010/main" val="331548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31DCF8F9-FE1E-467E-9B82-0FEB758F2FA6}" type="datetime1">
              <a:rPr lang="en-US" smtClean="0"/>
              <a:t>6/18/26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0959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6219CF75-0ECC-4E76-B636-3ABF46261502}" type="datetime1">
              <a:rPr lang="en-US" smtClean="0"/>
              <a:t>6/18/26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725978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8D14E8BD-E6E8-42B0-9E1C-58D2F9C64A0C}" type="datetime1">
              <a:rPr lang="en-US" smtClean="0"/>
              <a:t>6/18/26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01333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D7AFBA47-0BC8-4C75-9B10-88B9F496CCB1}" type="datetime1">
              <a:rPr lang="en-US" smtClean="0"/>
              <a:t>6/18/26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999323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84512E72-AC33-43BA-BEE9-4FD4948C58D8}" type="datetime1">
              <a:rPr lang="en-US" smtClean="0"/>
              <a:t>6/18/26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86181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CB376718-59A8-49B1-AEC5-3662572A144D}" type="datetime1">
              <a:rPr lang="en-US" smtClean="0"/>
              <a:t>6/18/26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32094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284EC767-5C82-4733-81D6-0B6B22CAF0EE}" type="datetime1">
              <a:rPr lang="en-US" smtClean="0"/>
              <a:t>6/18/26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576545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E4D41E06-6C86-4754-846D-56519DFF1F50}" type="datetime1">
              <a:rPr lang="en-US" smtClean="0"/>
              <a:t>6/18/26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190660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A39B2-B176-40DF-B22F-280C511548AF}" type="datetime1">
              <a:rPr lang="en-US" smtClean="0"/>
              <a:t>6/18/26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13420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5CAAE393-D011-4B55-A9B6-0BBC79EF96B0}" type="datetime1">
              <a:rPr lang="en-US" smtClean="0"/>
              <a:t>6/18/26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482955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8ACD0C2F-F497-4247-8BB2-5746400D850B}" type="datetime1">
              <a:rPr lang="en-US" smtClean="0"/>
              <a:t>6/18/26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4027891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BAA1BC-C245-4537-A704-02F8919D151B}" type="datetime1">
              <a:rPr lang="en-US" smtClean="0"/>
              <a:t>6/18/26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326558025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4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45CF02-92BA-5A94-2DEC-47F61A7CF4A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481272-C222-8968-044D-3BAF0970A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02A8D1-3358-F5F1-4AF0-5F9969CD7360}"/>
              </a:ext>
            </a:extLst>
          </p:cNvPr>
          <p:cNvPicPr>
            <a:picLocks noChangeAspect="1"/>
          </p:cNvPicPr>
          <p:nvPr/>
        </p:nvPicPr>
        <p:blipFill rotWithShape="1">
          <a:blip r:embed="rId2"/>
          <a:srcRect t="1108" r="-1" b="-1"/>
          <a:stretch/>
        </p:blipFill>
        <p:spPr>
          <a:xfrm>
            <a:off x="20" y="10"/>
            <a:ext cx="8668492" cy="6857990"/>
          </a:xfrm>
          <a:prstGeom prst="rect">
            <a:avLst/>
          </a:prstGeom>
        </p:spPr>
      </p:pic>
      <p:sp>
        <p:nvSpPr>
          <p:cNvPr id="87" name="Rectangle 10">
            <a:extLst>
              <a:ext uri="{FF2B5EF4-FFF2-40B4-BE49-F238E27FC236}">
                <a16:creationId xmlns:a16="http://schemas.microsoft.com/office/drawing/2014/main" id="{3CA4E186-A056-DACA-6812-E5F007704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0318A6B-6752-F618-4EF4-1D267178CEFA}"/>
              </a:ext>
            </a:extLst>
          </p:cNvPr>
          <p:cNvSpPr>
            <a:spLocks noGrp="1"/>
          </p:cNvSpPr>
          <p:nvPr>
            <p:ph type="ctrTitle"/>
          </p:nvPr>
        </p:nvSpPr>
        <p:spPr>
          <a:xfrm>
            <a:off x="7848600" y="1122363"/>
            <a:ext cx="4023360" cy="3204134"/>
          </a:xfrm>
        </p:spPr>
        <p:txBody>
          <a:bodyPr anchor="b">
            <a:normAutofit/>
          </a:bodyPr>
          <a:lstStyle/>
          <a:p>
            <a:r>
              <a:rPr lang="ca-ES" sz="4800"/>
              <a:t>Enginyeria del Software</a:t>
            </a:r>
          </a:p>
        </p:txBody>
      </p:sp>
      <p:sp>
        <p:nvSpPr>
          <p:cNvPr id="88" name="Rectangle 12">
            <a:extLst>
              <a:ext uri="{FF2B5EF4-FFF2-40B4-BE49-F238E27FC236}">
                <a16:creationId xmlns:a16="http://schemas.microsoft.com/office/drawing/2014/main" id="{EE755042-3AA6-3825-AEC6-571898FD74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FD429D88-9361-BCC7-DCE3-D5D1408F4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Subtítulo 2">
            <a:extLst>
              <a:ext uri="{FF2B5EF4-FFF2-40B4-BE49-F238E27FC236}">
                <a16:creationId xmlns:a16="http://schemas.microsoft.com/office/drawing/2014/main" id="{8F60D0DC-CA51-7547-B234-C04A874F0855}"/>
              </a:ext>
            </a:extLst>
          </p:cNvPr>
          <p:cNvSpPr txBox="1">
            <a:spLocks/>
          </p:cNvSpPr>
          <p:nvPr/>
        </p:nvSpPr>
        <p:spPr>
          <a:xfrm>
            <a:off x="7848600" y="4872922"/>
            <a:ext cx="4023360" cy="135939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ca-ES" sz="1400"/>
              <a:t>Pràctiques: Grup 411-08</a:t>
            </a:r>
          </a:p>
          <a:p>
            <a:pPr>
              <a:lnSpc>
                <a:spcPct val="100000"/>
              </a:lnSpc>
            </a:pPr>
            <a:endParaRPr lang="ca-ES" sz="1400"/>
          </a:p>
          <a:p>
            <a:pPr>
              <a:lnSpc>
                <a:spcPct val="100000"/>
              </a:lnSpc>
            </a:pPr>
            <a:r>
              <a:rPr lang="ca-ES" sz="1400" err="1"/>
              <a:t>Sprint</a:t>
            </a:r>
            <a:r>
              <a:rPr lang="ca-ES" sz="1400"/>
              <a:t> 03: Especificacions i Diagrama de Classes</a:t>
            </a:r>
          </a:p>
        </p:txBody>
      </p:sp>
    </p:spTree>
    <p:extLst>
      <p:ext uri="{BB962C8B-B14F-4D97-AF65-F5344CB8AC3E}">
        <p14:creationId xmlns:p14="http://schemas.microsoft.com/office/powerpoint/2010/main" val="751733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F9086-B6B4-D19E-C791-6006CEAD6999}"/>
              </a:ext>
            </a:extLst>
          </p:cNvPr>
          <p:cNvSpPr>
            <a:spLocks noGrp="1"/>
          </p:cNvSpPr>
          <p:nvPr>
            <p:ph type="title"/>
          </p:nvPr>
        </p:nvSpPr>
        <p:spPr/>
        <p:txBody>
          <a:bodyPr/>
          <a:lstStyle/>
          <a:p>
            <a:r>
              <a:rPr lang="ca-ES"/>
              <a:t>Composició de l’equip</a:t>
            </a:r>
            <a:r>
              <a:rPr lang="en-GB"/>
              <a:t> </a:t>
            </a:r>
          </a:p>
        </p:txBody>
      </p:sp>
      <p:sp>
        <p:nvSpPr>
          <p:cNvPr id="4" name="Marcador de número de diapositiva 3">
            <a:extLst>
              <a:ext uri="{FF2B5EF4-FFF2-40B4-BE49-F238E27FC236}">
                <a16:creationId xmlns:a16="http://schemas.microsoft.com/office/drawing/2014/main" id="{0EDBCED9-7F51-70EF-594E-F7D7A979ACBF}"/>
              </a:ext>
            </a:extLst>
          </p:cNvPr>
          <p:cNvSpPr>
            <a:spLocks noGrp="1"/>
          </p:cNvSpPr>
          <p:nvPr>
            <p:ph type="sldNum" sz="quarter" idx="12"/>
          </p:nvPr>
        </p:nvSpPr>
        <p:spPr/>
        <p:txBody>
          <a:bodyPr/>
          <a:lstStyle/>
          <a:p>
            <a:fld id="{B2DC25EE-239B-4C5F-AAD1-255A7D5F1EE2}" type="slidenum">
              <a:rPr lang="en-US" smtClean="0"/>
              <a:t>2</a:t>
            </a:fld>
            <a:endParaRPr lang="en-US"/>
          </a:p>
        </p:txBody>
      </p:sp>
      <p:sp>
        <p:nvSpPr>
          <p:cNvPr id="6" name="CuadroTexto 5">
            <a:extLst>
              <a:ext uri="{FF2B5EF4-FFF2-40B4-BE49-F238E27FC236}">
                <a16:creationId xmlns:a16="http://schemas.microsoft.com/office/drawing/2014/main" id="{2314AE07-3639-F5C2-D9BA-C0FC3F1B97C3}"/>
              </a:ext>
            </a:extLst>
          </p:cNvPr>
          <p:cNvSpPr txBox="1"/>
          <p:nvPr/>
        </p:nvSpPr>
        <p:spPr>
          <a:xfrm>
            <a:off x="1121756" y="2748188"/>
            <a:ext cx="2635333" cy="369332"/>
          </a:xfrm>
          <a:prstGeom prst="rect">
            <a:avLst/>
          </a:prstGeom>
          <a:noFill/>
        </p:spPr>
        <p:txBody>
          <a:bodyPr wrap="square" lIns="91440" tIns="45720" rIns="91440" bIns="45720" rtlCol="0" anchor="t">
            <a:spAutoFit/>
          </a:bodyPr>
          <a:lstStyle/>
          <a:p>
            <a:r>
              <a:rPr lang="es-ES"/>
              <a:t>Enric </a:t>
            </a:r>
            <a:r>
              <a:rPr lang="es-ES" err="1"/>
              <a:t>Alvarez</a:t>
            </a:r>
            <a:r>
              <a:rPr lang="es-ES"/>
              <a:t> </a:t>
            </a:r>
            <a:r>
              <a:rPr lang="es-ES" err="1"/>
              <a:t>Bargada</a:t>
            </a:r>
            <a:endParaRPr lang="es-ES"/>
          </a:p>
        </p:txBody>
      </p:sp>
      <p:sp>
        <p:nvSpPr>
          <p:cNvPr id="7" name="CuadroTexto 6">
            <a:extLst>
              <a:ext uri="{FF2B5EF4-FFF2-40B4-BE49-F238E27FC236}">
                <a16:creationId xmlns:a16="http://schemas.microsoft.com/office/drawing/2014/main" id="{BDC369DB-16A4-5A1E-3B9A-B758A83E309A}"/>
              </a:ext>
            </a:extLst>
          </p:cNvPr>
          <p:cNvSpPr txBox="1"/>
          <p:nvPr/>
        </p:nvSpPr>
        <p:spPr>
          <a:xfrm>
            <a:off x="1117251" y="3428027"/>
            <a:ext cx="2319130" cy="369332"/>
          </a:xfrm>
          <a:prstGeom prst="rect">
            <a:avLst/>
          </a:prstGeom>
          <a:noFill/>
        </p:spPr>
        <p:txBody>
          <a:bodyPr wrap="square" lIns="91440" tIns="45720" rIns="91440" bIns="45720" rtlCol="0" anchor="t">
            <a:spAutoFit/>
          </a:bodyPr>
          <a:lstStyle/>
          <a:p>
            <a:r>
              <a:rPr lang="es-ES"/>
              <a:t>Neus Roig Prat</a:t>
            </a:r>
            <a:endParaRPr lang="ca-ES"/>
          </a:p>
        </p:txBody>
      </p:sp>
      <p:sp>
        <p:nvSpPr>
          <p:cNvPr id="15" name="CuadroTexto 14">
            <a:extLst>
              <a:ext uri="{FF2B5EF4-FFF2-40B4-BE49-F238E27FC236}">
                <a16:creationId xmlns:a16="http://schemas.microsoft.com/office/drawing/2014/main" id="{03C62CEE-6A8B-2B35-B786-8B14CB14DC3C}"/>
              </a:ext>
            </a:extLst>
          </p:cNvPr>
          <p:cNvSpPr txBox="1"/>
          <p:nvPr/>
        </p:nvSpPr>
        <p:spPr>
          <a:xfrm>
            <a:off x="1119162" y="4033289"/>
            <a:ext cx="5163580" cy="646331"/>
          </a:xfrm>
          <a:prstGeom prst="rect">
            <a:avLst/>
          </a:prstGeom>
          <a:noFill/>
        </p:spPr>
        <p:txBody>
          <a:bodyPr wrap="square" lIns="91440" tIns="45720" rIns="91440" bIns="45720" rtlCol="0" anchor="t">
            <a:spAutoFit/>
          </a:bodyPr>
          <a:lstStyle/>
          <a:p>
            <a:r>
              <a:rPr lang="es-ES"/>
              <a:t>Blay Clotas Cekov (SCRUM MASTER)</a:t>
            </a:r>
            <a:endParaRPr lang="ca-ES"/>
          </a:p>
          <a:p>
            <a:endParaRPr lang="ca-ES"/>
          </a:p>
        </p:txBody>
      </p:sp>
      <p:sp>
        <p:nvSpPr>
          <p:cNvPr id="16" name="CuadroTexto 15">
            <a:extLst>
              <a:ext uri="{FF2B5EF4-FFF2-40B4-BE49-F238E27FC236}">
                <a16:creationId xmlns:a16="http://schemas.microsoft.com/office/drawing/2014/main" id="{3D766566-045E-7674-F7AA-34E878B42A0B}"/>
              </a:ext>
            </a:extLst>
          </p:cNvPr>
          <p:cNvSpPr txBox="1"/>
          <p:nvPr/>
        </p:nvSpPr>
        <p:spPr>
          <a:xfrm>
            <a:off x="1117251" y="4680665"/>
            <a:ext cx="2807861" cy="646331"/>
          </a:xfrm>
          <a:prstGeom prst="rect">
            <a:avLst/>
          </a:prstGeom>
          <a:noFill/>
        </p:spPr>
        <p:txBody>
          <a:bodyPr wrap="square" lIns="91440" tIns="45720" rIns="91440" bIns="45720" rtlCol="0" anchor="t">
            <a:spAutoFit/>
          </a:bodyPr>
          <a:lstStyle/>
          <a:p>
            <a:r>
              <a:rPr lang="es-ES" err="1"/>
              <a:t>Maria</a:t>
            </a:r>
            <a:r>
              <a:rPr lang="es-ES"/>
              <a:t> Figueras Martínez</a:t>
            </a:r>
          </a:p>
          <a:p>
            <a:endParaRPr lang="es-ES"/>
          </a:p>
        </p:txBody>
      </p:sp>
    </p:spTree>
    <p:extLst>
      <p:ext uri="{BB962C8B-B14F-4D97-AF65-F5344CB8AC3E}">
        <p14:creationId xmlns:p14="http://schemas.microsoft.com/office/powerpoint/2010/main" val="1439967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B19B-BC83-28E3-C34F-E477B71C3C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6D4BA1-5AB7-B8D9-63F4-F71B31D5F629}"/>
              </a:ext>
            </a:extLst>
          </p:cNvPr>
          <p:cNvSpPr>
            <a:spLocks noGrp="1"/>
          </p:cNvSpPr>
          <p:nvPr>
            <p:ph type="title"/>
          </p:nvPr>
        </p:nvSpPr>
        <p:spPr/>
        <p:txBody>
          <a:bodyPr/>
          <a:lstStyle/>
          <a:p>
            <a:r>
              <a:rPr lang="es-ES"/>
              <a:t>Tasques fetes al sprint</a:t>
            </a:r>
            <a:endParaRPr lang="en-GB"/>
          </a:p>
        </p:txBody>
      </p:sp>
      <p:sp>
        <p:nvSpPr>
          <p:cNvPr id="4" name="Marcador de número de diapositiva 3">
            <a:extLst>
              <a:ext uri="{FF2B5EF4-FFF2-40B4-BE49-F238E27FC236}">
                <a16:creationId xmlns:a16="http://schemas.microsoft.com/office/drawing/2014/main" id="{329DCC4B-20F9-8EAA-9C5D-D85FD1DD20C9}"/>
              </a:ext>
            </a:extLst>
          </p:cNvPr>
          <p:cNvSpPr>
            <a:spLocks noGrp="1"/>
          </p:cNvSpPr>
          <p:nvPr>
            <p:ph type="sldNum" sz="quarter" idx="12"/>
          </p:nvPr>
        </p:nvSpPr>
        <p:spPr/>
        <p:txBody>
          <a:bodyPr/>
          <a:lstStyle/>
          <a:p>
            <a:fld id="{B2DC25EE-239B-4C5F-AAD1-255A7D5F1EE2}" type="slidenum">
              <a:rPr lang="en-US" smtClean="0"/>
              <a:t>3</a:t>
            </a:fld>
            <a:endParaRPr lang="en-US"/>
          </a:p>
        </p:txBody>
      </p:sp>
      <p:sp>
        <p:nvSpPr>
          <p:cNvPr id="14" name="CuadroTexto 13">
            <a:extLst>
              <a:ext uri="{FF2B5EF4-FFF2-40B4-BE49-F238E27FC236}">
                <a16:creationId xmlns:a16="http://schemas.microsoft.com/office/drawing/2014/main" id="{0C9F3BC3-64C6-DCA9-A993-43956FF851B7}"/>
              </a:ext>
            </a:extLst>
          </p:cNvPr>
          <p:cNvSpPr txBox="1"/>
          <p:nvPr/>
        </p:nvSpPr>
        <p:spPr>
          <a:xfrm>
            <a:off x="428603" y="2198728"/>
            <a:ext cx="10020823" cy="3367973"/>
          </a:xfrm>
          <a:prstGeom prst="rect">
            <a:avLst/>
          </a:prstGeom>
          <a:noFill/>
        </p:spPr>
        <p:txBody>
          <a:bodyPr wrap="square" lIns="91440" tIns="45720" rIns="91440" bIns="45720" rtlCol="0" anchor="t">
            <a:spAutoFit/>
          </a:bodyPr>
          <a:lstStyle/>
          <a:p>
            <a:pPr algn="just">
              <a:lnSpc>
                <a:spcPct val="150000"/>
              </a:lnSpc>
            </a:pPr>
            <a:r>
              <a:rPr lang="ca-ES"/>
              <a:t>Tasca 1: Fer esborrany cas d’Ús (Tot l’equip)</a:t>
            </a:r>
          </a:p>
          <a:p>
            <a:pPr algn="just">
              <a:lnSpc>
                <a:spcPct val="150000"/>
              </a:lnSpc>
            </a:pPr>
            <a:r>
              <a:rPr lang="ca-ES"/>
              <a:t>Tasca 2: Revisió del esborrany de cas d’Ús (Tot l’equip)</a:t>
            </a:r>
          </a:p>
          <a:p>
            <a:pPr algn="just">
              <a:lnSpc>
                <a:spcPct val="150000"/>
              </a:lnSpc>
            </a:pPr>
            <a:r>
              <a:rPr lang="ca-ES"/>
              <a:t>Tasca 3: Actualització Diagrama de classes (Blay i Enric)</a:t>
            </a:r>
          </a:p>
          <a:p>
            <a:pPr algn="just">
              <a:lnSpc>
                <a:spcPct val="150000"/>
              </a:lnSpc>
            </a:pPr>
            <a:r>
              <a:rPr lang="ca-ES"/>
              <a:t>Tasca 4: Creació d’especificacions dels casos d’Ús (Tot l’equip)</a:t>
            </a:r>
          </a:p>
          <a:p>
            <a:pPr algn="just">
              <a:lnSpc>
                <a:spcPct val="150000"/>
              </a:lnSpc>
            </a:pPr>
            <a:r>
              <a:rPr lang="ca-ES"/>
              <a:t>Tasca 5: Actualització BURNDOWN-CHART (Enric)</a:t>
            </a:r>
          </a:p>
          <a:p>
            <a:pPr algn="just">
              <a:lnSpc>
                <a:spcPct val="150000"/>
              </a:lnSpc>
            </a:pPr>
            <a:r>
              <a:rPr lang="ca-ES"/>
              <a:t>Tasca 6: Actualització Document d'Especificacions (Neus i Maria)</a:t>
            </a:r>
          </a:p>
          <a:p>
            <a:pPr algn="just">
              <a:lnSpc>
                <a:spcPct val="150000"/>
              </a:lnSpc>
            </a:pPr>
            <a:r>
              <a:rPr lang="ca-ES"/>
              <a:t>Tasca 7: Actualització GitHub (Tot l’equip)</a:t>
            </a:r>
          </a:p>
          <a:p>
            <a:pPr algn="just">
              <a:lnSpc>
                <a:spcPct val="150000"/>
              </a:lnSpc>
            </a:pPr>
            <a:r>
              <a:rPr lang="ca-ES"/>
              <a:t>Tasca 8: Creació PWP (Blay)</a:t>
            </a:r>
          </a:p>
        </p:txBody>
      </p:sp>
    </p:spTree>
    <p:extLst>
      <p:ext uri="{BB962C8B-B14F-4D97-AF65-F5344CB8AC3E}">
        <p14:creationId xmlns:p14="http://schemas.microsoft.com/office/powerpoint/2010/main" val="3516385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2304-B49A-1A6B-93E0-D732DE340F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376CF7-6CC8-BD53-BF6D-4FF1F12D0A3C}"/>
              </a:ext>
            </a:extLst>
          </p:cNvPr>
          <p:cNvSpPr>
            <a:spLocks noGrp="1"/>
          </p:cNvSpPr>
          <p:nvPr>
            <p:ph type="title"/>
          </p:nvPr>
        </p:nvSpPr>
        <p:spPr/>
        <p:txBody>
          <a:bodyPr>
            <a:normAutofit fontScale="90000"/>
          </a:bodyPr>
          <a:lstStyle/>
          <a:p>
            <a:r>
              <a:rPr lang="ca-ES"/>
              <a:t>Diagrama Cas d’Ús final (Usuari no registrat)</a:t>
            </a:r>
          </a:p>
        </p:txBody>
      </p:sp>
      <p:sp>
        <p:nvSpPr>
          <p:cNvPr id="4" name="Marcador de número de diapositiva 3">
            <a:extLst>
              <a:ext uri="{FF2B5EF4-FFF2-40B4-BE49-F238E27FC236}">
                <a16:creationId xmlns:a16="http://schemas.microsoft.com/office/drawing/2014/main" id="{7E31F8EB-BDBF-4BC9-D252-8ADFD77EEEF9}"/>
              </a:ext>
            </a:extLst>
          </p:cNvPr>
          <p:cNvSpPr>
            <a:spLocks noGrp="1"/>
          </p:cNvSpPr>
          <p:nvPr>
            <p:ph type="sldNum" sz="quarter" idx="12"/>
          </p:nvPr>
        </p:nvSpPr>
        <p:spPr/>
        <p:txBody>
          <a:bodyPr/>
          <a:lstStyle/>
          <a:p>
            <a:fld id="{B2DC25EE-239B-4C5F-AAD1-255A7D5F1EE2}" type="slidenum">
              <a:rPr lang="en-US" smtClean="0"/>
              <a:t>4</a:t>
            </a:fld>
            <a:endParaRPr lang="en-US"/>
          </a:p>
        </p:txBody>
      </p:sp>
      <p:pic>
        <p:nvPicPr>
          <p:cNvPr id="3" name="Imagen 2">
            <a:extLst>
              <a:ext uri="{FF2B5EF4-FFF2-40B4-BE49-F238E27FC236}">
                <a16:creationId xmlns:a16="http://schemas.microsoft.com/office/drawing/2014/main" id="{2979420D-335D-8C8B-9AA0-626A56EA3A13}"/>
              </a:ext>
            </a:extLst>
          </p:cNvPr>
          <p:cNvPicPr>
            <a:picLocks noChangeAspect="1"/>
          </p:cNvPicPr>
          <p:nvPr/>
        </p:nvPicPr>
        <p:blipFill rotWithShape="1">
          <a:blip r:embed="rId2"/>
          <a:srcRect l="1227"/>
          <a:stretch>
            <a:fillRect/>
          </a:stretch>
        </p:blipFill>
        <p:spPr>
          <a:xfrm>
            <a:off x="2579198" y="2107285"/>
            <a:ext cx="6513431" cy="4431627"/>
          </a:xfrm>
          <a:prstGeom prst="rect">
            <a:avLst/>
          </a:prstGeom>
        </p:spPr>
      </p:pic>
    </p:spTree>
    <p:extLst>
      <p:ext uri="{BB962C8B-B14F-4D97-AF65-F5344CB8AC3E}">
        <p14:creationId xmlns:p14="http://schemas.microsoft.com/office/powerpoint/2010/main" val="3054570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829A-DA28-0229-A05E-FCE0F2EF15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BF99BE-BBF6-B2B3-02F4-217E7C78069C}"/>
              </a:ext>
            </a:extLst>
          </p:cNvPr>
          <p:cNvSpPr>
            <a:spLocks noGrp="1"/>
          </p:cNvSpPr>
          <p:nvPr>
            <p:ph type="title"/>
          </p:nvPr>
        </p:nvSpPr>
        <p:spPr>
          <a:xfrm>
            <a:off x="1011936" y="219867"/>
            <a:ext cx="10168128" cy="1179576"/>
          </a:xfrm>
        </p:spPr>
        <p:txBody>
          <a:bodyPr>
            <a:normAutofit/>
          </a:bodyPr>
          <a:lstStyle/>
          <a:p>
            <a:r>
              <a:rPr lang="ca-ES"/>
              <a:t>Diagrama Cas d’Ús final (cuiner)</a:t>
            </a:r>
          </a:p>
        </p:txBody>
      </p:sp>
      <p:sp>
        <p:nvSpPr>
          <p:cNvPr id="4" name="Marcador de número de diapositiva 3">
            <a:extLst>
              <a:ext uri="{FF2B5EF4-FFF2-40B4-BE49-F238E27FC236}">
                <a16:creationId xmlns:a16="http://schemas.microsoft.com/office/drawing/2014/main" id="{ED58B65D-2614-915C-82AC-99B679A025F1}"/>
              </a:ext>
            </a:extLst>
          </p:cNvPr>
          <p:cNvSpPr>
            <a:spLocks noGrp="1"/>
          </p:cNvSpPr>
          <p:nvPr>
            <p:ph type="sldNum" sz="quarter" idx="12"/>
          </p:nvPr>
        </p:nvSpPr>
        <p:spPr/>
        <p:txBody>
          <a:bodyPr/>
          <a:lstStyle/>
          <a:p>
            <a:fld id="{B2DC25EE-239B-4C5F-AAD1-255A7D5F1EE2}" type="slidenum">
              <a:rPr lang="en-US" smtClean="0"/>
              <a:t>5</a:t>
            </a:fld>
            <a:endParaRPr lang="en-US"/>
          </a:p>
        </p:txBody>
      </p:sp>
      <p:pic>
        <p:nvPicPr>
          <p:cNvPr id="5" name="Imagen 4">
            <a:extLst>
              <a:ext uri="{FF2B5EF4-FFF2-40B4-BE49-F238E27FC236}">
                <a16:creationId xmlns:a16="http://schemas.microsoft.com/office/drawing/2014/main" id="{51956E2F-70EC-D90D-81E4-1F8B0C95AA0E}"/>
              </a:ext>
            </a:extLst>
          </p:cNvPr>
          <p:cNvPicPr>
            <a:picLocks noChangeAspect="1"/>
          </p:cNvPicPr>
          <p:nvPr/>
        </p:nvPicPr>
        <p:blipFill>
          <a:blip r:embed="rId2"/>
          <a:stretch>
            <a:fillRect/>
          </a:stretch>
        </p:blipFill>
        <p:spPr>
          <a:xfrm>
            <a:off x="2753920" y="1184288"/>
            <a:ext cx="6314292" cy="5673712"/>
          </a:xfrm>
          <a:prstGeom prst="rect">
            <a:avLst/>
          </a:prstGeom>
        </p:spPr>
      </p:pic>
    </p:spTree>
    <p:extLst>
      <p:ext uri="{BB962C8B-B14F-4D97-AF65-F5344CB8AC3E}">
        <p14:creationId xmlns:p14="http://schemas.microsoft.com/office/powerpoint/2010/main" val="194366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BF83-D0EB-A390-F5EB-E7CBBA60E4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4C6BB6-7069-CE1A-0C84-19CEA4D5300F}"/>
              </a:ext>
            </a:extLst>
          </p:cNvPr>
          <p:cNvSpPr>
            <a:spLocks noGrp="1"/>
          </p:cNvSpPr>
          <p:nvPr>
            <p:ph type="title"/>
          </p:nvPr>
        </p:nvSpPr>
        <p:spPr>
          <a:xfrm>
            <a:off x="1011936" y="219867"/>
            <a:ext cx="10168128" cy="1179576"/>
          </a:xfrm>
        </p:spPr>
        <p:txBody>
          <a:bodyPr>
            <a:normAutofit/>
          </a:bodyPr>
          <a:lstStyle/>
          <a:p>
            <a:r>
              <a:rPr lang="ca-ES"/>
              <a:t>Diagrama Cas d’Ús final (repartidor)</a:t>
            </a:r>
          </a:p>
        </p:txBody>
      </p:sp>
      <p:sp>
        <p:nvSpPr>
          <p:cNvPr id="4" name="Marcador de número de diapositiva 3">
            <a:extLst>
              <a:ext uri="{FF2B5EF4-FFF2-40B4-BE49-F238E27FC236}">
                <a16:creationId xmlns:a16="http://schemas.microsoft.com/office/drawing/2014/main" id="{A3BC0802-9394-68DA-015A-E3AE08EA5CF4}"/>
              </a:ext>
            </a:extLst>
          </p:cNvPr>
          <p:cNvSpPr>
            <a:spLocks noGrp="1"/>
          </p:cNvSpPr>
          <p:nvPr>
            <p:ph type="sldNum" sz="quarter" idx="12"/>
          </p:nvPr>
        </p:nvSpPr>
        <p:spPr/>
        <p:txBody>
          <a:bodyPr/>
          <a:lstStyle/>
          <a:p>
            <a:fld id="{B2DC25EE-239B-4C5F-AAD1-255A7D5F1EE2}" type="slidenum">
              <a:rPr lang="en-US" smtClean="0"/>
              <a:t>6</a:t>
            </a:fld>
            <a:endParaRPr lang="en-US"/>
          </a:p>
        </p:txBody>
      </p:sp>
      <p:pic>
        <p:nvPicPr>
          <p:cNvPr id="6" name="Imagen 5">
            <a:extLst>
              <a:ext uri="{FF2B5EF4-FFF2-40B4-BE49-F238E27FC236}">
                <a16:creationId xmlns:a16="http://schemas.microsoft.com/office/drawing/2014/main" id="{1F7D7644-F124-44B0-80D2-C487FE977082}"/>
              </a:ext>
            </a:extLst>
          </p:cNvPr>
          <p:cNvPicPr>
            <a:picLocks noChangeAspect="1"/>
          </p:cNvPicPr>
          <p:nvPr/>
        </p:nvPicPr>
        <p:blipFill>
          <a:blip r:embed="rId2"/>
          <a:stretch>
            <a:fillRect/>
          </a:stretch>
        </p:blipFill>
        <p:spPr>
          <a:xfrm>
            <a:off x="2139696" y="1545166"/>
            <a:ext cx="7772400" cy="5092967"/>
          </a:xfrm>
          <a:prstGeom prst="rect">
            <a:avLst/>
          </a:prstGeom>
        </p:spPr>
      </p:pic>
    </p:spTree>
    <p:extLst>
      <p:ext uri="{BB962C8B-B14F-4D97-AF65-F5344CB8AC3E}">
        <p14:creationId xmlns:p14="http://schemas.microsoft.com/office/powerpoint/2010/main" val="2966781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FAC67-8994-4E71-1CAE-2A7ABF4C14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8B2344-4784-AC37-EC00-3AFC2E520163}"/>
              </a:ext>
            </a:extLst>
          </p:cNvPr>
          <p:cNvSpPr>
            <a:spLocks noGrp="1"/>
          </p:cNvSpPr>
          <p:nvPr>
            <p:ph type="title"/>
          </p:nvPr>
        </p:nvSpPr>
        <p:spPr>
          <a:xfrm>
            <a:off x="1011936" y="219867"/>
            <a:ext cx="10168128" cy="1179576"/>
          </a:xfrm>
        </p:spPr>
        <p:txBody>
          <a:bodyPr>
            <a:normAutofit/>
          </a:bodyPr>
          <a:lstStyle/>
          <a:p>
            <a:r>
              <a:rPr lang="ca-ES"/>
              <a:t>Diagrama Cas d’Ús final (client)</a:t>
            </a:r>
          </a:p>
        </p:txBody>
      </p:sp>
      <p:sp>
        <p:nvSpPr>
          <p:cNvPr id="4" name="Marcador de número de diapositiva 3">
            <a:extLst>
              <a:ext uri="{FF2B5EF4-FFF2-40B4-BE49-F238E27FC236}">
                <a16:creationId xmlns:a16="http://schemas.microsoft.com/office/drawing/2014/main" id="{2FBDE4E5-F404-ACD6-7657-054625E3F19A}"/>
              </a:ext>
            </a:extLst>
          </p:cNvPr>
          <p:cNvSpPr>
            <a:spLocks noGrp="1"/>
          </p:cNvSpPr>
          <p:nvPr>
            <p:ph type="sldNum" sz="quarter" idx="12"/>
          </p:nvPr>
        </p:nvSpPr>
        <p:spPr/>
        <p:txBody>
          <a:bodyPr/>
          <a:lstStyle/>
          <a:p>
            <a:fld id="{B2DC25EE-239B-4C5F-AAD1-255A7D5F1EE2}" type="slidenum">
              <a:rPr lang="en-US" smtClean="0"/>
              <a:t>7</a:t>
            </a:fld>
            <a:endParaRPr lang="en-US"/>
          </a:p>
        </p:txBody>
      </p:sp>
      <p:pic>
        <p:nvPicPr>
          <p:cNvPr id="8" name="Imagen 7">
            <a:extLst>
              <a:ext uri="{FF2B5EF4-FFF2-40B4-BE49-F238E27FC236}">
                <a16:creationId xmlns:a16="http://schemas.microsoft.com/office/drawing/2014/main" id="{E050828A-6387-5FB7-E989-EE895D3B9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7001" y="1152069"/>
            <a:ext cx="5839799" cy="5634722"/>
          </a:xfrm>
          <a:prstGeom prst="rect">
            <a:avLst/>
          </a:prstGeom>
        </p:spPr>
      </p:pic>
    </p:spTree>
    <p:extLst>
      <p:ext uri="{BB962C8B-B14F-4D97-AF65-F5344CB8AC3E}">
        <p14:creationId xmlns:p14="http://schemas.microsoft.com/office/powerpoint/2010/main" val="239497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idor de número de diapositiva 3">
            <a:extLst>
              <a:ext uri="{FF2B5EF4-FFF2-40B4-BE49-F238E27FC236}">
                <a16:creationId xmlns:a16="http://schemas.microsoft.com/office/drawing/2014/main" id="{1F9CAE36-AD3C-1F9E-7A19-7390C42863E1}"/>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B2DC25EE-239B-4C5F-AAD1-255A7D5F1EE2}" type="slidenum">
              <a:rPr lang="en-US" smtClean="0">
                <a:solidFill>
                  <a:schemeClr val="tx2">
                    <a:lumMod val="50000"/>
                    <a:lumOff val="50000"/>
                  </a:schemeClr>
                </a:solidFill>
              </a:rPr>
              <a:pPr>
                <a:spcAft>
                  <a:spcPts val="600"/>
                </a:spcAft>
              </a:pPr>
              <a:t>8</a:t>
            </a:fld>
            <a:endParaRPr lang="en-US">
              <a:solidFill>
                <a:schemeClr val="tx2">
                  <a:lumMod val="50000"/>
                  <a:lumOff val="50000"/>
                </a:schemeClr>
              </a:solidFill>
            </a:endParaRPr>
          </a:p>
        </p:txBody>
      </p:sp>
      <p:sp>
        <p:nvSpPr>
          <p:cNvPr id="5" name="Títol 1">
            <a:extLst>
              <a:ext uri="{FF2B5EF4-FFF2-40B4-BE49-F238E27FC236}">
                <a16:creationId xmlns:a16="http://schemas.microsoft.com/office/drawing/2014/main" id="{FE8DA617-596E-221C-8672-E98EA4C2B373}"/>
              </a:ext>
            </a:extLst>
          </p:cNvPr>
          <p:cNvSpPr txBox="1">
            <a:spLocks/>
          </p:cNvSpPr>
          <p:nvPr/>
        </p:nvSpPr>
        <p:spPr>
          <a:xfrm>
            <a:off x="1248918" y="3507740"/>
            <a:ext cx="10168128" cy="117957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endParaRPr lang="ca-ES"/>
          </a:p>
        </p:txBody>
      </p:sp>
      <p:sp>
        <p:nvSpPr>
          <p:cNvPr id="2" name="Título 1">
            <a:extLst>
              <a:ext uri="{FF2B5EF4-FFF2-40B4-BE49-F238E27FC236}">
                <a16:creationId xmlns:a16="http://schemas.microsoft.com/office/drawing/2014/main" id="{BC534D16-F300-182A-9F39-A66E3E28171C}"/>
              </a:ext>
            </a:extLst>
          </p:cNvPr>
          <p:cNvSpPr txBox="1">
            <a:spLocks/>
          </p:cNvSpPr>
          <p:nvPr/>
        </p:nvSpPr>
        <p:spPr>
          <a:xfrm>
            <a:off x="578652" y="1129240"/>
            <a:ext cx="4023360" cy="320413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ca-ES" sz="4800"/>
              <a:t>Diagrama Cas d’Ús final</a:t>
            </a:r>
          </a:p>
        </p:txBody>
      </p:sp>
      <p:pic>
        <p:nvPicPr>
          <p:cNvPr id="9" name="Imagen 8">
            <a:extLst>
              <a:ext uri="{FF2B5EF4-FFF2-40B4-BE49-F238E27FC236}">
                <a16:creationId xmlns:a16="http://schemas.microsoft.com/office/drawing/2014/main" id="{B21F797C-531F-9DED-7C55-E46122648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3055" y="190500"/>
            <a:ext cx="4645364" cy="6477000"/>
          </a:xfrm>
          <a:prstGeom prst="rect">
            <a:avLst/>
          </a:prstGeom>
        </p:spPr>
      </p:pic>
    </p:spTree>
    <p:extLst>
      <p:ext uri="{BB962C8B-B14F-4D97-AF65-F5344CB8AC3E}">
        <p14:creationId xmlns:p14="http://schemas.microsoft.com/office/powerpoint/2010/main" val="1471083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6F7C92-AEA8-0281-5512-44C34BA7D8B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BA37690-9E91-BF10-561C-51546C06FF03}"/>
              </a:ext>
            </a:extLst>
          </p:cNvPr>
          <p:cNvSpPr>
            <a:spLocks noGrp="1"/>
          </p:cNvSpPr>
          <p:nvPr>
            <p:ph type="sldNum" sz="quarter" idx="12"/>
          </p:nvPr>
        </p:nvSpPr>
        <p:spPr/>
        <p:txBody>
          <a:bodyPr/>
          <a:lstStyle/>
          <a:p>
            <a:fld id="{B2DC25EE-239B-4C5F-AAD1-255A7D5F1EE2}" type="slidenum">
              <a:rPr lang="en-US" smtClean="0"/>
              <a:t>9</a:t>
            </a:fld>
            <a:endParaRPr lang="en-US"/>
          </a:p>
        </p:txBody>
      </p:sp>
      <p:graphicFrame>
        <p:nvGraphicFramePr>
          <p:cNvPr id="3" name="Tabla 2">
            <a:extLst>
              <a:ext uri="{FF2B5EF4-FFF2-40B4-BE49-F238E27FC236}">
                <a16:creationId xmlns:a16="http://schemas.microsoft.com/office/drawing/2014/main" id="{F66756A0-92BA-CBF1-994A-8A68BDF550AD}"/>
              </a:ext>
            </a:extLst>
          </p:cNvPr>
          <p:cNvGraphicFramePr>
            <a:graphicFrameLocks noGrp="1"/>
          </p:cNvGraphicFramePr>
          <p:nvPr>
            <p:extLst>
              <p:ext uri="{D42A27DB-BD31-4B8C-83A1-F6EECF244321}">
                <p14:modId xmlns:p14="http://schemas.microsoft.com/office/powerpoint/2010/main" val="3123815732"/>
              </p:ext>
            </p:extLst>
          </p:nvPr>
        </p:nvGraphicFramePr>
        <p:xfrm>
          <a:off x="2134738" y="2336305"/>
          <a:ext cx="7922524" cy="408686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Iniciar sessió</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rPr>
                        <a:t>Enric, Blay, Maria i Neus</a:t>
                      </a:r>
                      <a:endParaRPr lang="ca-ES" sz="8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Permet a un usuari registrat introduir les seves credencials per accedir a totes les funcionalitats i dades segons el seu perfil.</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latin typeface="+mn-lt"/>
                          <a:ea typeface="Times New Roman" panose="02020603050405020304" pitchFamily="18" charset="0"/>
                        </a:rPr>
                        <a:t>Usuari No registrat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 L'usuari ja ha de tenir un compte creat prèviament.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rPr>
                        <a:t>L'usuari prem el botó Iniciar sessió.</a:t>
                      </a:r>
                    </a:p>
                    <a:p>
                      <a:pPr marL="342900" lvl="0" indent="-342900" algn="just">
                        <a:buFont typeface="+mj-lt"/>
                        <a:buAutoNum type="arabicPeriod"/>
                        <a:tabLst>
                          <a:tab pos="225425" algn="l"/>
                        </a:tabLst>
                      </a:pPr>
                      <a:r>
                        <a:rPr lang="ca-ES" sz="1100">
                          <a:effectLst/>
                        </a:rPr>
                        <a:t>El sistema mostra la pantalla de </a:t>
                      </a:r>
                      <a:r>
                        <a:rPr lang="ca-ES" sz="1100" err="1">
                          <a:effectLst/>
                        </a:rPr>
                        <a:t>login</a:t>
                      </a:r>
                      <a:r>
                        <a:rPr lang="ca-ES" sz="1100">
                          <a:effectLst/>
                        </a:rPr>
                        <a:t> demanant correu electrònic i contrasenya.</a:t>
                      </a:r>
                    </a:p>
                    <a:p>
                      <a:pPr marL="342900" lvl="0" indent="-342900" algn="just">
                        <a:buFont typeface="+mj-lt"/>
                        <a:buAutoNum type="arabicPeriod"/>
                        <a:tabLst>
                          <a:tab pos="225425" algn="l"/>
                        </a:tabLst>
                      </a:pPr>
                      <a:r>
                        <a:rPr lang="ca-ES" sz="1100">
                          <a:effectLst/>
                        </a:rPr>
                        <a:t>L'usuari introdueix les seves credencials i prem el botó d'accés.</a:t>
                      </a:r>
                    </a:p>
                    <a:p>
                      <a:pPr marL="342900" lvl="0" indent="-342900" algn="just">
                        <a:buFont typeface="+mj-lt"/>
                        <a:buAutoNum type="arabicPeriod"/>
                        <a:tabLst>
                          <a:tab pos="225425" algn="l"/>
                        </a:tabLst>
                      </a:pPr>
                      <a:r>
                        <a:rPr lang="ca-ES" sz="1100">
                          <a:effectLst/>
                        </a:rPr>
                        <a:t>El sistema valida la informació contra la base de dades.</a:t>
                      </a:r>
                    </a:p>
                    <a:p>
                      <a:pPr marL="342900" lvl="0" indent="-342900" algn="just">
                        <a:buFont typeface="+mj-lt"/>
                        <a:buAutoNum type="arabicPeriod"/>
                        <a:tabLst>
                          <a:tab pos="225425" algn="l"/>
                        </a:tabLst>
                      </a:pPr>
                      <a:r>
                        <a:rPr lang="ca-ES" sz="1100">
                          <a:effectLst/>
                        </a:rPr>
                        <a:t>El sistema inicia la sessió i redirigeix l'usuari a la pantalla d'inici corresponent al seu rol (Client, Cuiner o Repartidor).</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 ---</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spcBef>
                          <a:spcPts val="500"/>
                        </a:spcBef>
                        <a:spcAft>
                          <a:spcPts val="500"/>
                        </a:spcAft>
                        <a:buNone/>
                      </a:pPr>
                      <a:r>
                        <a:rPr lang="ca-ES" sz="1100" u="sng">
                          <a:effectLst/>
                        </a:rPr>
                        <a:t>Nom d’usuari / </a:t>
                      </a:r>
                      <a:r>
                        <a:rPr lang="ca-ES" sz="1100" u="sng" err="1">
                          <a:effectLst/>
                        </a:rPr>
                        <a:t>password</a:t>
                      </a:r>
                      <a:r>
                        <a:rPr lang="ca-ES" sz="1100" u="sng">
                          <a:effectLst/>
                        </a:rPr>
                        <a:t> incorrectes</a:t>
                      </a:r>
                      <a:endParaRPr lang="ca-ES" sz="1200">
                        <a:effectLst/>
                      </a:endParaRPr>
                    </a:p>
                    <a:p>
                      <a:pPr algn="just">
                        <a:buNone/>
                      </a:pPr>
                      <a:r>
                        <a:rPr lang="ca-ES" sz="1100">
                          <a:effectLst/>
                        </a:rPr>
                        <a:t>Si la identificació d’usuari és incorrecta, es mostra un missatge d’error demanant a l’usuari que torni a entrar les dades o cancel·li l’operació. En aquest últim cas, el cas d’ús acaba.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 L'usuari queda correctament autenticat dins l'aplicació amb el seu rol actiu.</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màxim de 5 mil·lisegons.</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RNF-01-02: Garantir la seguretat i confidencialitat de tota la informació dels usuaris.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 Necessari per poder utilitzar totes les funcionalitats de la aplicació</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DB2092B7-571D-B87E-B8EA-C58BE3AD65F2}"/>
              </a:ext>
            </a:extLst>
          </p:cNvPr>
          <p:cNvSpPr>
            <a:spLocks noGrp="1"/>
          </p:cNvSpPr>
          <p:nvPr>
            <p:ph type="title"/>
          </p:nvPr>
        </p:nvSpPr>
        <p:spPr>
          <a:xfrm>
            <a:off x="805602" y="641629"/>
            <a:ext cx="10168128" cy="1179576"/>
          </a:xfrm>
        </p:spPr>
        <p:txBody>
          <a:bodyPr/>
          <a:lstStyle/>
          <a:p>
            <a:r>
              <a:rPr lang="ca-ES"/>
              <a:t>Especificacions Usuari No Registrat</a:t>
            </a:r>
          </a:p>
        </p:txBody>
      </p:sp>
    </p:spTree>
    <p:extLst>
      <p:ext uri="{BB962C8B-B14F-4D97-AF65-F5344CB8AC3E}">
        <p14:creationId xmlns:p14="http://schemas.microsoft.com/office/powerpoint/2010/main" val="3931395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8C570-A68C-84DC-E857-B384FB48BA5D}"/>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863C6A2-E5A5-5FE1-CD47-138F58F95C5C}"/>
              </a:ext>
            </a:extLst>
          </p:cNvPr>
          <p:cNvSpPr>
            <a:spLocks noGrp="1"/>
          </p:cNvSpPr>
          <p:nvPr>
            <p:ph type="sldNum" sz="quarter" idx="12"/>
          </p:nvPr>
        </p:nvSpPr>
        <p:spPr/>
        <p:txBody>
          <a:bodyPr/>
          <a:lstStyle/>
          <a:p>
            <a:fld id="{B2DC25EE-239B-4C5F-AAD1-255A7D5F1EE2}" type="slidenum">
              <a:rPr lang="en-US" smtClean="0"/>
              <a:t>10</a:t>
            </a:fld>
            <a:endParaRPr lang="en-US"/>
          </a:p>
        </p:txBody>
      </p:sp>
      <p:graphicFrame>
        <p:nvGraphicFramePr>
          <p:cNvPr id="3" name="Tabla 2">
            <a:extLst>
              <a:ext uri="{FF2B5EF4-FFF2-40B4-BE49-F238E27FC236}">
                <a16:creationId xmlns:a16="http://schemas.microsoft.com/office/drawing/2014/main" id="{2C5EA192-297A-F8FC-9FB3-80DF8C8C6E98}"/>
              </a:ext>
            </a:extLst>
          </p:cNvPr>
          <p:cNvGraphicFramePr>
            <a:graphicFrameLocks noGrp="1"/>
          </p:cNvGraphicFramePr>
          <p:nvPr>
            <p:extLst>
              <p:ext uri="{D42A27DB-BD31-4B8C-83A1-F6EECF244321}">
                <p14:modId xmlns:p14="http://schemas.microsoft.com/office/powerpoint/2010/main" val="876736654"/>
              </p:ext>
            </p:extLst>
          </p:nvPr>
        </p:nvGraphicFramePr>
        <p:xfrm>
          <a:off x="2134738" y="2336305"/>
          <a:ext cx="7922524" cy="391922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Registrar-se</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rPr>
                        <a:t>Enric, Blay, Maria i Neus</a:t>
                      </a:r>
                      <a:endParaRPr lang="ca-ES" sz="8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El sistema ha de permetre el registre d'usuaris nous mitjançant un compte de correu electrònic i contrasenya o mitjançant comptes de </a:t>
                      </a:r>
                      <a:r>
                        <a:rPr lang="ca-ES" sz="1100" err="1">
                          <a:effectLst/>
                        </a:rPr>
                        <a:t>Gmail</a:t>
                      </a:r>
                      <a:r>
                        <a:rPr lang="ca-ES" sz="1100">
                          <a:effectLst/>
                        </a:rPr>
                        <a:t> i Outlook (accés ràpid).</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latin typeface="+mn-lt"/>
                          <a:ea typeface="Times New Roman" panose="02020603050405020304" pitchFamily="18" charset="0"/>
                        </a:rPr>
                        <a:t>Usuari No registrat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L'usuari no ha d'estar autenticat.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rPr>
                        <a:t>L'usuari prem el botó de registre.</a:t>
                      </a:r>
                    </a:p>
                    <a:p>
                      <a:pPr marL="342900" lvl="0" indent="-342900" algn="just">
                        <a:buFont typeface="+mj-lt"/>
                        <a:buAutoNum type="arabicPeriod"/>
                        <a:tabLst>
                          <a:tab pos="225425" algn="l"/>
                        </a:tabLst>
                      </a:pPr>
                      <a:r>
                        <a:rPr lang="ca-ES" sz="1100">
                          <a:effectLst/>
                        </a:rPr>
                        <a:t>L'usuari introdueix un compte de correu electrònic i contrasenya o utilitza un compte de </a:t>
                      </a:r>
                      <a:r>
                        <a:rPr lang="ca-ES" sz="1100" err="1">
                          <a:effectLst/>
                        </a:rPr>
                        <a:t>Gmail</a:t>
                      </a:r>
                      <a:r>
                        <a:rPr lang="ca-ES" sz="1100">
                          <a:effectLst/>
                        </a:rPr>
                        <a:t> o Outlook (accés ràpid).</a:t>
                      </a:r>
                    </a:p>
                    <a:p>
                      <a:pPr marL="342900" lvl="0" indent="-342900" algn="just">
                        <a:buFont typeface="+mj-lt"/>
                        <a:buAutoNum type="arabicPeriod"/>
                        <a:tabLst>
                          <a:tab pos="225425" algn="l"/>
                        </a:tabLst>
                      </a:pPr>
                      <a:r>
                        <a:rPr lang="ca-ES" sz="1100">
                          <a:effectLst/>
                        </a:rPr>
                        <a:t>Durant el registre s'especifica obligatòriament el tipus de compte (client/cuiner/repartidor).</a:t>
                      </a:r>
                    </a:p>
                    <a:p>
                      <a:pPr marL="342900" lvl="0" indent="-342900" algn="just">
                        <a:buFont typeface="+mj-lt"/>
                        <a:buAutoNum type="arabicPeriod"/>
                        <a:tabLst>
                          <a:tab pos="225425" algn="l"/>
                        </a:tabLst>
                      </a:pPr>
                      <a:r>
                        <a:rPr lang="ca-ES" sz="1100">
                          <a:effectLst/>
                        </a:rPr>
                        <a:t>El sistema valida l’usuari i el </a:t>
                      </a:r>
                      <a:r>
                        <a:rPr lang="ca-ES" sz="1100" err="1">
                          <a:effectLst/>
                        </a:rPr>
                        <a:t>mail</a:t>
                      </a:r>
                      <a:r>
                        <a:rPr lang="ca-ES" sz="1100">
                          <a:effectLst/>
                        </a:rPr>
                        <a:t> i crea el compte d'usuari nou.</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 ---</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spcBef>
                          <a:spcPts val="500"/>
                        </a:spcBef>
                        <a:spcAft>
                          <a:spcPts val="500"/>
                        </a:spcAft>
                        <a:buNone/>
                      </a:pPr>
                      <a:r>
                        <a:rPr lang="ca-ES" sz="1100" u="sng">
                          <a:effectLst/>
                        </a:rPr>
                        <a:t>Nom d’usuari/</a:t>
                      </a:r>
                      <a:r>
                        <a:rPr lang="ca-ES" sz="1100" u="sng" err="1">
                          <a:effectLst/>
                        </a:rPr>
                        <a:t>mail</a:t>
                      </a:r>
                      <a:r>
                        <a:rPr lang="ca-ES" sz="1100" u="sng">
                          <a:effectLst/>
                        </a:rPr>
                        <a:t> amb un compte ja associada.</a:t>
                      </a:r>
                      <a:endParaRPr lang="ca-ES" sz="1200">
                        <a:effectLst/>
                      </a:endParaRPr>
                    </a:p>
                    <a:p>
                      <a:pPr algn="just">
                        <a:buNone/>
                      </a:pPr>
                      <a:r>
                        <a:rPr lang="ca-ES" sz="1100">
                          <a:effectLst/>
                        </a:rPr>
                        <a:t>Si l’usuari ja existeix, s’haurà de notificar que ja hi ha un compte/usuari existent.</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Creació del nou compte amb el rol especificat (client/cuiner/repartidor).</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RNF-01-02: Les contrasenyes s'emmagatzemen sempre xifrades i mai en text pla.</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màxim de 5 </a:t>
                      </a:r>
                      <a:r>
                        <a:rPr lang="ca-ES" sz="1100" err="1">
                          <a:effectLst/>
                        </a:rPr>
                        <a:t>mil·lisegons</a:t>
                      </a:r>
                      <a:r>
                        <a:rPr lang="ca-ES" sz="1100">
                          <a:effectLst/>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ca-ES" sz="1100">
                        <a:effectLst/>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 Necessari per poder utilitzar totes les funcionalitats de la aplicació</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C2EB7975-4AAE-CD06-67E3-6E0643E3344E}"/>
              </a:ext>
            </a:extLst>
          </p:cNvPr>
          <p:cNvSpPr>
            <a:spLocks noGrp="1"/>
          </p:cNvSpPr>
          <p:nvPr>
            <p:ph type="title"/>
          </p:nvPr>
        </p:nvSpPr>
        <p:spPr>
          <a:xfrm>
            <a:off x="805602" y="641629"/>
            <a:ext cx="10168128" cy="1179576"/>
          </a:xfrm>
        </p:spPr>
        <p:txBody>
          <a:bodyPr/>
          <a:lstStyle/>
          <a:p>
            <a:r>
              <a:rPr lang="ca-ES"/>
              <a:t>Especificacions Usuari No Registrat</a:t>
            </a:r>
          </a:p>
        </p:txBody>
      </p:sp>
    </p:spTree>
    <p:extLst>
      <p:ext uri="{BB962C8B-B14F-4D97-AF65-F5344CB8AC3E}">
        <p14:creationId xmlns:p14="http://schemas.microsoft.com/office/powerpoint/2010/main" val="2718327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D2C1B2-236B-E2E3-D225-44F07CF5CC7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45A6B3EB-74B0-6845-0541-B70F2E309B2C}"/>
              </a:ext>
            </a:extLst>
          </p:cNvPr>
          <p:cNvSpPr>
            <a:spLocks noGrp="1"/>
          </p:cNvSpPr>
          <p:nvPr>
            <p:ph type="sldNum" sz="quarter" idx="12"/>
          </p:nvPr>
        </p:nvSpPr>
        <p:spPr/>
        <p:txBody>
          <a:bodyPr/>
          <a:lstStyle/>
          <a:p>
            <a:fld id="{B2DC25EE-239B-4C5F-AAD1-255A7D5F1EE2}" type="slidenum">
              <a:rPr lang="en-US" smtClean="0"/>
              <a:t>11</a:t>
            </a:fld>
            <a:endParaRPr lang="en-US"/>
          </a:p>
        </p:txBody>
      </p:sp>
      <p:graphicFrame>
        <p:nvGraphicFramePr>
          <p:cNvPr id="3" name="Tabla 2">
            <a:extLst>
              <a:ext uri="{FF2B5EF4-FFF2-40B4-BE49-F238E27FC236}">
                <a16:creationId xmlns:a16="http://schemas.microsoft.com/office/drawing/2014/main" id="{90533F66-A28E-FD7B-7165-3F9BDF250419}"/>
              </a:ext>
            </a:extLst>
          </p:cNvPr>
          <p:cNvGraphicFramePr>
            <a:graphicFrameLocks noGrp="1"/>
          </p:cNvGraphicFramePr>
          <p:nvPr>
            <p:extLst>
              <p:ext uri="{D42A27DB-BD31-4B8C-83A1-F6EECF244321}">
                <p14:modId xmlns:p14="http://schemas.microsoft.com/office/powerpoint/2010/main" val="61246389"/>
              </p:ext>
            </p:extLst>
          </p:nvPr>
        </p:nvGraphicFramePr>
        <p:xfrm>
          <a:off x="2134738" y="2336305"/>
          <a:ext cx="7922524" cy="335280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Consultar menús i plats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rPr>
                        <a:t>Enric, Blay, Maria i Neus</a:t>
                      </a:r>
                      <a:endParaRPr lang="ca-ES" sz="8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El sistema ha de permetre als usuaris no registrats consultar els menús i plats disponibles sense necessitat d'iniciar sessió.</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latin typeface="+mn-lt"/>
                          <a:ea typeface="Times New Roman" panose="02020603050405020304" pitchFamily="18" charset="0"/>
                        </a:rPr>
                        <a:t>Usuari No registrat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rPr>
                        <a:t>L'usuari sol·licita la consulta de menús i plats.</a:t>
                      </a:r>
                    </a:p>
                    <a:p>
                      <a:pPr marL="342900" lvl="0" indent="-342900" algn="just">
                        <a:buFont typeface="+mj-lt"/>
                        <a:buAutoNum type="arabicPeriod"/>
                        <a:tabLst>
                          <a:tab pos="225425" algn="l"/>
                        </a:tabLst>
                      </a:pPr>
                      <a:r>
                        <a:rPr lang="ca-ES" sz="1100">
                          <a:effectLst/>
                        </a:rPr>
                        <a:t>El sistema ofereix els següents apartats: llistat de plats i menús individuals, i llistat de cuiners que ofereixen servei.</a:t>
                      </a:r>
                    </a:p>
                    <a:p>
                      <a:pPr marL="342900" lvl="0" indent="-342900" algn="just">
                        <a:buFont typeface="+mj-lt"/>
                        <a:buAutoNum type="arabicPeriod"/>
                        <a:tabLst>
                          <a:tab pos="225425" algn="l"/>
                        </a:tabLst>
                      </a:pPr>
                      <a:r>
                        <a:rPr lang="ca-ES" sz="1100">
                          <a:effectLst/>
                        </a:rPr>
                        <a:t>Les opcions mostrades s'ordenen per distància física entre el client i el cuiner, de menor a major.</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 ---</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lgn="l">
                        <a:spcBef>
                          <a:spcPts val="500"/>
                        </a:spcBef>
                        <a:spcAft>
                          <a:spcPts val="500"/>
                        </a:spcAft>
                        <a:buNone/>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Mostra les opcions disponibles ordenades.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màxim de 5 </a:t>
                      </a:r>
                      <a:r>
                        <a:rPr lang="ca-ES" sz="1100" err="1">
                          <a:effectLst/>
                        </a:rPr>
                        <a:t>mil·lisegons</a:t>
                      </a:r>
                      <a:r>
                        <a:rPr lang="ca-ES" sz="110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RNF-00-02: Interfície accessible en català, castellà i anglès.</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RNF-00-06: Disseny </a:t>
                      </a:r>
                      <a:r>
                        <a:rPr lang="ca-ES" sz="1100" err="1">
                          <a:effectLst/>
                        </a:rPr>
                        <a:t>responsive</a:t>
                      </a:r>
                      <a:r>
                        <a:rPr lang="ca-ES" sz="1100">
                          <a:effectLst/>
                        </a:rPr>
                        <a:t> adaptat a qualsevol dispositiu.</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latin typeface="+mn-lt"/>
                          <a:ea typeface="Times New Roman" panose="02020603050405020304" pitchFamily="18" charset="0"/>
                        </a:rPr>
                        <a:t>Accés a un número limitat de funcionalitats</a:t>
                      </a:r>
                      <a:endParaRPr lang="ca-ES" sz="1000">
                        <a:effectLst/>
                        <a:latin typeface="+mn-lt"/>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3BDD6490-F29F-C35E-E6A0-2F299F0465E6}"/>
              </a:ext>
            </a:extLst>
          </p:cNvPr>
          <p:cNvSpPr>
            <a:spLocks noGrp="1"/>
          </p:cNvSpPr>
          <p:nvPr>
            <p:ph type="title"/>
          </p:nvPr>
        </p:nvSpPr>
        <p:spPr>
          <a:xfrm>
            <a:off x="805602" y="641629"/>
            <a:ext cx="10168128" cy="1179576"/>
          </a:xfrm>
        </p:spPr>
        <p:txBody>
          <a:bodyPr/>
          <a:lstStyle/>
          <a:p>
            <a:r>
              <a:rPr lang="ca-ES"/>
              <a:t>Especificacions Usuari No Registrat</a:t>
            </a:r>
          </a:p>
        </p:txBody>
      </p:sp>
    </p:spTree>
    <p:extLst>
      <p:ext uri="{BB962C8B-B14F-4D97-AF65-F5344CB8AC3E}">
        <p14:creationId xmlns:p14="http://schemas.microsoft.com/office/powerpoint/2010/main" val="4153519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40C463-5AB5-9429-7F7B-63AC2370D3C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5BB7070-1782-6862-31E2-BFE842D0D920}"/>
              </a:ext>
            </a:extLst>
          </p:cNvPr>
          <p:cNvSpPr>
            <a:spLocks noGrp="1"/>
          </p:cNvSpPr>
          <p:nvPr>
            <p:ph type="sldNum" sz="quarter" idx="12"/>
          </p:nvPr>
        </p:nvSpPr>
        <p:spPr/>
        <p:txBody>
          <a:bodyPr/>
          <a:lstStyle/>
          <a:p>
            <a:fld id="{B2DC25EE-239B-4C5F-AAD1-255A7D5F1EE2}" type="slidenum">
              <a:rPr lang="en-US" smtClean="0"/>
              <a:t>12</a:t>
            </a:fld>
            <a:endParaRPr lang="en-US"/>
          </a:p>
        </p:txBody>
      </p:sp>
      <p:graphicFrame>
        <p:nvGraphicFramePr>
          <p:cNvPr id="3" name="Tabla 2">
            <a:extLst>
              <a:ext uri="{FF2B5EF4-FFF2-40B4-BE49-F238E27FC236}">
                <a16:creationId xmlns:a16="http://schemas.microsoft.com/office/drawing/2014/main" id="{720779B0-B6A5-6D3C-C93E-393B58303068}"/>
              </a:ext>
            </a:extLst>
          </p:cNvPr>
          <p:cNvGraphicFramePr>
            <a:graphicFrameLocks noGrp="1"/>
          </p:cNvGraphicFramePr>
          <p:nvPr>
            <p:extLst>
              <p:ext uri="{D42A27DB-BD31-4B8C-83A1-F6EECF244321}">
                <p14:modId xmlns:p14="http://schemas.microsoft.com/office/powerpoint/2010/main" val="3674224398"/>
              </p:ext>
            </p:extLst>
          </p:nvPr>
        </p:nvGraphicFramePr>
        <p:xfrm>
          <a:off x="2134738" y="2640076"/>
          <a:ext cx="7922524" cy="284988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latin typeface="+mn-lt"/>
                          <a:ea typeface="Times New Roman" panose="02020603050405020304" pitchFamily="18" charset="0"/>
                        </a:rPr>
                        <a:t>Visualitzar comandes d'enviament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El sistema permet al repartidor visualitzar les comandes de menjar disponibles que requereixen servei d'enviament a domicili.</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Repartidor</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 El repartidor ha d'estar autenticat al sistema amb el seu rol actiu.</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repartidor sol·licita la visualització de les comandes d'enviament disponibles.</a:t>
                      </a:r>
                    </a:p>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sistema filtra i mostra la llista de comandes segons la distancia entre el repartidor i el lloc de recollida.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spcBef>
                          <a:spcPts val="500"/>
                        </a:spcBef>
                        <a:spcAft>
                          <a:spcPts val="500"/>
                        </a:spcAft>
                        <a:buNone/>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 Mostra les comandes d'enviament disponibles del sistema.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màxim de 5 </a:t>
                      </a:r>
                      <a:r>
                        <a:rPr lang="ca-ES" sz="1100" err="1">
                          <a:effectLst/>
                        </a:rPr>
                        <a:t>mil·lisegons</a:t>
                      </a:r>
                      <a:r>
                        <a:rPr lang="ca-ES" sz="110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RNF-10-00: Funcionament en dispositius mòbils </a:t>
                      </a:r>
                      <a:r>
                        <a:rPr lang="ca-ES" sz="1100" err="1">
                          <a:effectLst/>
                        </a:rPr>
                        <a:t>Android</a:t>
                      </a:r>
                      <a:r>
                        <a:rPr lang="ca-ES" sz="1100">
                          <a:effectLst/>
                        </a:rPr>
                        <a:t> i iOS.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 ---</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93284185-FB0A-1F8B-FE76-53BD8289AF75}"/>
              </a:ext>
            </a:extLst>
          </p:cNvPr>
          <p:cNvSpPr>
            <a:spLocks noGrp="1"/>
          </p:cNvSpPr>
          <p:nvPr>
            <p:ph type="title"/>
          </p:nvPr>
        </p:nvSpPr>
        <p:spPr>
          <a:xfrm>
            <a:off x="805602" y="641629"/>
            <a:ext cx="10168128" cy="1179576"/>
          </a:xfrm>
        </p:spPr>
        <p:txBody>
          <a:bodyPr/>
          <a:lstStyle/>
          <a:p>
            <a:r>
              <a:rPr lang="ca-ES"/>
              <a:t>Especificacions Repartidor</a:t>
            </a:r>
          </a:p>
        </p:txBody>
      </p:sp>
    </p:spTree>
    <p:extLst>
      <p:ext uri="{BB962C8B-B14F-4D97-AF65-F5344CB8AC3E}">
        <p14:creationId xmlns:p14="http://schemas.microsoft.com/office/powerpoint/2010/main" val="2171748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0315-DA8A-797F-D9C8-19C7D7BB3A6D}"/>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D8B47E-345A-CDD2-EF1C-34680E5B3EB7}"/>
              </a:ext>
            </a:extLst>
          </p:cNvPr>
          <p:cNvSpPr>
            <a:spLocks noGrp="1"/>
          </p:cNvSpPr>
          <p:nvPr>
            <p:ph type="sldNum" sz="quarter" idx="12"/>
          </p:nvPr>
        </p:nvSpPr>
        <p:spPr/>
        <p:txBody>
          <a:bodyPr/>
          <a:lstStyle/>
          <a:p>
            <a:fld id="{B2DC25EE-239B-4C5F-AAD1-255A7D5F1EE2}" type="slidenum">
              <a:rPr lang="en-US" smtClean="0"/>
              <a:t>13</a:t>
            </a:fld>
            <a:endParaRPr lang="en-US"/>
          </a:p>
        </p:txBody>
      </p:sp>
      <p:graphicFrame>
        <p:nvGraphicFramePr>
          <p:cNvPr id="3" name="Tabla 2">
            <a:extLst>
              <a:ext uri="{FF2B5EF4-FFF2-40B4-BE49-F238E27FC236}">
                <a16:creationId xmlns:a16="http://schemas.microsoft.com/office/drawing/2014/main" id="{18D72E56-2991-5D71-D08B-AC6271B8A59C}"/>
              </a:ext>
            </a:extLst>
          </p:cNvPr>
          <p:cNvGraphicFramePr>
            <a:graphicFrameLocks noGrp="1"/>
          </p:cNvGraphicFramePr>
          <p:nvPr>
            <p:extLst>
              <p:ext uri="{D42A27DB-BD31-4B8C-83A1-F6EECF244321}">
                <p14:modId xmlns:p14="http://schemas.microsoft.com/office/powerpoint/2010/main" val="3876878256"/>
              </p:ext>
            </p:extLst>
          </p:nvPr>
        </p:nvGraphicFramePr>
        <p:xfrm>
          <a:off x="2134738" y="2640076"/>
          <a:ext cx="7922524" cy="284988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latin typeface="+mn-lt"/>
                          <a:ea typeface="Times New Roman" panose="02020603050405020304" pitchFamily="18" charset="0"/>
                        </a:rPr>
                        <a:t>Realitzar lliurament de comanda </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El repartidor duu a terme el lliurament de la comanda assignada al destí indicat pel client.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Repartidor</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La comanda ha d'haver estat recollida prèviament pel repartidor.</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repartidor transporta la comanda fins a la destinació.</a:t>
                      </a:r>
                    </a:p>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repartidor confirma el lliurament de la comanda </a:t>
                      </a:r>
                      <a:r>
                        <a:rPr lang="ca-ES" sz="1100" err="1">
                          <a:effectLst/>
                          <a:latin typeface="+mn-lt"/>
                          <a:ea typeface="Times New Roman" panose="02020603050405020304" pitchFamily="18" charset="0"/>
                        </a:rPr>
                        <a:t>desde</a:t>
                      </a:r>
                      <a:r>
                        <a:rPr lang="ca-ES" sz="1100">
                          <a:effectLst/>
                          <a:latin typeface="+mn-lt"/>
                          <a:ea typeface="Times New Roman" panose="02020603050405020304" pitchFamily="18" charset="0"/>
                        </a:rPr>
                        <a:t> l'aplicació per finalitzar el procés d'enviament.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spcBef>
                          <a:spcPts val="500"/>
                        </a:spcBef>
                        <a:spcAft>
                          <a:spcPts val="500"/>
                        </a:spcAft>
                        <a:buNone/>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La comanda es confirma com a lliurada correctament dins del sistema.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màxim de 5 </a:t>
                      </a:r>
                      <a:r>
                        <a:rPr lang="ca-ES" sz="1100" err="1">
                          <a:effectLst/>
                        </a:rPr>
                        <a:t>mil·lisegons</a:t>
                      </a:r>
                      <a:r>
                        <a:rPr lang="ca-ES" sz="110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RNF-10-00: Funcionament en dispositius mòbils </a:t>
                      </a:r>
                      <a:r>
                        <a:rPr lang="ca-ES" sz="1100" err="1">
                          <a:effectLst/>
                        </a:rPr>
                        <a:t>Android</a:t>
                      </a:r>
                      <a:r>
                        <a:rPr lang="ca-ES" sz="1100">
                          <a:effectLst/>
                        </a:rPr>
                        <a:t> i iOS.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Necessari tenir finalitzada la comanda perquè el repartidor pugui cobrar l’enviament.</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37B362E6-EA99-4919-4CF4-D06B2141630A}"/>
              </a:ext>
            </a:extLst>
          </p:cNvPr>
          <p:cNvSpPr>
            <a:spLocks noGrp="1"/>
          </p:cNvSpPr>
          <p:nvPr>
            <p:ph type="title"/>
          </p:nvPr>
        </p:nvSpPr>
        <p:spPr>
          <a:xfrm>
            <a:off x="805602" y="641629"/>
            <a:ext cx="10168128" cy="1179576"/>
          </a:xfrm>
        </p:spPr>
        <p:txBody>
          <a:bodyPr/>
          <a:lstStyle/>
          <a:p>
            <a:r>
              <a:rPr lang="ca-ES"/>
              <a:t>Especificacions Repartidor</a:t>
            </a:r>
          </a:p>
        </p:txBody>
      </p:sp>
    </p:spTree>
    <p:extLst>
      <p:ext uri="{BB962C8B-B14F-4D97-AF65-F5344CB8AC3E}">
        <p14:creationId xmlns:p14="http://schemas.microsoft.com/office/powerpoint/2010/main" val="1598721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BFFBF4-3106-E914-7002-2E2A8E627AE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0C4BC77-E9CC-E3B6-4EAF-E7DE770FC664}"/>
              </a:ext>
            </a:extLst>
          </p:cNvPr>
          <p:cNvSpPr>
            <a:spLocks noGrp="1"/>
          </p:cNvSpPr>
          <p:nvPr>
            <p:ph type="sldNum" sz="quarter" idx="12"/>
          </p:nvPr>
        </p:nvSpPr>
        <p:spPr/>
        <p:txBody>
          <a:bodyPr/>
          <a:lstStyle/>
          <a:p>
            <a:fld id="{B2DC25EE-239B-4C5F-AAD1-255A7D5F1EE2}" type="slidenum">
              <a:rPr lang="en-US" smtClean="0"/>
              <a:t>14</a:t>
            </a:fld>
            <a:endParaRPr lang="en-US"/>
          </a:p>
        </p:txBody>
      </p:sp>
      <p:graphicFrame>
        <p:nvGraphicFramePr>
          <p:cNvPr id="3" name="Tabla 2">
            <a:extLst>
              <a:ext uri="{FF2B5EF4-FFF2-40B4-BE49-F238E27FC236}">
                <a16:creationId xmlns:a16="http://schemas.microsoft.com/office/drawing/2014/main" id="{56C57CEB-46EB-ABAE-16F7-44BD078BEAAA}"/>
              </a:ext>
            </a:extLst>
          </p:cNvPr>
          <p:cNvGraphicFramePr>
            <a:graphicFrameLocks noGrp="1"/>
          </p:cNvGraphicFramePr>
          <p:nvPr>
            <p:extLst>
              <p:ext uri="{D42A27DB-BD31-4B8C-83A1-F6EECF244321}">
                <p14:modId xmlns:p14="http://schemas.microsoft.com/office/powerpoint/2010/main" val="3803873178"/>
              </p:ext>
            </p:extLst>
          </p:nvPr>
        </p:nvGraphicFramePr>
        <p:xfrm>
          <a:off x="2134738" y="2640076"/>
          <a:ext cx="7922524" cy="284988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latin typeface="+mn-lt"/>
                          <a:ea typeface="Times New Roman" panose="02020603050405020304" pitchFamily="18" charset="0"/>
                        </a:rPr>
                        <a:t>Proporcionar ubicació GPS </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El sistema transmet la ubicació geogràfica del repartidor en temps real perquè pugui ser visualitzada pel client.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Repartidor, Mapa.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L'enviament de la comanda ha d'estar actiu i en progrés.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dispositiu mòbil del repartidor envia les coordenades de </a:t>
                      </a:r>
                      <a:r>
                        <a:rPr lang="ca-ES" sz="1100" err="1">
                          <a:effectLst/>
                          <a:latin typeface="+mn-lt"/>
                          <a:ea typeface="Times New Roman" panose="02020603050405020304" pitchFamily="18" charset="0"/>
                        </a:rPr>
                        <a:t>gps</a:t>
                      </a:r>
                      <a:r>
                        <a:rPr lang="ca-ES" sz="1100">
                          <a:effectLst/>
                          <a:latin typeface="+mn-lt"/>
                          <a:ea typeface="Times New Roman" panose="02020603050405020304" pitchFamily="18" charset="0"/>
                        </a:rPr>
                        <a:t>.</a:t>
                      </a:r>
                    </a:p>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sistema vincula les dades amb el mapa interactiu perquè el client pugui visualitzar la ubicació del repartidor en temps real.</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spcBef>
                          <a:spcPts val="500"/>
                        </a:spcBef>
                        <a:spcAft>
                          <a:spcPts val="500"/>
                        </a:spcAft>
                        <a:buNone/>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Ubicació del repartidor actualitzada i visible al mapa interactiu dins de l’aplicació..</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màxim de 5 </a:t>
                      </a:r>
                      <a:r>
                        <a:rPr lang="ca-ES" sz="1100" err="1">
                          <a:effectLst/>
                        </a:rPr>
                        <a:t>mil·lisegons</a:t>
                      </a:r>
                      <a:r>
                        <a:rPr lang="ca-ES" sz="110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RNF-03-00: El càlcul de distància es realitza mitjançant la distància </a:t>
                      </a:r>
                      <a:r>
                        <a:rPr lang="ca-ES" sz="1100" err="1">
                          <a:effectLst/>
                        </a:rPr>
                        <a:t>Manhattan</a:t>
                      </a:r>
                      <a:r>
                        <a:rPr lang="ca-ES" sz="1100">
                          <a:effectLst/>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latin typeface="+mn-lt"/>
                          <a:ea typeface="Times New Roman" panose="02020603050405020304" pitchFamily="18" charset="0"/>
                        </a:rPr>
                        <a:t>Mitjana</a:t>
                      </a:r>
                      <a:endParaRPr lang="ca-ES" sz="1000">
                        <a:effectLst/>
                        <a:latin typeface="+mn-lt"/>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Utilitzarem la API de </a:t>
                      </a:r>
                      <a:r>
                        <a:rPr lang="ca-ES" sz="1100" err="1">
                          <a:effectLst/>
                        </a:rPr>
                        <a:t>Google</a:t>
                      </a:r>
                      <a:r>
                        <a:rPr lang="ca-ES" sz="1100">
                          <a:effectLst/>
                        </a:rPr>
                        <a:t> </a:t>
                      </a:r>
                      <a:r>
                        <a:rPr lang="ca-ES" sz="1100" err="1">
                          <a:effectLst/>
                        </a:rPr>
                        <a:t>Maps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EDA73468-D2DF-7A30-9B89-ED7BD885E6F3}"/>
              </a:ext>
            </a:extLst>
          </p:cNvPr>
          <p:cNvSpPr>
            <a:spLocks noGrp="1"/>
          </p:cNvSpPr>
          <p:nvPr>
            <p:ph type="title"/>
          </p:nvPr>
        </p:nvSpPr>
        <p:spPr>
          <a:xfrm>
            <a:off x="805602" y="641629"/>
            <a:ext cx="10168128" cy="1179576"/>
          </a:xfrm>
        </p:spPr>
        <p:txBody>
          <a:bodyPr/>
          <a:lstStyle/>
          <a:p>
            <a:r>
              <a:rPr lang="ca-ES"/>
              <a:t>Especificacions Repartidor</a:t>
            </a:r>
          </a:p>
        </p:txBody>
      </p:sp>
    </p:spTree>
    <p:extLst>
      <p:ext uri="{BB962C8B-B14F-4D97-AF65-F5344CB8AC3E}">
        <p14:creationId xmlns:p14="http://schemas.microsoft.com/office/powerpoint/2010/main" val="1683552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C84ECC-0901-BC4C-0FCE-501C6FDECA5B}"/>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886BDE4-D081-79C2-82BF-8C9FCD44B787}"/>
              </a:ext>
            </a:extLst>
          </p:cNvPr>
          <p:cNvSpPr>
            <a:spLocks noGrp="1"/>
          </p:cNvSpPr>
          <p:nvPr>
            <p:ph type="sldNum" sz="quarter" idx="12"/>
          </p:nvPr>
        </p:nvSpPr>
        <p:spPr/>
        <p:txBody>
          <a:bodyPr/>
          <a:lstStyle/>
          <a:p>
            <a:fld id="{B2DC25EE-239B-4C5F-AAD1-255A7D5F1EE2}" type="slidenum">
              <a:rPr lang="en-US" smtClean="0"/>
              <a:t>15</a:t>
            </a:fld>
            <a:endParaRPr lang="en-US"/>
          </a:p>
        </p:txBody>
      </p:sp>
      <p:graphicFrame>
        <p:nvGraphicFramePr>
          <p:cNvPr id="3" name="Tabla 2">
            <a:extLst>
              <a:ext uri="{FF2B5EF4-FFF2-40B4-BE49-F238E27FC236}">
                <a16:creationId xmlns:a16="http://schemas.microsoft.com/office/drawing/2014/main" id="{7955DCA9-0C9B-5719-2520-B40241445D03}"/>
              </a:ext>
            </a:extLst>
          </p:cNvPr>
          <p:cNvGraphicFramePr>
            <a:graphicFrameLocks noGrp="1"/>
          </p:cNvGraphicFramePr>
          <p:nvPr>
            <p:extLst>
              <p:ext uri="{D42A27DB-BD31-4B8C-83A1-F6EECF244321}">
                <p14:modId xmlns:p14="http://schemas.microsoft.com/office/powerpoint/2010/main" val="887217116"/>
              </p:ext>
            </p:extLst>
          </p:nvPr>
        </p:nvGraphicFramePr>
        <p:xfrm>
          <a:off x="2134738" y="2640076"/>
          <a:ext cx="7922524" cy="3185160"/>
        </p:xfrm>
        <a:graphic>
          <a:graphicData uri="http://schemas.openxmlformats.org/drawingml/2006/table">
            <a:tbl>
              <a:tblPr firstRow="1">
                <a:tableStyleId>{5C22544A-7EE6-4342-B048-85BDC9FD1C3A}</a:tableStyleId>
              </a:tblPr>
              <a:tblGrid>
                <a:gridCol w="2403154">
                  <a:extLst>
                    <a:ext uri="{9D8B030D-6E8A-4147-A177-3AD203B41FA5}">
                      <a16:colId xmlns:a16="http://schemas.microsoft.com/office/drawing/2014/main" val="645709654"/>
                    </a:ext>
                  </a:extLst>
                </a:gridCol>
                <a:gridCol w="2598375">
                  <a:extLst>
                    <a:ext uri="{9D8B030D-6E8A-4147-A177-3AD203B41FA5}">
                      <a16:colId xmlns:a16="http://schemas.microsoft.com/office/drawing/2014/main" val="842417822"/>
                    </a:ext>
                  </a:extLst>
                </a:gridCol>
                <a:gridCol w="992607">
                  <a:extLst>
                    <a:ext uri="{9D8B030D-6E8A-4147-A177-3AD203B41FA5}">
                      <a16:colId xmlns:a16="http://schemas.microsoft.com/office/drawing/2014/main" val="4136022570"/>
                    </a:ext>
                  </a:extLst>
                </a:gridCol>
                <a:gridCol w="1928388">
                  <a:extLst>
                    <a:ext uri="{9D8B030D-6E8A-4147-A177-3AD203B41FA5}">
                      <a16:colId xmlns:a16="http://schemas.microsoft.com/office/drawing/2014/main" val="1005851753"/>
                    </a:ext>
                  </a:extLst>
                </a:gridCol>
              </a:tblGrid>
              <a:tr h="0">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000">
                          <a:effectLst/>
                          <a:latin typeface="+mn-lt"/>
                          <a:ea typeface="Times New Roman" panose="02020603050405020304" pitchFamily="18" charset="0"/>
                        </a:rPr>
                        <a:t>Rebre ingrés per enviament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0">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0">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0">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just">
                        <a:buNone/>
                      </a:pPr>
                      <a:r>
                        <a:rPr lang="ca-ES" sz="1100">
                          <a:effectLst/>
                        </a:rPr>
                        <a:t>El sistema gestiona l'ingrés automàtic de l'import de l'enviament al compte del repartidor un cop es confirma el pagament i el procés.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0">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Repartidor, Passarel·la de pagament.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0">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100">
                          <a:effectLst/>
                        </a:rPr>
                        <a:t>El pagament de la comanda ha d'estar realitzat i el lliurament de la comanda confirmada.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0">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sistema valida la finalització correcta de la comanda.</a:t>
                      </a:r>
                    </a:p>
                    <a:p>
                      <a:pPr marL="342900" lvl="0" indent="-342900" algn="just">
                        <a:buFont typeface="+mj-lt"/>
                        <a:buAutoNum type="arabicPeriod"/>
                        <a:tabLst>
                          <a:tab pos="225425" algn="l"/>
                        </a:tabLst>
                      </a:pPr>
                      <a:r>
                        <a:rPr lang="ca-ES" sz="1100">
                          <a:effectLst/>
                          <a:latin typeface="+mn-lt"/>
                          <a:ea typeface="Times New Roman" panose="02020603050405020304" pitchFamily="18" charset="0"/>
                        </a:rPr>
                        <a:t>El sistema ingressa automàticament l'import corresponent de l'enviament al compte bancari del repartidor mitjançant la passarel·la.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0">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0">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a:spcBef>
                          <a:spcPts val="500"/>
                        </a:spcBef>
                        <a:spcAft>
                          <a:spcPts val="500"/>
                        </a:spcAft>
                        <a:buNone/>
                      </a:pPr>
                      <a:r>
                        <a:rPr lang="ca-ES" sz="1000">
                          <a:effectLst/>
                          <a:latin typeface="Times New Roman" panose="02020603050405020304" pitchFamily="18" charset="0"/>
                          <a:ea typeface="Times New Roman" panose="02020603050405020304" pitchFamily="18" charset="0"/>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0">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a-ES" sz="1100">
                          <a:effectLst/>
                        </a:rPr>
                        <a:t>L'import de l'enviament queda transferit correctament al compte del repartidor.</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0">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RNF-04-00: Connexió obligatòria amb la passarel·la de pagament externa (banc o </a:t>
                      </a:r>
                      <a:r>
                        <a:rPr lang="ca-ES" sz="1100" err="1">
                          <a:effectLst/>
                        </a:rPr>
                        <a:t>PayPal</a:t>
                      </a:r>
                      <a:r>
                        <a:rPr lang="ca-ES" sz="110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ca-ES" sz="1100">
                          <a:effectLst/>
                        </a:rPr>
                        <a:t>RNF-09-01: Temps de resposta de la petició mòbil de 5 </a:t>
                      </a:r>
                      <a:r>
                        <a:rPr lang="ca-ES" sz="1100" err="1">
                          <a:effectLst/>
                        </a:rPr>
                        <a:t>mil·lisegons</a:t>
                      </a:r>
                      <a:r>
                        <a:rPr lang="ca-ES" sz="1100">
                          <a:effectLst/>
                        </a:rPr>
                        <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52070">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0">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 ---</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2" name="Título 1">
            <a:extLst>
              <a:ext uri="{FF2B5EF4-FFF2-40B4-BE49-F238E27FC236}">
                <a16:creationId xmlns:a16="http://schemas.microsoft.com/office/drawing/2014/main" id="{00E0614D-5B28-08FF-E90E-CEBF8ECF3266}"/>
              </a:ext>
            </a:extLst>
          </p:cNvPr>
          <p:cNvSpPr>
            <a:spLocks noGrp="1"/>
          </p:cNvSpPr>
          <p:nvPr>
            <p:ph type="title"/>
          </p:nvPr>
        </p:nvSpPr>
        <p:spPr>
          <a:xfrm>
            <a:off x="805602" y="641629"/>
            <a:ext cx="10168128" cy="1179576"/>
          </a:xfrm>
        </p:spPr>
        <p:txBody>
          <a:bodyPr/>
          <a:lstStyle/>
          <a:p>
            <a:r>
              <a:rPr lang="ca-ES"/>
              <a:t>Especificacions Repartidor</a:t>
            </a:r>
          </a:p>
        </p:txBody>
      </p:sp>
    </p:spTree>
    <p:extLst>
      <p:ext uri="{BB962C8B-B14F-4D97-AF65-F5344CB8AC3E}">
        <p14:creationId xmlns:p14="http://schemas.microsoft.com/office/powerpoint/2010/main" val="809135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BFBFFE-38B2-5DC2-FD43-AB8F42463F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E1A278-4883-DFC7-6397-6728755D65EF}"/>
              </a:ext>
            </a:extLst>
          </p:cNvPr>
          <p:cNvSpPr>
            <a:spLocks noGrp="1"/>
          </p:cNvSpPr>
          <p:nvPr>
            <p:ph type="title"/>
          </p:nvPr>
        </p:nvSpPr>
        <p:spPr/>
        <p:txBody>
          <a:bodyPr>
            <a:normAutofit/>
          </a:bodyPr>
          <a:lstStyle/>
          <a:p>
            <a:r>
              <a:rPr lang="ca-ES"/>
              <a:t>Especificacions Cuiner</a:t>
            </a:r>
          </a:p>
        </p:txBody>
      </p:sp>
      <p:sp>
        <p:nvSpPr>
          <p:cNvPr id="4" name="Marcador de número de diapositiva 3">
            <a:extLst>
              <a:ext uri="{FF2B5EF4-FFF2-40B4-BE49-F238E27FC236}">
                <a16:creationId xmlns:a16="http://schemas.microsoft.com/office/drawing/2014/main" id="{0D4EF381-0F2C-4D76-6984-25D6CD478994}"/>
              </a:ext>
            </a:extLst>
          </p:cNvPr>
          <p:cNvSpPr>
            <a:spLocks noGrp="1"/>
          </p:cNvSpPr>
          <p:nvPr>
            <p:ph type="sldNum" sz="quarter" idx="12"/>
          </p:nvPr>
        </p:nvSpPr>
        <p:spPr/>
        <p:txBody>
          <a:bodyPr/>
          <a:lstStyle/>
          <a:p>
            <a:fld id="{B2DC25EE-239B-4C5F-AAD1-255A7D5F1EE2}" type="slidenum">
              <a:rPr lang="en-US" smtClean="0"/>
              <a:t>16</a:t>
            </a:fld>
            <a:endParaRPr lang="en-US"/>
          </a:p>
        </p:txBody>
      </p:sp>
      <p:graphicFrame>
        <p:nvGraphicFramePr>
          <p:cNvPr id="3" name="Tabla 2">
            <a:extLst>
              <a:ext uri="{FF2B5EF4-FFF2-40B4-BE49-F238E27FC236}">
                <a16:creationId xmlns:a16="http://schemas.microsoft.com/office/drawing/2014/main" id="{2879AE15-1396-D8BD-3F72-9F329AEAEE4A}"/>
              </a:ext>
            </a:extLst>
          </p:cNvPr>
          <p:cNvGraphicFramePr>
            <a:graphicFrameLocks noGrp="1"/>
          </p:cNvGraphicFramePr>
          <p:nvPr>
            <p:extLst>
              <p:ext uri="{D42A27DB-BD31-4B8C-83A1-F6EECF244321}">
                <p14:modId xmlns:p14="http://schemas.microsoft.com/office/powerpoint/2010/main" val="2999384258"/>
              </p:ext>
            </p:extLst>
          </p:nvPr>
        </p:nvGraphicFramePr>
        <p:xfrm>
          <a:off x="1823770" y="2147343"/>
          <a:ext cx="8746609" cy="4040550"/>
        </p:xfrm>
        <a:graphic>
          <a:graphicData uri="http://schemas.openxmlformats.org/drawingml/2006/table">
            <a:tbl>
              <a:tblPr firstRow="1">
                <a:tableStyleId>{5C22544A-7EE6-4342-B048-85BDC9FD1C3A}</a:tableStyleId>
              </a:tblPr>
              <a:tblGrid>
                <a:gridCol w="2653125">
                  <a:extLst>
                    <a:ext uri="{9D8B030D-6E8A-4147-A177-3AD203B41FA5}">
                      <a16:colId xmlns:a16="http://schemas.microsoft.com/office/drawing/2014/main" val="645709654"/>
                    </a:ext>
                  </a:extLst>
                </a:gridCol>
                <a:gridCol w="2868653">
                  <a:extLst>
                    <a:ext uri="{9D8B030D-6E8A-4147-A177-3AD203B41FA5}">
                      <a16:colId xmlns:a16="http://schemas.microsoft.com/office/drawing/2014/main" val="842417822"/>
                    </a:ext>
                  </a:extLst>
                </a:gridCol>
                <a:gridCol w="1095856">
                  <a:extLst>
                    <a:ext uri="{9D8B030D-6E8A-4147-A177-3AD203B41FA5}">
                      <a16:colId xmlns:a16="http://schemas.microsoft.com/office/drawing/2014/main" val="4136022570"/>
                    </a:ext>
                  </a:extLst>
                </a:gridCol>
                <a:gridCol w="2128975">
                  <a:extLst>
                    <a:ext uri="{9D8B030D-6E8A-4147-A177-3AD203B41FA5}">
                      <a16:colId xmlns:a16="http://schemas.microsoft.com/office/drawing/2014/main" val="1005851753"/>
                    </a:ext>
                  </a:extLst>
                </a:gridCol>
              </a:tblGrid>
              <a:tr h="186123">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lvl="0" indent="0" algn="l">
                        <a:lnSpc>
                          <a:spcPct val="100000"/>
                        </a:lnSpc>
                        <a:buNone/>
                      </a:pPr>
                      <a:r>
                        <a:rPr lang="ca-ES" sz="1100" b="1" i="0" u="none" strike="noStrike" baseline="0" noProof="0">
                          <a:solidFill>
                            <a:srgbClr val="FFFFFF"/>
                          </a:solidFill>
                          <a:effectLst/>
                          <a:latin typeface="Neue Haas Grotesk Text Pro"/>
                        </a:rPr>
                        <a:t>Indicar disponibilitat del servei</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86123">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2.0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186123">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72247">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cuiner indica si està disponible per acceptar comandes ara o, si no ho està, a partir de quina hora ho estarà. Aquesta informació es reflecteix al llistat de cuiners visibles pels clients i permet reserves futures.</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86123">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Primari: Cuiner. Secundari: Client (consulta indirecta del llistat).</a:t>
                      </a:r>
                      <a:endParaRPr lang="ca-ES" sz="1100">
                        <a:effectLst/>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186123">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cs typeface="Times New Roman"/>
                        </a:rPr>
                        <a:t>El cuiner té compte registrat amb rol cuiner i sessió iniciada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918211">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lvl="0" indent="-228600" algn="l">
                        <a:buAutoNum type="arabicPeriod"/>
                      </a:pPr>
                      <a:r>
                        <a:rPr lang="ca-ES" sz="1100">
                          <a:effectLst/>
                        </a:rPr>
                        <a:t>El cuiner accedeix a la configuració de disponibilitat.</a:t>
                      </a:r>
                    </a:p>
                    <a:p>
                      <a:pPr marL="228600" lvl="0" indent="-228600" algn="l">
                        <a:buAutoNum type="arabicPeriod"/>
                      </a:pPr>
                      <a:r>
                        <a:rPr lang="ca-ES" sz="1100">
                          <a:effectLst/>
                        </a:rPr>
                        <a:t>Indica si està disponible o no.</a:t>
                      </a:r>
                    </a:p>
                    <a:p>
                      <a:pPr marL="228600" lvl="0" indent="-228600" algn="l">
                        <a:buAutoNum type="arabicPeriod"/>
                      </a:pPr>
                      <a:r>
                        <a:rPr lang="ca-ES" sz="1100">
                          <a:effectLst/>
                        </a:rPr>
                        <a:t>Si no està disponible, introdueix l’hora a partir de la qual acceptarà comandes.</a:t>
                      </a:r>
                      <a:endParaRPr lang="ca-ES"/>
                    </a:p>
                    <a:p>
                      <a:pPr marL="228600" lvl="0" indent="-228600" algn="l">
                        <a:buAutoNum type="arabicPeriod"/>
                      </a:pPr>
                      <a:r>
                        <a:rPr lang="ca-ES" sz="1100">
                          <a:effectLst/>
                        </a:rPr>
                        <a:t>El sistema desa l’estat i l’hora.</a:t>
                      </a:r>
                    </a:p>
                    <a:p>
                      <a:pPr marL="228600" lvl="0" indent="-228600" algn="l">
                        <a:buAutoNum type="arabicPeriod"/>
                      </a:pPr>
                      <a:r>
                        <a:rPr lang="ca-ES" sz="1100">
                          <a:effectLst/>
                        </a:rPr>
                        <a:t>El sistema actualitza la visibilitat del cuiner al llistat (disponible / no disponible amb hora prevista).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372247">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SF-01 — Marcar-se com a disponible: el cuiner canvia l’estat a disponible; el sistema el mostra al llistat de cuiners actius (RF-02-02).</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SF-02 — Reserva futura (perspectiva client): un client pot reservar comanda per a l’hora en què el cuiner haurà de tornar a estar disponible (RF-02-05).</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186123">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lvl="0" algn="l">
                        <a:spcBef>
                          <a:spcPts val="500"/>
                        </a:spcBef>
                        <a:spcAft>
                          <a:spcPts val="500"/>
                        </a:spcAft>
                        <a:buNone/>
                      </a:pPr>
                      <a:endParaRPr lang="ca-ES" sz="1100" u="sng">
                        <a:effectLst/>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86123">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50" b="0" i="0" u="none" strike="noStrike" baseline="0" noProof="0">
                          <a:solidFill>
                            <a:srgbClr val="000000"/>
                          </a:solidFill>
                          <a:effectLst/>
                          <a:latin typeface="Neue Haas Grotesk Text Pro"/>
                        </a:rPr>
                        <a:t>L’estat de disponibilitat del cuiner queda actualitzat al sistema i és consultable pels clients.</a:t>
                      </a:r>
                      <a:endParaRPr lang="ca-ES" sz="1050"/>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86123">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00" b="0" i="0" u="none" strike="noStrike" baseline="0" noProof="0">
                          <a:solidFill>
                            <a:srgbClr val="000000"/>
                          </a:solidFill>
                          <a:effectLst/>
                          <a:latin typeface="Neue Haas Grotesk Text Pro"/>
                          <a:cs typeface="Times New Roman"/>
                        </a:rPr>
                        <a:t>RNF-00-00 (interfície consistent), RNF-01-02 (dades en trànsit per HTTPS).</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86123">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86123">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Tree>
    <p:extLst>
      <p:ext uri="{BB962C8B-B14F-4D97-AF65-F5344CB8AC3E}">
        <p14:creationId xmlns:p14="http://schemas.microsoft.com/office/powerpoint/2010/main" val="2088865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04BE1C-80FB-6A39-17ED-9EC92F345CF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5B2C955-7A6D-BE44-E9F7-8855A682C1F7}"/>
              </a:ext>
            </a:extLst>
          </p:cNvPr>
          <p:cNvSpPr>
            <a:spLocks noGrp="1"/>
          </p:cNvSpPr>
          <p:nvPr>
            <p:ph type="sldNum" sz="quarter" idx="12"/>
          </p:nvPr>
        </p:nvSpPr>
        <p:spPr/>
        <p:txBody>
          <a:bodyPr/>
          <a:lstStyle/>
          <a:p>
            <a:fld id="{B2DC25EE-239B-4C5F-AAD1-255A7D5F1EE2}" type="slidenum">
              <a:rPr lang="en-US" smtClean="0"/>
              <a:t>17</a:t>
            </a:fld>
            <a:endParaRPr lang="en-US"/>
          </a:p>
        </p:txBody>
      </p:sp>
      <p:graphicFrame>
        <p:nvGraphicFramePr>
          <p:cNvPr id="5" name="Tabla 2">
            <a:extLst>
              <a:ext uri="{FF2B5EF4-FFF2-40B4-BE49-F238E27FC236}">
                <a16:creationId xmlns:a16="http://schemas.microsoft.com/office/drawing/2014/main" id="{3196965D-0719-D6EE-8201-9D4C8DCCC47D}"/>
              </a:ext>
            </a:extLst>
          </p:cNvPr>
          <p:cNvGraphicFramePr>
            <a:graphicFrameLocks noGrp="1"/>
          </p:cNvGraphicFramePr>
          <p:nvPr>
            <p:extLst>
              <p:ext uri="{D42A27DB-BD31-4B8C-83A1-F6EECF244321}">
                <p14:modId xmlns:p14="http://schemas.microsoft.com/office/powerpoint/2010/main" val="2689493814"/>
              </p:ext>
            </p:extLst>
          </p:nvPr>
        </p:nvGraphicFramePr>
        <p:xfrm>
          <a:off x="1813332" y="2142124"/>
          <a:ext cx="8746609" cy="4561954"/>
        </p:xfrm>
        <a:graphic>
          <a:graphicData uri="http://schemas.openxmlformats.org/drawingml/2006/table">
            <a:tbl>
              <a:tblPr firstRow="1">
                <a:tableStyleId>{5C22544A-7EE6-4342-B048-85BDC9FD1C3A}</a:tableStyleId>
              </a:tblPr>
              <a:tblGrid>
                <a:gridCol w="2653125">
                  <a:extLst>
                    <a:ext uri="{9D8B030D-6E8A-4147-A177-3AD203B41FA5}">
                      <a16:colId xmlns:a16="http://schemas.microsoft.com/office/drawing/2014/main" val="645709654"/>
                    </a:ext>
                  </a:extLst>
                </a:gridCol>
                <a:gridCol w="2868653">
                  <a:extLst>
                    <a:ext uri="{9D8B030D-6E8A-4147-A177-3AD203B41FA5}">
                      <a16:colId xmlns:a16="http://schemas.microsoft.com/office/drawing/2014/main" val="842417822"/>
                    </a:ext>
                  </a:extLst>
                </a:gridCol>
                <a:gridCol w="1095856">
                  <a:extLst>
                    <a:ext uri="{9D8B030D-6E8A-4147-A177-3AD203B41FA5}">
                      <a16:colId xmlns:a16="http://schemas.microsoft.com/office/drawing/2014/main" val="4136022570"/>
                    </a:ext>
                  </a:extLst>
                </a:gridCol>
                <a:gridCol w="2128975">
                  <a:extLst>
                    <a:ext uri="{9D8B030D-6E8A-4147-A177-3AD203B41FA5}">
                      <a16:colId xmlns:a16="http://schemas.microsoft.com/office/drawing/2014/main" val="1005851753"/>
                    </a:ext>
                  </a:extLst>
                </a:gridCol>
              </a:tblGrid>
              <a:tr h="186123">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lvl="0" indent="0" algn="l">
                        <a:lnSpc>
                          <a:spcPct val="100000"/>
                        </a:lnSpc>
                        <a:buNone/>
                      </a:pPr>
                      <a:r>
                        <a:rPr lang="ca-ES" sz="1100" b="1" i="0" u="none" strike="noStrike" baseline="0" noProof="0">
                          <a:solidFill>
                            <a:srgbClr val="FFFFFF"/>
                          </a:solidFill>
                          <a:effectLst/>
                          <a:latin typeface="Neue Haas Grotesk Text Pro"/>
                        </a:rPr>
                        <a:t>Definir opcions disponibles de recollida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86123">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2.0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186123">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72247">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cuiner configura quines modalitats de recollida/lliurament ofereix per a les seves comandes: repartidor, desplaçament del cuiner o recollida del client al domicili/establiment.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86123">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Primari: Cuiner. Secundari: Client (escull entre opcions habilitades en fer la comanda).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186123">
                <a:tc>
                  <a:txBody>
                    <a:bodyPr/>
                    <a:lstStyle/>
                    <a:p>
                      <a:pPr algn="r">
                        <a:buNone/>
                      </a:pPr>
                      <a:r>
                        <a:rPr lang="ca-ES" sz="1100" b="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cs typeface="Times New Roman"/>
                        </a:rPr>
                        <a:t>Cuiner autenticat amb perfil actiu.</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918211">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lvl="0" indent="-228600" algn="l">
                        <a:buAutoNum type="arabicPeriod"/>
                      </a:pPr>
                      <a:r>
                        <a:rPr lang="ca-ES" sz="1100">
                          <a:effectLst/>
                        </a:rPr>
                        <a:t>El cuiner accedeix a la configuració de recollida.</a:t>
                      </a:r>
                    </a:p>
                    <a:p>
                      <a:pPr marL="228600" lvl="0" indent="-228600" algn="l">
                        <a:buAutoNum type="arabicPeriod"/>
                      </a:pPr>
                      <a:r>
                        <a:rPr lang="ca-ES" sz="1100">
                          <a:effectLst/>
                        </a:rPr>
                        <a:t>El sistema mostra les tres opcions possibles: repartidor, cuiner, client al establiment (RF-03-00).</a:t>
                      </a:r>
                    </a:p>
                    <a:p>
                      <a:pPr marL="228600" lvl="0" indent="-228600" algn="l">
                        <a:buAutoNum type="arabicPeriod"/>
                      </a:pPr>
                      <a:r>
                        <a:rPr lang="ca-ES" sz="1100">
                          <a:effectLst/>
                        </a:rPr>
                        <a:t>El cuiner activa o desactiva cada opció.</a:t>
                      </a:r>
                      <a:endParaRPr lang="ca-ES"/>
                    </a:p>
                    <a:p>
                      <a:pPr marL="228600" lvl="0" indent="-228600" algn="l">
                        <a:buAutoNum type="arabicPeriod"/>
                      </a:pPr>
                      <a:r>
                        <a:rPr lang="ca-ES" sz="1100">
                          <a:effectLst/>
                        </a:rPr>
                        <a:t>El sistema desa la configuració.</a:t>
                      </a:r>
                      <a:endParaRPr lang="ca-ES"/>
                    </a:p>
                    <a:p>
                      <a:pPr marL="228600" lvl="0" indent="-228600" algn="l">
                        <a:buAutoNum type="arabicPeriod"/>
                      </a:pPr>
                      <a:r>
                        <a:rPr lang="ca-ES" sz="1100">
                          <a:effectLst/>
                        </a:rPr>
                        <a:t>En futures comandes, només es mostren al client les opcions habilitades per aquell cuiner.</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372247">
                <a:tc>
                  <a:txBody>
                    <a:bodyPr/>
                    <a:lstStyle/>
                    <a:p>
                      <a:pPr algn="r">
                        <a:buNone/>
                      </a:pPr>
                      <a:r>
                        <a:rPr lang="ca-ES" sz="1100" b="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SF-01 — Càlcul de cost d’enviament: si s’activa repartidor/cuiner, el cost depèn de la distància (RF-03-01); recollida al domicili del cuiner → enviament gratuït.</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SF-02 — Seguiment: si hi ha repartidor/cuiner en ruta, el client pot seguir la posició al mapa (RF-03-02, RNF-03-01).</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186123">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lvl="0" algn="l">
                        <a:spcBef>
                          <a:spcPts val="500"/>
                        </a:spcBef>
                        <a:spcAft>
                          <a:spcPts val="500"/>
                        </a:spcAft>
                        <a:buNone/>
                      </a:pPr>
                      <a:r>
                        <a:rPr lang="ca-ES" sz="1100" b="0" i="0" u="none" strike="noStrike" baseline="0" noProof="0">
                          <a:solidFill>
                            <a:srgbClr val="000000"/>
                          </a:solidFill>
                          <a:effectLst/>
                          <a:latin typeface="Neue Haas Grotesk Text Pro"/>
                        </a:rPr>
                        <a:t>FA-01 — Cap opció activa: el sistema avisa que cal seleccionar almenys una opció abans de desar.</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FA-02 — Client sense localització: no es pot mostrar/calcular distància sense coordenades del client (RNF-03-01).</a:t>
                      </a:r>
                      <a:endParaRPr lang="ca-ES" u="none"/>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86123">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50" b="0" i="0" u="none" strike="noStrike" baseline="0" noProof="0">
                          <a:solidFill>
                            <a:srgbClr val="000000"/>
                          </a:solidFill>
                          <a:effectLst/>
                          <a:latin typeface="Neue Haas Grotesk Text Pro"/>
                        </a:rPr>
                        <a:t>Les opcions de recollida del cuiner queden definides i aplicades a les comandes futures.</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86123">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00" b="0" i="0" u="none" strike="noStrike" baseline="0" noProof="0">
                          <a:solidFill>
                            <a:srgbClr val="000000"/>
                          </a:solidFill>
                          <a:effectLst/>
                          <a:latin typeface="Neue Haas Grotesk Text Pro"/>
                          <a:cs typeface="Times New Roman"/>
                        </a:rPr>
                        <a:t>RNF-03-00 (distància Manhattan), RNF-03-01 (Google Maps per mapa i coordenades).</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86123">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86123">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
        <p:nvSpPr>
          <p:cNvPr id="7" name="Título 1">
            <a:extLst>
              <a:ext uri="{FF2B5EF4-FFF2-40B4-BE49-F238E27FC236}">
                <a16:creationId xmlns:a16="http://schemas.microsoft.com/office/drawing/2014/main" id="{EDFECADE-F66D-CA6D-844E-BA2AEF57070F}"/>
              </a:ext>
            </a:extLst>
          </p:cNvPr>
          <p:cNvSpPr>
            <a:spLocks noGrp="1"/>
          </p:cNvSpPr>
          <p:nvPr>
            <p:ph type="title"/>
          </p:nvPr>
        </p:nvSpPr>
        <p:spPr>
          <a:xfrm>
            <a:off x="1115568" y="548640"/>
            <a:ext cx="10168128" cy="1179576"/>
          </a:xfrm>
        </p:spPr>
        <p:txBody>
          <a:bodyPr>
            <a:normAutofit/>
          </a:bodyPr>
          <a:lstStyle/>
          <a:p>
            <a:r>
              <a:rPr lang="ca-ES"/>
              <a:t>Especificacions Cuiner</a:t>
            </a:r>
          </a:p>
        </p:txBody>
      </p:sp>
    </p:spTree>
    <p:extLst>
      <p:ext uri="{BB962C8B-B14F-4D97-AF65-F5344CB8AC3E}">
        <p14:creationId xmlns:p14="http://schemas.microsoft.com/office/powerpoint/2010/main" val="2657912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EF3B68-0368-B7CB-4643-0FDF8B2F459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12D4E7F-1E0F-432B-9685-979447609D9B}"/>
              </a:ext>
            </a:extLst>
          </p:cNvPr>
          <p:cNvSpPr>
            <a:spLocks noGrp="1"/>
          </p:cNvSpPr>
          <p:nvPr>
            <p:ph type="sldNum" sz="quarter" idx="12"/>
          </p:nvPr>
        </p:nvSpPr>
        <p:spPr/>
        <p:txBody>
          <a:bodyPr/>
          <a:lstStyle/>
          <a:p>
            <a:fld id="{B2DC25EE-239B-4C5F-AAD1-255A7D5F1EE2}" type="slidenum">
              <a:rPr lang="en-US" smtClean="0"/>
              <a:t>18</a:t>
            </a:fld>
            <a:endParaRPr lang="en-US"/>
          </a:p>
        </p:txBody>
      </p:sp>
      <p:sp>
        <p:nvSpPr>
          <p:cNvPr id="5" name="Título 1">
            <a:extLst>
              <a:ext uri="{FF2B5EF4-FFF2-40B4-BE49-F238E27FC236}">
                <a16:creationId xmlns:a16="http://schemas.microsoft.com/office/drawing/2014/main" id="{02C2AC9A-5D5B-1243-64BC-454680E69AC4}"/>
              </a:ext>
            </a:extLst>
          </p:cNvPr>
          <p:cNvSpPr>
            <a:spLocks noGrp="1"/>
          </p:cNvSpPr>
          <p:nvPr>
            <p:ph type="title"/>
          </p:nvPr>
        </p:nvSpPr>
        <p:spPr>
          <a:xfrm>
            <a:off x="1115568" y="548640"/>
            <a:ext cx="10168128" cy="1179576"/>
          </a:xfrm>
        </p:spPr>
        <p:txBody>
          <a:bodyPr>
            <a:normAutofit/>
          </a:bodyPr>
          <a:lstStyle/>
          <a:p>
            <a:r>
              <a:rPr lang="ca-ES"/>
              <a:t>Especificacions Cuiner</a:t>
            </a:r>
          </a:p>
        </p:txBody>
      </p:sp>
      <p:graphicFrame>
        <p:nvGraphicFramePr>
          <p:cNvPr id="7" name="Tabla 2">
            <a:extLst>
              <a:ext uri="{FF2B5EF4-FFF2-40B4-BE49-F238E27FC236}">
                <a16:creationId xmlns:a16="http://schemas.microsoft.com/office/drawing/2014/main" id="{10B89BC0-03D2-04D2-FCF6-1E247EC3C6A8}"/>
              </a:ext>
            </a:extLst>
          </p:cNvPr>
          <p:cNvGraphicFramePr>
            <a:graphicFrameLocks noGrp="1"/>
          </p:cNvGraphicFramePr>
          <p:nvPr>
            <p:extLst>
              <p:ext uri="{D42A27DB-BD31-4B8C-83A1-F6EECF244321}">
                <p14:modId xmlns:p14="http://schemas.microsoft.com/office/powerpoint/2010/main" val="1051713159"/>
              </p:ext>
            </p:extLst>
          </p:nvPr>
        </p:nvGraphicFramePr>
        <p:xfrm>
          <a:off x="1813332" y="2142124"/>
          <a:ext cx="8746609" cy="3989889"/>
        </p:xfrm>
        <a:graphic>
          <a:graphicData uri="http://schemas.openxmlformats.org/drawingml/2006/table">
            <a:tbl>
              <a:tblPr firstRow="1">
                <a:tableStyleId>{5C22544A-7EE6-4342-B048-85BDC9FD1C3A}</a:tableStyleId>
              </a:tblPr>
              <a:tblGrid>
                <a:gridCol w="2653125">
                  <a:extLst>
                    <a:ext uri="{9D8B030D-6E8A-4147-A177-3AD203B41FA5}">
                      <a16:colId xmlns:a16="http://schemas.microsoft.com/office/drawing/2014/main" val="645709654"/>
                    </a:ext>
                  </a:extLst>
                </a:gridCol>
                <a:gridCol w="2868653">
                  <a:extLst>
                    <a:ext uri="{9D8B030D-6E8A-4147-A177-3AD203B41FA5}">
                      <a16:colId xmlns:a16="http://schemas.microsoft.com/office/drawing/2014/main" val="842417822"/>
                    </a:ext>
                  </a:extLst>
                </a:gridCol>
                <a:gridCol w="1095856">
                  <a:extLst>
                    <a:ext uri="{9D8B030D-6E8A-4147-A177-3AD203B41FA5}">
                      <a16:colId xmlns:a16="http://schemas.microsoft.com/office/drawing/2014/main" val="4136022570"/>
                    </a:ext>
                  </a:extLst>
                </a:gridCol>
                <a:gridCol w="2128975">
                  <a:extLst>
                    <a:ext uri="{9D8B030D-6E8A-4147-A177-3AD203B41FA5}">
                      <a16:colId xmlns:a16="http://schemas.microsoft.com/office/drawing/2014/main" val="1005851753"/>
                    </a:ext>
                  </a:extLst>
                </a:gridCol>
              </a:tblGrid>
              <a:tr h="186123">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lvl="0" indent="0" algn="l">
                        <a:lnSpc>
                          <a:spcPct val="100000"/>
                        </a:lnSpc>
                        <a:buNone/>
                      </a:pPr>
                      <a:r>
                        <a:rPr lang="ca-ES" sz="1100" b="1" i="0" u="none" strike="noStrike" baseline="0" noProof="0">
                          <a:solidFill>
                            <a:srgbClr val="FFFFFF"/>
                          </a:solidFill>
                          <a:effectLst/>
                          <a:latin typeface="Neue Haas Grotesk Text Pro"/>
                        </a:rPr>
                        <a:t>Veure propostes de plats dels clients</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86123">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2.0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186123">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72247">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cuiner consulta un menú exclusiu amb les propostes de plats personalitzats que els clients han enviat (plat nou o recepta existent amb ingredients opcionals eliminats).</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86123">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Primari: Cuiner. Secundari: Client (autor de la proposta).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186123">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cs typeface="Times New Roman"/>
                        </a:rPr>
                        <a:t>Cuiner autenticat. Existeix almenys una proposta pendent dirigida a cuiners (o visible al llistat global de propostes).</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918211">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lvl="0" indent="-228600" algn="l">
                        <a:buAutoNum type="arabicPeriod"/>
                      </a:pPr>
                      <a:r>
                        <a:rPr lang="ca-ES" sz="1100">
                          <a:effectLst/>
                        </a:rPr>
                        <a:t>El cuiner accedeix al menú de propostes de plats (RF-07-03).</a:t>
                      </a:r>
                    </a:p>
                    <a:p>
                      <a:pPr marL="228600" lvl="0" indent="-228600" algn="l">
                        <a:buAutoNum type="arabicPeriod"/>
                      </a:pPr>
                      <a:r>
                        <a:rPr lang="ca-ES" sz="1100">
                          <a:effectLst/>
                        </a:rPr>
                        <a:t>El sistema mostra el llistat de propostes amb detall (descripció, modificacions, client, estat).</a:t>
                      </a:r>
                    </a:p>
                    <a:p>
                      <a:pPr marL="228600" lvl="0" indent="-228600" algn="l">
                        <a:buAutoNum type="arabicPeriod"/>
                      </a:pPr>
                      <a:r>
                        <a:rPr lang="ca-ES" sz="1100">
                          <a:effectLst/>
                        </a:rPr>
                        <a:t>El cuiner selecciona una proposta per veure’n el detall.</a:t>
                      </a:r>
                      <a:endParaRPr lang="ca-ES"/>
                    </a:p>
                    <a:p>
                      <a:pPr marL="228600" lvl="0" indent="-228600" algn="l">
                        <a:buAutoNum type="arabicPeriod"/>
                      </a:pPr>
                      <a:r>
                        <a:rPr lang="ca-ES" sz="1100">
                          <a:effectLst/>
                        </a:rPr>
                        <a:t>El sistema mostra la informació completa de la proposta.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372247">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SF-01 — Proposta amb recepta modificada: es mostren només ingredients opcionals eliminats, sense alterar la recepta original del cuiner (RF-07-01, RNF-02-00).</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186123">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lvl="0" algn="l">
                        <a:spcBef>
                          <a:spcPts val="500"/>
                        </a:spcBef>
                        <a:spcAft>
                          <a:spcPts val="500"/>
                        </a:spcAft>
                        <a:buNone/>
                      </a:pPr>
                      <a:r>
                        <a:rPr lang="ca-ES" sz="1100" b="0" i="0" u="none" strike="noStrike" baseline="0" noProof="0">
                          <a:solidFill>
                            <a:srgbClr val="000000"/>
                          </a:solidFill>
                          <a:effectLst/>
                          <a:latin typeface="Neue Haas Grotesk Text Pro"/>
                        </a:rPr>
                        <a:t>FA-01 — Llistat buit: el sistema informa que no hi ha propostes pendents.</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FA-02 — Accés no autoritzat: un usuari que no és cuiner no pot accedir a aquest menú (RF-07-03).</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86123">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50" b="0" i="0" u="none" strike="noStrike" baseline="0" noProof="0">
                          <a:solidFill>
                            <a:srgbClr val="000000"/>
                          </a:solidFill>
                          <a:effectLst/>
                          <a:latin typeface="Neue Haas Grotesk Text Pro"/>
                        </a:rPr>
                        <a:t>El cuiner ha consultat les propostes; cap canvi d’estat obligatori.</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86123">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00" b="0" i="0" u="none" strike="noStrike" baseline="0" noProof="0">
                          <a:solidFill>
                            <a:srgbClr val="000000"/>
                          </a:solidFill>
                          <a:effectLst/>
                          <a:latin typeface="Neue Haas Grotesk Text Pro"/>
                          <a:cs typeface="Times New Roman"/>
                        </a:rPr>
                        <a:t>RNF-02-00 (registre de modificacions per comanda), RNF-01-02 (dades sensibles del client).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86123">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a:effectLst/>
                        </a:rPr>
                        <a:t>Mitjana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86123">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Tree>
    <p:extLst>
      <p:ext uri="{BB962C8B-B14F-4D97-AF65-F5344CB8AC3E}">
        <p14:creationId xmlns:p14="http://schemas.microsoft.com/office/powerpoint/2010/main" val="1871410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404C809-4AD0-6910-6D62-2BBB33C307B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4E5EC52C-5155-388D-D312-68AA0AF4AA41}"/>
              </a:ext>
            </a:extLst>
          </p:cNvPr>
          <p:cNvSpPr>
            <a:spLocks noGrp="1"/>
          </p:cNvSpPr>
          <p:nvPr>
            <p:ph type="sldNum" sz="quarter" idx="12"/>
          </p:nvPr>
        </p:nvSpPr>
        <p:spPr/>
        <p:txBody>
          <a:bodyPr/>
          <a:lstStyle/>
          <a:p>
            <a:fld id="{B2DC25EE-239B-4C5F-AAD1-255A7D5F1EE2}" type="slidenum">
              <a:rPr lang="en-US" smtClean="0"/>
              <a:t>19</a:t>
            </a:fld>
            <a:endParaRPr lang="en-US"/>
          </a:p>
        </p:txBody>
      </p:sp>
      <p:sp>
        <p:nvSpPr>
          <p:cNvPr id="5" name="Título 1">
            <a:extLst>
              <a:ext uri="{FF2B5EF4-FFF2-40B4-BE49-F238E27FC236}">
                <a16:creationId xmlns:a16="http://schemas.microsoft.com/office/drawing/2014/main" id="{349531E6-A8D3-2421-2A2B-F67B0DB9BED6}"/>
              </a:ext>
            </a:extLst>
          </p:cNvPr>
          <p:cNvSpPr>
            <a:spLocks noGrp="1"/>
          </p:cNvSpPr>
          <p:nvPr>
            <p:ph type="title"/>
          </p:nvPr>
        </p:nvSpPr>
        <p:spPr>
          <a:xfrm>
            <a:off x="1115568" y="548640"/>
            <a:ext cx="10168128" cy="1179576"/>
          </a:xfrm>
        </p:spPr>
        <p:txBody>
          <a:bodyPr>
            <a:normAutofit/>
          </a:bodyPr>
          <a:lstStyle/>
          <a:p>
            <a:r>
              <a:rPr lang="ca-ES"/>
              <a:t>Especificacions Cuiner</a:t>
            </a:r>
          </a:p>
        </p:txBody>
      </p:sp>
      <p:graphicFrame>
        <p:nvGraphicFramePr>
          <p:cNvPr id="7" name="Tabla 2">
            <a:extLst>
              <a:ext uri="{FF2B5EF4-FFF2-40B4-BE49-F238E27FC236}">
                <a16:creationId xmlns:a16="http://schemas.microsoft.com/office/drawing/2014/main" id="{BD270104-8FB6-9574-5D65-8803540F1856}"/>
              </a:ext>
            </a:extLst>
          </p:cNvPr>
          <p:cNvGraphicFramePr>
            <a:graphicFrameLocks noGrp="1"/>
          </p:cNvGraphicFramePr>
          <p:nvPr>
            <p:extLst>
              <p:ext uri="{D42A27DB-BD31-4B8C-83A1-F6EECF244321}">
                <p14:modId xmlns:p14="http://schemas.microsoft.com/office/powerpoint/2010/main" val="954997010"/>
              </p:ext>
            </p:extLst>
          </p:nvPr>
        </p:nvGraphicFramePr>
        <p:xfrm>
          <a:off x="1813332" y="2142124"/>
          <a:ext cx="8746609" cy="4626726"/>
        </p:xfrm>
        <a:graphic>
          <a:graphicData uri="http://schemas.openxmlformats.org/drawingml/2006/table">
            <a:tbl>
              <a:tblPr firstRow="1">
                <a:tableStyleId>{5C22544A-7EE6-4342-B048-85BDC9FD1C3A}</a:tableStyleId>
              </a:tblPr>
              <a:tblGrid>
                <a:gridCol w="2653125">
                  <a:extLst>
                    <a:ext uri="{9D8B030D-6E8A-4147-A177-3AD203B41FA5}">
                      <a16:colId xmlns:a16="http://schemas.microsoft.com/office/drawing/2014/main" val="645709654"/>
                    </a:ext>
                  </a:extLst>
                </a:gridCol>
                <a:gridCol w="2868653">
                  <a:extLst>
                    <a:ext uri="{9D8B030D-6E8A-4147-A177-3AD203B41FA5}">
                      <a16:colId xmlns:a16="http://schemas.microsoft.com/office/drawing/2014/main" val="842417822"/>
                    </a:ext>
                  </a:extLst>
                </a:gridCol>
                <a:gridCol w="1095856">
                  <a:extLst>
                    <a:ext uri="{9D8B030D-6E8A-4147-A177-3AD203B41FA5}">
                      <a16:colId xmlns:a16="http://schemas.microsoft.com/office/drawing/2014/main" val="4136022570"/>
                    </a:ext>
                  </a:extLst>
                </a:gridCol>
                <a:gridCol w="2128975">
                  <a:extLst>
                    <a:ext uri="{9D8B030D-6E8A-4147-A177-3AD203B41FA5}">
                      <a16:colId xmlns:a16="http://schemas.microsoft.com/office/drawing/2014/main" val="1005851753"/>
                    </a:ext>
                  </a:extLst>
                </a:gridCol>
              </a:tblGrid>
              <a:tr h="186123">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lvl="0" indent="0" algn="l">
                        <a:lnSpc>
                          <a:spcPct val="100000"/>
                        </a:lnSpc>
                        <a:buNone/>
                      </a:pPr>
                      <a:r>
                        <a:rPr lang="ca-ES" sz="1100" b="1" i="0" u="none" strike="noStrike" baseline="0" noProof="0">
                          <a:solidFill>
                            <a:srgbClr val="FFFFFF"/>
                          </a:solidFill>
                          <a:effectLst/>
                          <a:latin typeface="Neue Haas Grotesk Text Pro"/>
                        </a:rPr>
                        <a:t>Acceptar una proposta de plat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86123">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2.0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186123">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72247">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cuiner accepta una proposta de plat d’un client, vinculant-la al seu servei i habilitant els passos posteriors (xat, comanda, pagament).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86123">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Primari: Cuiner. Secundari: Client.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186123">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cs typeface="Times New Roman"/>
                        </a:rPr>
                        <a:t>Cuiner autenticat. Proposta en estat pendent (no acceptada ni eliminada pel client, RF-07-02). El cuiner ha visualitzat la proposta.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918211">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lvl="0" indent="-228600" algn="l">
                        <a:buAutoNum type="arabicPeriod"/>
                      </a:pPr>
                      <a:r>
                        <a:rPr lang="ca-ES" sz="1100">
                          <a:effectLst/>
                        </a:rPr>
                        <a:t>Des del menú de propostes, el cuiner selecciona una proposta.</a:t>
                      </a:r>
                      <a:endParaRPr lang="ca-ES"/>
                    </a:p>
                    <a:p>
                      <a:pPr marL="228600" lvl="0" indent="-228600" algn="l">
                        <a:buAutoNum type="arabicPeriod"/>
                      </a:pPr>
                      <a:r>
                        <a:rPr lang="ca-ES" sz="1100">
                          <a:effectLst/>
                        </a:rPr>
                        <a:t>El cuiner confirma l’acceptació.</a:t>
                      </a:r>
                    </a:p>
                    <a:p>
                      <a:pPr marL="228600" lvl="0" indent="-228600" algn="l">
                        <a:buAutoNum type="arabicPeriod"/>
                      </a:pPr>
                      <a:r>
                        <a:rPr lang="ca-ES" sz="1100">
                          <a:effectLst/>
                        </a:rPr>
                        <a:t>El sistema marca la proposta com a acceptada per aquell cuiner.</a:t>
                      </a:r>
                      <a:endParaRPr lang="ca-ES"/>
                    </a:p>
                    <a:p>
                      <a:pPr marL="228600" lvl="0" indent="-228600" algn="l">
                        <a:buAutoNum type="arabicPeriod"/>
                      </a:pPr>
                      <a:r>
                        <a:rPr lang="ca-ES" sz="1100">
                          <a:effectLst/>
                        </a:rPr>
                        <a:t>El sistema impedeix que el client elimini la proposta (RF-07-02).</a:t>
                      </a:r>
                      <a:endParaRPr lang="ca-ES"/>
                    </a:p>
                    <a:p>
                      <a:pPr marL="228600" lvl="0" indent="-228600" algn="l">
                        <a:buAutoNum type="arabicPeriod"/>
                      </a:pPr>
                      <a:r>
                        <a:rPr lang="ca-ES" sz="1100">
                          <a:effectLst/>
                        </a:rPr>
                        <a:t>El sistema habilita la creació del xat privat (RF-07-04) i el flux de comanda associat.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372247">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SF-01 — Inici de xat.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186123">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lvl="0" algn="l">
                        <a:spcBef>
                          <a:spcPts val="500"/>
                        </a:spcBef>
                        <a:spcAft>
                          <a:spcPts val="500"/>
                        </a:spcAft>
                        <a:buNone/>
                      </a:pPr>
                      <a:r>
                        <a:rPr lang="ca-ES" sz="1100" b="0" i="0" u="none" strike="noStrike" baseline="0" noProof="0">
                          <a:solidFill>
                            <a:srgbClr val="000000"/>
                          </a:solidFill>
                          <a:effectLst/>
                          <a:latin typeface="Neue Haas Grotesk Text Pro"/>
                        </a:rPr>
                        <a:t>FA-01 — Proposta ja acceptada: el sistema informa que la proposta ja no està disponible.</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FA-02 — Cuiner no disponible: si el cuiner està marcat com a no disponible fora de la finestra horària, el sistema pot avisar abans d’acceptar (coherència amb RF-02-05).</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FA-03 — Cancel·lar acceptació: el cuiner desisteix; la proposta roman pendent.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86123">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50" b="0" i="0" u="none" strike="noStrike" baseline="0" noProof="0">
                          <a:solidFill>
                            <a:srgbClr val="000000"/>
                          </a:solidFill>
                          <a:effectLst/>
                          <a:latin typeface="Neue Haas Grotesk Text Pro"/>
                        </a:rPr>
                        <a:t>La proposta queda acceptada pel cuiner. Es pot obrir xat amb el client. El client ja no pot eliminar la proposta.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86123">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000" b="0" i="0" u="none" strike="noStrike" baseline="0" noProof="0">
                          <a:solidFill>
                            <a:srgbClr val="000000"/>
                          </a:solidFill>
                          <a:effectLst/>
                          <a:latin typeface="Neue Haas Grotesk Text Pro"/>
                          <a:cs typeface="Times New Roman"/>
                        </a:rPr>
                        <a:t>RNF-01-02, RNF-02-00.</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86123">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a:effectLst/>
                        </a:rPr>
                        <a:t>Alta</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86123">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Tree>
    <p:extLst>
      <p:ext uri="{BB962C8B-B14F-4D97-AF65-F5344CB8AC3E}">
        <p14:creationId xmlns:p14="http://schemas.microsoft.com/office/powerpoint/2010/main" val="907902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976978-CAA2-8881-A4B4-BC515FC5E174}"/>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32B68CB-D8E5-15EF-7839-27761733257C}"/>
              </a:ext>
            </a:extLst>
          </p:cNvPr>
          <p:cNvSpPr>
            <a:spLocks noGrp="1"/>
          </p:cNvSpPr>
          <p:nvPr>
            <p:ph type="sldNum" sz="quarter" idx="12"/>
          </p:nvPr>
        </p:nvSpPr>
        <p:spPr/>
        <p:txBody>
          <a:bodyPr/>
          <a:lstStyle/>
          <a:p>
            <a:fld id="{B2DC25EE-239B-4C5F-AAD1-255A7D5F1EE2}" type="slidenum">
              <a:rPr lang="en-US" smtClean="0"/>
              <a:t>20</a:t>
            </a:fld>
            <a:endParaRPr lang="en-US"/>
          </a:p>
        </p:txBody>
      </p:sp>
      <p:sp>
        <p:nvSpPr>
          <p:cNvPr id="5" name="Título 1">
            <a:extLst>
              <a:ext uri="{FF2B5EF4-FFF2-40B4-BE49-F238E27FC236}">
                <a16:creationId xmlns:a16="http://schemas.microsoft.com/office/drawing/2014/main" id="{FE9C85C0-AE10-15DB-8C47-6A7CFC32E11A}"/>
              </a:ext>
            </a:extLst>
          </p:cNvPr>
          <p:cNvSpPr>
            <a:spLocks noGrp="1"/>
          </p:cNvSpPr>
          <p:nvPr>
            <p:ph type="title"/>
          </p:nvPr>
        </p:nvSpPr>
        <p:spPr>
          <a:xfrm>
            <a:off x="1115568" y="548640"/>
            <a:ext cx="10168128" cy="1179576"/>
          </a:xfrm>
        </p:spPr>
        <p:txBody>
          <a:bodyPr>
            <a:normAutofit/>
          </a:bodyPr>
          <a:lstStyle/>
          <a:p>
            <a:r>
              <a:rPr lang="ca-ES"/>
              <a:t>Especificacions Cuiner</a:t>
            </a:r>
          </a:p>
        </p:txBody>
      </p:sp>
      <p:graphicFrame>
        <p:nvGraphicFramePr>
          <p:cNvPr id="7" name="Tabla 2">
            <a:extLst>
              <a:ext uri="{FF2B5EF4-FFF2-40B4-BE49-F238E27FC236}">
                <a16:creationId xmlns:a16="http://schemas.microsoft.com/office/drawing/2014/main" id="{5A7DAD84-8E34-AE52-04D7-34E1FE73783F}"/>
              </a:ext>
            </a:extLst>
          </p:cNvPr>
          <p:cNvGraphicFramePr>
            <a:graphicFrameLocks noGrp="1"/>
          </p:cNvGraphicFramePr>
          <p:nvPr>
            <p:extLst>
              <p:ext uri="{D42A27DB-BD31-4B8C-83A1-F6EECF244321}">
                <p14:modId xmlns:p14="http://schemas.microsoft.com/office/powerpoint/2010/main" val="4239302430"/>
              </p:ext>
            </p:extLst>
          </p:nvPr>
        </p:nvGraphicFramePr>
        <p:xfrm>
          <a:off x="1813332" y="2142124"/>
          <a:ext cx="8746609" cy="3840732"/>
        </p:xfrm>
        <a:graphic>
          <a:graphicData uri="http://schemas.openxmlformats.org/drawingml/2006/table">
            <a:tbl>
              <a:tblPr firstRow="1">
                <a:tableStyleId>{5C22544A-7EE6-4342-B048-85BDC9FD1C3A}</a:tableStyleId>
              </a:tblPr>
              <a:tblGrid>
                <a:gridCol w="2653125">
                  <a:extLst>
                    <a:ext uri="{9D8B030D-6E8A-4147-A177-3AD203B41FA5}">
                      <a16:colId xmlns:a16="http://schemas.microsoft.com/office/drawing/2014/main" val="645709654"/>
                    </a:ext>
                  </a:extLst>
                </a:gridCol>
                <a:gridCol w="2868653">
                  <a:extLst>
                    <a:ext uri="{9D8B030D-6E8A-4147-A177-3AD203B41FA5}">
                      <a16:colId xmlns:a16="http://schemas.microsoft.com/office/drawing/2014/main" val="842417822"/>
                    </a:ext>
                  </a:extLst>
                </a:gridCol>
                <a:gridCol w="1095856">
                  <a:extLst>
                    <a:ext uri="{9D8B030D-6E8A-4147-A177-3AD203B41FA5}">
                      <a16:colId xmlns:a16="http://schemas.microsoft.com/office/drawing/2014/main" val="4136022570"/>
                    </a:ext>
                  </a:extLst>
                </a:gridCol>
                <a:gridCol w="2128975">
                  <a:extLst>
                    <a:ext uri="{9D8B030D-6E8A-4147-A177-3AD203B41FA5}">
                      <a16:colId xmlns:a16="http://schemas.microsoft.com/office/drawing/2014/main" val="1005851753"/>
                    </a:ext>
                  </a:extLst>
                </a:gridCol>
              </a:tblGrid>
              <a:tr h="186123">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lvl="0" indent="0" algn="l">
                        <a:lnSpc>
                          <a:spcPct val="100000"/>
                        </a:lnSpc>
                        <a:buNone/>
                      </a:pPr>
                      <a:r>
                        <a:rPr lang="ca-ES" sz="1100" b="1" i="0" u="none" strike="noStrike" baseline="0" noProof="0">
                          <a:solidFill>
                            <a:srgbClr val="FFFFFF"/>
                          </a:solidFill>
                          <a:effectLst/>
                          <a:latin typeface="Neue Haas Grotesk Text Pro"/>
                        </a:rPr>
                        <a:t>Parlar amb el client per xat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86123">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2.0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186123">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72247">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Després d’acceptar una proposta, cuiner i client intercanvien missatges en un xat privat per concretar la comanda (ingredients, al·lèrgies, hora, etc.).</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86123">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Primari: Cuiner, Client.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186123">
                <a:tc>
                  <a:txBody>
                    <a:bodyPr/>
                    <a:lstStyle/>
                    <a:p>
                      <a:pPr algn="r">
                        <a:buNone/>
                      </a:pPr>
                      <a:r>
                        <a:rPr lang="ca-ES" sz="1100" b="1" err="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cuiner ha acceptat la proposta. El xat s’ha creat automàticament (RF-07-04).</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918211">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lvl="0" indent="-228600" algn="l">
                        <a:buAutoNum type="arabicPeriod"/>
                      </a:pPr>
                      <a:r>
                        <a:rPr lang="ca-ES" sz="1100">
                          <a:effectLst/>
                        </a:rPr>
                        <a:t>El cuiner (o el client) obre el xat associat a la proposta/comanda.</a:t>
                      </a:r>
                    </a:p>
                    <a:p>
                      <a:pPr marL="228600" lvl="0" indent="-228600" algn="l">
                        <a:buAutoNum type="arabicPeriod"/>
                      </a:pPr>
                      <a:r>
                        <a:rPr lang="ca-ES" sz="1100">
                          <a:effectLst/>
                        </a:rPr>
                        <a:t>El cuiner redacta i envia un missatge.</a:t>
                      </a:r>
                    </a:p>
                    <a:p>
                      <a:pPr marL="228600" lvl="0" indent="-228600" algn="l">
                        <a:buAutoNum type="arabicPeriod"/>
                      </a:pPr>
                      <a:r>
                        <a:rPr lang="ca-ES" sz="1100">
                          <a:effectLst/>
                        </a:rPr>
                        <a:t>El sistema lliura el missatge al client en temps real o quasi real.</a:t>
                      </a:r>
                      <a:endParaRPr lang="ca-ES"/>
                    </a:p>
                    <a:p>
                      <a:pPr marL="228600" lvl="0" indent="-228600" algn="l">
                        <a:buAutoNum type="arabicPeriod"/>
                      </a:pPr>
                      <a:r>
                        <a:rPr lang="ca-ES" sz="1100">
                          <a:effectLst/>
                        </a:rPr>
                        <a:t>El client respon; el cuiner rep la notificació.</a:t>
                      </a:r>
                      <a:endParaRPr lang="ca-ES"/>
                    </a:p>
                    <a:p>
                      <a:pPr marL="228600" lvl="0" indent="-228600" algn="l">
                        <a:buAutoNum type="arabicPeriod"/>
                      </a:pPr>
                      <a:r>
                        <a:rPr lang="ca-ES" sz="1100">
                          <a:effectLst/>
                        </a:rPr>
                        <a:t>La conversa continua fins que la comanda queda clara.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372247">
                <a:tc>
                  <a:txBody>
                    <a:bodyPr/>
                    <a:lstStyle/>
                    <a:p>
                      <a:pPr algn="r">
                        <a:buNone/>
                      </a:pPr>
                      <a:r>
                        <a:rPr lang="ca-ES" sz="1100" b="1" err="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SF-01 — Client inicia conversa: el client envia el primer missatge després de l’acceptació (mateix flux, actor invertit).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186123">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lvl="0" algn="l">
                        <a:spcBef>
                          <a:spcPts val="500"/>
                        </a:spcBef>
                        <a:spcAft>
                          <a:spcPts val="500"/>
                        </a:spcAft>
                        <a:buNone/>
                      </a:pPr>
                      <a:r>
                        <a:rPr lang="ca-ES" sz="1100" b="0" i="0" u="none" strike="noStrike" baseline="0" noProof="0">
                          <a:solidFill>
                            <a:srgbClr val="000000"/>
                          </a:solidFill>
                          <a:effectLst/>
                          <a:latin typeface="Neue Haas Grotesk Text Pro"/>
                        </a:rPr>
                        <a:t>FA-01 — Xat sense acceptació prèvia: el sistema no permet obrir xat si la proposta no està acceptada (RF-07-04).</a:t>
                      </a:r>
                      <a:br>
                        <a:rPr lang="ca-ES" sz="1100" b="0" i="0" u="none" strike="noStrike" baseline="0" noProof="0">
                          <a:solidFill>
                            <a:srgbClr val="000000"/>
                          </a:solidFill>
                          <a:effectLst/>
                          <a:latin typeface="Neue Haas Grotesk Text Pro"/>
                        </a:rPr>
                      </a:br>
                      <a:r>
                        <a:rPr lang="ca-ES" sz="1100" b="0" i="0" u="none" strike="noStrike" baseline="0" noProof="0">
                          <a:solidFill>
                            <a:srgbClr val="000000"/>
                          </a:solidFill>
                          <a:effectLst/>
                          <a:latin typeface="Neue Haas Grotesk Text Pro"/>
                        </a:rPr>
                        <a:t>FA-02 — Error de xarxa: el missatge no s’envia; el sistema ofereix reintentar.</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86123">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Els missatges queden registrats al xat de la comanda. Cuiner i client han pogut coordinar-se.</a:t>
                      </a:r>
                      <a:endParaRPr lang="ca-ES" sz="1100"/>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86123">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cs typeface="Times New Roman"/>
                        </a:rPr>
                        <a:t>RNF-01-02 (canal segur), RNF-00-00 (UI coherent).</a:t>
                      </a:r>
                      <a:endParaRPr lang="ca-ES" sz="1100"/>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86123">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a:effectLst/>
                        </a:rPr>
                        <a:t>Mitjana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86123">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Tree>
    <p:extLst>
      <p:ext uri="{BB962C8B-B14F-4D97-AF65-F5344CB8AC3E}">
        <p14:creationId xmlns:p14="http://schemas.microsoft.com/office/powerpoint/2010/main" val="341358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6ADA06-8DFA-517C-EC77-0CAFDF79324F}"/>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1935551D-B97C-7DFB-7487-EBE68A06AB71}"/>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Cuiner</a:t>
            </a:r>
          </a:p>
        </p:txBody>
      </p:sp>
      <p:sp>
        <p:nvSpPr>
          <p:cNvPr id="33" name="Rectangle 3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C275E6FB-9FB7-F787-9E9B-178DBD65E11C}"/>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21</a:t>
            </a:fld>
            <a:endParaRPr lang="en-US">
              <a:solidFill>
                <a:schemeClr val="tx2">
                  <a:lumMod val="50000"/>
                  <a:lumOff val="50000"/>
                </a:schemeClr>
              </a:solidFill>
            </a:endParaRPr>
          </a:p>
        </p:txBody>
      </p:sp>
      <p:graphicFrame>
        <p:nvGraphicFramePr>
          <p:cNvPr id="7" name="Tabla 2">
            <a:extLst>
              <a:ext uri="{FF2B5EF4-FFF2-40B4-BE49-F238E27FC236}">
                <a16:creationId xmlns:a16="http://schemas.microsoft.com/office/drawing/2014/main" id="{E1C7F01C-82D1-5EFD-F6E3-45E20F6ED5E8}"/>
              </a:ext>
            </a:extLst>
          </p:cNvPr>
          <p:cNvGraphicFramePr>
            <a:graphicFrameLocks noGrp="1"/>
          </p:cNvGraphicFramePr>
          <p:nvPr>
            <p:extLst>
              <p:ext uri="{D42A27DB-BD31-4B8C-83A1-F6EECF244321}">
                <p14:modId xmlns:p14="http://schemas.microsoft.com/office/powerpoint/2010/main" val="3660849843"/>
              </p:ext>
            </p:extLst>
          </p:nvPr>
        </p:nvGraphicFramePr>
        <p:xfrm>
          <a:off x="624117" y="2091095"/>
          <a:ext cx="10947232" cy="4206245"/>
        </p:xfrm>
        <a:graphic>
          <a:graphicData uri="http://schemas.openxmlformats.org/drawingml/2006/table">
            <a:tbl>
              <a:tblPr firstRow="1">
                <a:tableStyleId>{5C22544A-7EE6-4342-B048-85BDC9FD1C3A}</a:tableStyleId>
              </a:tblPr>
              <a:tblGrid>
                <a:gridCol w="3075278">
                  <a:extLst>
                    <a:ext uri="{9D8B030D-6E8A-4147-A177-3AD203B41FA5}">
                      <a16:colId xmlns:a16="http://schemas.microsoft.com/office/drawing/2014/main" val="645709654"/>
                    </a:ext>
                  </a:extLst>
                </a:gridCol>
                <a:gridCol w="2112766">
                  <a:extLst>
                    <a:ext uri="{9D8B030D-6E8A-4147-A177-3AD203B41FA5}">
                      <a16:colId xmlns:a16="http://schemas.microsoft.com/office/drawing/2014/main" val="842417822"/>
                    </a:ext>
                  </a:extLst>
                </a:gridCol>
                <a:gridCol w="2298908">
                  <a:extLst>
                    <a:ext uri="{9D8B030D-6E8A-4147-A177-3AD203B41FA5}">
                      <a16:colId xmlns:a16="http://schemas.microsoft.com/office/drawing/2014/main" val="4136022570"/>
                    </a:ext>
                  </a:extLst>
                </a:gridCol>
                <a:gridCol w="3460280">
                  <a:extLst>
                    <a:ext uri="{9D8B030D-6E8A-4147-A177-3AD203B41FA5}">
                      <a16:colId xmlns:a16="http://schemas.microsoft.com/office/drawing/2014/main" val="1005851753"/>
                    </a:ext>
                  </a:extLst>
                </a:gridCol>
              </a:tblGrid>
              <a:tr h="192321">
                <a:tc>
                  <a:txBody>
                    <a:bodyPr/>
                    <a:lstStyle/>
                    <a:p>
                      <a:pPr algn="r">
                        <a:buNone/>
                      </a:pPr>
                      <a:r>
                        <a:rPr lang="ca-ES" sz="1000">
                          <a:effectLst/>
                        </a:rPr>
                        <a:t>CAS D’ÚS:</a:t>
                      </a:r>
                      <a:endParaRPr lang="ca-ES" sz="900">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marL="0" lvl="0" indent="0" algn="l">
                        <a:lnSpc>
                          <a:spcPct val="100000"/>
                        </a:lnSpc>
                        <a:buNone/>
                      </a:pPr>
                      <a:r>
                        <a:rPr lang="ca-ES" sz="1000" b="1" i="0" u="none" strike="noStrike" baseline="0" noProof="0">
                          <a:solidFill>
                            <a:srgbClr val="FFFFFF"/>
                          </a:solidFill>
                          <a:effectLst/>
                          <a:latin typeface="Neue Haas Grotesk Text Pro"/>
                        </a:rPr>
                        <a:t>Rebre diners al compte quan es paga una comanda</a:t>
                      </a: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92321">
                <a:tc>
                  <a:txBody>
                    <a:bodyPr/>
                    <a:lstStyle/>
                    <a:p>
                      <a:pPr algn="r">
                        <a:buNone/>
                      </a:pPr>
                      <a:r>
                        <a:rPr lang="ca-ES" sz="900" b="1" kern="0">
                          <a:effectLst/>
                        </a:rPr>
                        <a:t>Versió</a:t>
                      </a:r>
                      <a:endParaRPr lang="ca-ES" sz="900" b="1" kern="0">
                        <a:effectLst/>
                        <a:latin typeface="Times New Roman" panose="02020603050405020304" pitchFamily="18" charset="0"/>
                        <a:cs typeface="Times New Roman" panose="02020603050405020304" pitchFamily="18" charset="0"/>
                      </a:endParaRPr>
                    </a:p>
                  </a:txBody>
                  <a:tcPr marL="39963" marR="39963" marT="0" marB="0"/>
                </a:tc>
                <a:tc>
                  <a:txBody>
                    <a:bodyPr/>
                    <a:lstStyle/>
                    <a:p>
                      <a:pPr>
                        <a:buNone/>
                      </a:pPr>
                      <a:r>
                        <a:rPr lang="ca-ES" sz="1000">
                          <a:effectLst/>
                        </a:rPr>
                        <a:t>2.0</a:t>
                      </a:r>
                      <a:endParaRPr lang="ca-ES" sz="900">
                        <a:effectLst/>
                        <a:latin typeface="Times New Roman" panose="02020603050405020304" pitchFamily="18" charset="0"/>
                        <a:ea typeface="Times New Roman" panose="02020603050405020304" pitchFamily="18" charset="0"/>
                      </a:endParaRPr>
                    </a:p>
                  </a:txBody>
                  <a:tcPr marL="39963" marR="39963" marT="0" marB="0"/>
                </a:tc>
                <a:tc>
                  <a:txBody>
                    <a:bodyPr/>
                    <a:lstStyle/>
                    <a:p>
                      <a:pPr algn="r">
                        <a:buNone/>
                      </a:pPr>
                      <a:r>
                        <a:rPr lang="ca-ES" sz="900" b="1" kern="0">
                          <a:effectLst/>
                        </a:rPr>
                        <a:t>Data</a:t>
                      </a:r>
                      <a:endParaRPr lang="ca-ES" sz="900" b="1" kern="0">
                        <a:effectLst/>
                        <a:latin typeface="Times New Roman" panose="02020603050405020304" pitchFamily="18" charset="0"/>
                        <a:cs typeface="Times New Roman" panose="02020603050405020304" pitchFamily="18" charset="0"/>
                      </a:endParaRPr>
                    </a:p>
                  </a:txBody>
                  <a:tcPr marL="39963" marR="39963" marT="0" marB="0"/>
                </a:tc>
                <a:tc>
                  <a:txBody>
                    <a:bodyPr/>
                    <a:lstStyle/>
                    <a:p>
                      <a:pPr>
                        <a:buNone/>
                      </a:pPr>
                      <a:r>
                        <a:rPr lang="ca-ES" sz="1000">
                          <a:effectLst/>
                        </a:rPr>
                        <a:t>16/05/2026</a:t>
                      </a:r>
                      <a:endParaRPr lang="ca-ES" sz="900">
                        <a:effectLst/>
                        <a:latin typeface="Times New Roman" panose="02020603050405020304" pitchFamily="18" charset="0"/>
                        <a:ea typeface="Times New Roman" panose="02020603050405020304" pitchFamily="18" charset="0"/>
                      </a:endParaRPr>
                    </a:p>
                  </a:txBody>
                  <a:tcPr marL="39963" marR="39963" marT="0" marB="0"/>
                </a:tc>
                <a:extLst>
                  <a:ext uri="{0D108BD9-81ED-4DB2-BD59-A6C34878D82A}">
                    <a16:rowId xmlns:a16="http://schemas.microsoft.com/office/drawing/2014/main" val="4280715469"/>
                  </a:ext>
                </a:extLst>
              </a:tr>
              <a:tr h="192321">
                <a:tc>
                  <a:txBody>
                    <a:bodyPr/>
                    <a:lstStyle/>
                    <a:p>
                      <a:pPr algn="r">
                        <a:buNone/>
                      </a:pPr>
                      <a:r>
                        <a:rPr lang="ca-ES" sz="1000" b="1">
                          <a:effectLst/>
                        </a:rPr>
                        <a:t>Autors</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a:buNone/>
                      </a:pPr>
                      <a:r>
                        <a:rPr lang="ca-ES" sz="1000">
                          <a:effectLst/>
                        </a:rPr>
                        <a:t>Enric, Blay, Maria i Neus</a:t>
                      </a:r>
                      <a:endParaRPr lang="ca-ES" sz="900">
                        <a:effectLst/>
                        <a:latin typeface="Times New Roman" panose="02020603050405020304" pitchFamily="18" charset="0"/>
                        <a:ea typeface="Times New Roman" panose="02020603050405020304" pitchFamily="18" charset="0"/>
                      </a:endParaRP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47419">
                <a:tc>
                  <a:txBody>
                    <a:bodyPr/>
                    <a:lstStyle/>
                    <a:p>
                      <a:pPr algn="r">
                        <a:buNone/>
                      </a:pPr>
                      <a:r>
                        <a:rPr lang="ca-ES" sz="1000" b="1">
                          <a:effectLst/>
                        </a:rPr>
                        <a:t>Descripció</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lvl="0" algn="l">
                        <a:buNone/>
                      </a:pPr>
                      <a:r>
                        <a:rPr lang="ca-ES" sz="1000" b="0" i="0" u="none" strike="noStrike" baseline="0" noProof="0">
                          <a:solidFill>
                            <a:srgbClr val="000000"/>
                          </a:solidFill>
                          <a:effectLst/>
                          <a:latin typeface="Neue Haas Grotesk Text Pro"/>
                        </a:rPr>
                        <a:t>Quan el client confirma el pagament d’una comanda mitjançant la passarel·la, el sistema ingressa automàticament l’import corresponent al compte bancari del cuiner (i la part del repartidor si escau)</a:t>
                      </a:r>
                      <a:endParaRPr lang="ca-ES" sz="1600"/>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92321">
                <a:tc>
                  <a:txBody>
                    <a:bodyPr/>
                    <a:lstStyle/>
                    <a:p>
                      <a:pPr algn="r">
                        <a:buNone/>
                      </a:pPr>
                      <a:r>
                        <a:rPr lang="ca-ES" sz="1000" b="1">
                          <a:effectLst/>
                        </a:rPr>
                        <a:t>Actors</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lvl="0" algn="l">
                        <a:buNone/>
                      </a:pPr>
                      <a:r>
                        <a:rPr lang="ca-ES" sz="1000" b="0" i="0" u="none" strike="noStrike" baseline="0" noProof="0">
                          <a:solidFill>
                            <a:srgbClr val="000000"/>
                          </a:solidFill>
                          <a:effectLst/>
                          <a:latin typeface="Neue Haas Grotesk Text Pro"/>
                        </a:rPr>
                        <a:t>Cuiner, passarel·la de pagament</a:t>
                      </a:r>
                      <a:endParaRPr lang="ca-ES" sz="1600"/>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347419">
                <a:tc>
                  <a:txBody>
                    <a:bodyPr/>
                    <a:lstStyle/>
                    <a:p>
                      <a:pPr algn="r">
                        <a:buNone/>
                      </a:pPr>
                      <a:r>
                        <a:rPr lang="ca-ES" sz="1000" b="1">
                          <a:effectLst/>
                        </a:rPr>
                        <a:t>Precondició</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lvl="0" algn="l">
                        <a:buNone/>
                      </a:pPr>
                      <a:r>
                        <a:rPr lang="ca-ES" sz="1000" b="0" i="0" u="none" strike="noStrike" baseline="0" noProof="0">
                          <a:solidFill>
                            <a:srgbClr val="000000"/>
                          </a:solidFill>
                          <a:effectLst/>
                          <a:latin typeface="Neue Haas Grotesk Text Pro"/>
                        </a:rPr>
                        <a:t>Comanda associada al cuiner en estat pendent de pagament. El cuiner té dades bancàries registrades i xifrades. El client inicia el pagament.</a:t>
                      </a:r>
                      <a:endParaRPr lang="ca-ES" sz="1600"/>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1122905">
                <a:tc>
                  <a:txBody>
                    <a:bodyPr/>
                    <a:lstStyle/>
                    <a:p>
                      <a:pPr algn="r">
                        <a:buNone/>
                      </a:pPr>
                      <a:r>
                        <a:rPr lang="ca-ES" sz="1000" b="1">
                          <a:effectLst/>
                        </a:rPr>
                        <a:t>Flux principal</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marL="228600" lvl="0" indent="-228600" algn="l">
                        <a:buAutoNum type="arabicPeriod"/>
                      </a:pPr>
                      <a:r>
                        <a:rPr lang="ca-ES" sz="1000">
                          <a:effectLst/>
                        </a:rPr>
                        <a:t>El client paga la comanda dins de l’aplicació amb targeta o </a:t>
                      </a:r>
                      <a:r>
                        <a:rPr lang="ca-ES" sz="1000" err="1">
                          <a:effectLst/>
                        </a:rPr>
                        <a:t>PayPal</a:t>
                      </a:r>
                      <a:r>
                        <a:rPr lang="ca-ES" sz="1000">
                          <a:effectLst/>
                        </a:rPr>
                        <a:t>.</a:t>
                      </a:r>
                    </a:p>
                    <a:p>
                      <a:pPr marL="228600" lvl="0" indent="-228600" algn="l">
                        <a:buAutoNum type="arabicPeriod"/>
                      </a:pPr>
                      <a:r>
                        <a:rPr lang="ca-ES" sz="1000">
                          <a:effectLst/>
                        </a:rPr>
                        <a:t>El sistema connecta amb la passarel·la de pagament.</a:t>
                      </a:r>
                    </a:p>
                    <a:p>
                      <a:pPr marL="228600" lvl="0" indent="-228600" algn="l">
                        <a:buAutoNum type="arabicPeriod"/>
                      </a:pPr>
                      <a:r>
                        <a:rPr lang="ca-ES" sz="1000">
                          <a:effectLst/>
                        </a:rPr>
                        <a:t>La passarel·la confirma la transacció.</a:t>
                      </a:r>
                      <a:endParaRPr lang="ca-ES" sz="1600"/>
                    </a:p>
                    <a:p>
                      <a:pPr marL="228600" lvl="0" indent="-228600" algn="l">
                        <a:buAutoNum type="arabicPeriod"/>
                      </a:pPr>
                      <a:r>
                        <a:rPr lang="ca-ES" sz="1000">
                          <a:effectLst/>
                        </a:rPr>
                        <a:t>El sistema rep la confirmació de pagament.</a:t>
                      </a:r>
                      <a:endParaRPr lang="ca-ES" sz="1600"/>
                    </a:p>
                    <a:p>
                      <a:pPr marL="228600" lvl="0" indent="-228600" algn="l">
                        <a:buAutoNum type="arabicPeriod"/>
                      </a:pPr>
                      <a:r>
                        <a:rPr lang="ca-ES" sz="1000">
                          <a:effectLst/>
                        </a:rPr>
                        <a:t>El sistema inicia el procés d’enviament/lliurament.</a:t>
                      </a:r>
                      <a:endParaRPr lang="ca-ES" sz="1600"/>
                    </a:p>
                    <a:p>
                      <a:pPr marL="228600" lvl="0" indent="-228600" algn="l">
                        <a:buAutoNum type="arabicPeriod"/>
                      </a:pPr>
                      <a:r>
                        <a:rPr lang="ca-ES" sz="1000">
                          <a:effectLst/>
                        </a:rPr>
                        <a:t>El sistema ingressa l’import al compte bancari del cuiner.</a:t>
                      </a: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192321">
                <a:tc>
                  <a:txBody>
                    <a:bodyPr/>
                    <a:lstStyle/>
                    <a:p>
                      <a:pPr algn="r">
                        <a:buNone/>
                      </a:pPr>
                      <a:r>
                        <a:rPr lang="ca-ES" sz="1000" b="1">
                          <a:effectLst/>
                        </a:rPr>
                        <a:t>Subfluxos</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lvl="0" algn="l">
                        <a:buNone/>
                      </a:pPr>
                      <a:r>
                        <a:rPr lang="ca-ES" sz="1000" b="0" i="0" u="none" strike="noStrike" baseline="0" noProof="0">
                          <a:solidFill>
                            <a:srgbClr val="000000"/>
                          </a:solidFill>
                          <a:effectLst/>
                          <a:latin typeface="Neue Haas Grotesk Text Pro"/>
                        </a:rPr>
                        <a:t>Comanda amb repartidor: es reparteix l’import entre cuiner i repartidor segons regles de negoci.</a:t>
                      </a: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657613">
                <a:tc>
                  <a:txBody>
                    <a:bodyPr/>
                    <a:lstStyle/>
                    <a:p>
                      <a:pPr algn="r">
                        <a:buNone/>
                      </a:pPr>
                      <a:r>
                        <a:rPr lang="ca-ES" sz="1000" b="1">
                          <a:effectLst/>
                        </a:rPr>
                        <a:t>Fluxos alternatius</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marL="228600" marR="457200" lvl="0" algn="l">
                        <a:spcBef>
                          <a:spcPts val="500"/>
                        </a:spcBef>
                        <a:spcAft>
                          <a:spcPts val="500"/>
                        </a:spcAft>
                        <a:buNone/>
                      </a:pPr>
                      <a:r>
                        <a:rPr lang="ca-ES" sz="1000" b="0" i="0" u="none" strike="noStrike" baseline="0" noProof="0">
                          <a:solidFill>
                            <a:srgbClr val="000000"/>
                          </a:solidFill>
                          <a:effectLst/>
                          <a:latin typeface="Neue Haas Grotesk Text Pro"/>
                        </a:rPr>
                        <a:t>FA-01 — Pagament rebutjat: la passarel·la denega la transacció; no hi ha ingrés; el cuiner rep notificació d’intent fallit (opcional).</a:t>
                      </a:r>
                      <a:br>
                        <a:rPr lang="ca-ES" sz="1000" b="0" i="0" u="none" strike="noStrike" baseline="0" noProof="0">
                          <a:solidFill>
                            <a:srgbClr val="000000"/>
                          </a:solidFill>
                          <a:effectLst/>
                          <a:latin typeface="Neue Haas Grotesk Text Pro"/>
                        </a:rPr>
                      </a:br>
                      <a:r>
                        <a:rPr lang="ca-ES" sz="1000" b="0" i="0" u="none" strike="noStrike" baseline="0" noProof="0">
                          <a:solidFill>
                            <a:srgbClr val="000000"/>
                          </a:solidFill>
                          <a:effectLst/>
                          <a:latin typeface="Neue Haas Grotesk Text Pro"/>
                        </a:rPr>
                        <a:t>FA-02 — Temps excedit: si el pagament supera 7 minuts des de l’inici, es cancel·la (RNF-04-01).</a:t>
                      </a:r>
                      <a:br>
                        <a:rPr lang="ca-ES" sz="1000" b="0" i="0" u="none" strike="noStrike" baseline="0" noProof="0">
                          <a:solidFill>
                            <a:srgbClr val="000000"/>
                          </a:solidFill>
                          <a:effectLst/>
                          <a:latin typeface="Neue Haas Grotesk Text Pro"/>
                        </a:rPr>
                      </a:br>
                      <a:r>
                        <a:rPr lang="ca-ES" sz="1000" b="0" i="0" u="none" strike="noStrike" baseline="0" noProof="0">
                          <a:solidFill>
                            <a:srgbClr val="000000"/>
                          </a:solidFill>
                          <a:effectLst/>
                          <a:latin typeface="Neue Haas Grotesk Text Pro"/>
                        </a:rPr>
                        <a:t>FA-03 — Dades bancàries incompletes: el sistema no pot fer l’ingrés i demana al cuiner completar el perfil.</a:t>
                      </a: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92321">
                <a:tc>
                  <a:txBody>
                    <a:bodyPr/>
                    <a:lstStyle/>
                    <a:p>
                      <a:pPr algn="r">
                        <a:buNone/>
                      </a:pPr>
                      <a:r>
                        <a:rPr lang="ca-ES" sz="1000" b="1">
                          <a:effectLst/>
                        </a:rPr>
                        <a:t>Postcondició</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lvl="0" algn="l">
                        <a:buNone/>
                      </a:pPr>
                      <a:r>
                        <a:rPr lang="ca-ES" sz="1000" b="0" i="0" u="none" strike="noStrike" baseline="0" noProof="0">
                          <a:solidFill>
                            <a:srgbClr val="000000"/>
                          </a:solidFill>
                          <a:effectLst/>
                          <a:latin typeface="Neue Haas Grotesk Text Pro"/>
                        </a:rPr>
                        <a:t>Pagament confirmat. Import ingressat al compte del cuiner. Comanda en curs d’enviament/lliurament.</a:t>
                      </a:r>
                      <a:endParaRPr lang="ca-ES" sz="1600"/>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92321">
                <a:tc>
                  <a:txBody>
                    <a:bodyPr/>
                    <a:lstStyle/>
                    <a:p>
                      <a:pPr algn="r">
                        <a:buNone/>
                      </a:pPr>
                      <a:r>
                        <a:rPr lang="ca-ES" sz="1000" b="1">
                          <a:effectLst/>
                        </a:rPr>
                        <a:t>Requeriments no funcionals</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lvl="0" algn="l">
                        <a:buNone/>
                      </a:pPr>
                      <a:r>
                        <a:rPr lang="ca-ES" sz="1000" b="0" i="0" u="none" strike="noStrike" baseline="0" noProof="0">
                          <a:solidFill>
                            <a:srgbClr val="000000"/>
                          </a:solidFill>
                          <a:effectLst/>
                          <a:latin typeface="Neue Haas Grotesk Text Pro"/>
                          <a:cs typeface="Times New Roman"/>
                        </a:rPr>
                        <a:t>RNF-04-00, RNF-04-01, RNF-01-02 (dades bancàries xifrades).</a:t>
                      </a:r>
                      <a:endParaRPr lang="ca-ES" sz="1600"/>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92321">
                <a:tc>
                  <a:txBody>
                    <a:bodyPr/>
                    <a:lstStyle/>
                    <a:p>
                      <a:pPr algn="r">
                        <a:buNone/>
                      </a:pPr>
                      <a:r>
                        <a:rPr lang="ca-ES" sz="1000" b="1">
                          <a:effectLst/>
                        </a:rPr>
                        <a:t>Prioritat</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algn="l">
                        <a:buNone/>
                      </a:pPr>
                      <a:r>
                        <a:rPr lang="ca-ES" sz="1000">
                          <a:effectLst/>
                        </a:rPr>
                        <a:t>Alta</a:t>
                      </a: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92321">
                <a:tc>
                  <a:txBody>
                    <a:bodyPr/>
                    <a:lstStyle/>
                    <a:p>
                      <a:pPr algn="r">
                        <a:buNone/>
                      </a:pPr>
                      <a:r>
                        <a:rPr lang="ca-ES" sz="1000" b="1">
                          <a:effectLst/>
                        </a:rPr>
                        <a:t>Comentaris</a:t>
                      </a:r>
                      <a:endParaRPr lang="ca-ES" sz="900" b="1">
                        <a:effectLst/>
                        <a:latin typeface="Times New Roman" panose="02020603050405020304" pitchFamily="18" charset="0"/>
                        <a:ea typeface="Times New Roman" panose="02020603050405020304" pitchFamily="18" charset="0"/>
                      </a:endParaRPr>
                    </a:p>
                  </a:txBody>
                  <a:tcPr marL="39963" marR="39963" marT="0" marB="0"/>
                </a:tc>
                <a:tc gridSpan="3">
                  <a:txBody>
                    <a:bodyPr/>
                    <a:lstStyle/>
                    <a:p>
                      <a:pPr algn="l">
                        <a:buNone/>
                      </a:pPr>
                      <a:endParaRPr lang="ca-ES" sz="900">
                        <a:effectLst/>
                        <a:latin typeface="Times New Roman" panose="02020603050405020304" pitchFamily="18" charset="0"/>
                        <a:ea typeface="Times New Roman" panose="02020603050405020304" pitchFamily="18" charset="0"/>
                      </a:endParaRPr>
                    </a:p>
                  </a:txBody>
                  <a:tcPr marL="39963" marR="39963"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Tree>
    <p:extLst>
      <p:ext uri="{BB962C8B-B14F-4D97-AF65-F5344CB8AC3E}">
        <p14:creationId xmlns:p14="http://schemas.microsoft.com/office/powerpoint/2010/main" val="101079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1E54FB1-1B47-0944-2131-92BDE2ADC6F3}"/>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1CCCE5A8-588F-CAD7-1A8F-4491F55D7B92}"/>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33" name="Rectangle 3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25AC0636-8CE1-7E1C-0719-B24C78D317DE}"/>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22</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4A0BD909-62C8-D5F6-ADF2-6D367CB95707}"/>
              </a:ext>
            </a:extLst>
          </p:cNvPr>
          <p:cNvGraphicFramePr>
            <a:graphicFrameLocks noGrp="1"/>
          </p:cNvGraphicFramePr>
          <p:nvPr>
            <p:extLst>
              <p:ext uri="{D42A27DB-BD31-4B8C-83A1-F6EECF244321}">
                <p14:modId xmlns:p14="http://schemas.microsoft.com/office/powerpoint/2010/main" val="3661415954"/>
              </p:ext>
            </p:extLst>
          </p:nvPr>
        </p:nvGraphicFramePr>
        <p:xfrm>
          <a:off x="1712910" y="2124713"/>
          <a:ext cx="8750806" cy="4605380"/>
        </p:xfrm>
        <a:graphic>
          <a:graphicData uri="http://schemas.openxmlformats.org/drawingml/2006/table">
            <a:tbl>
              <a:tblPr firstRow="1" bandRow="1">
                <a:tableStyleId>{5C22544A-7EE6-4342-B048-85BDC9FD1C3A}</a:tableStyleId>
              </a:tblPr>
              <a:tblGrid>
                <a:gridCol w="2478696">
                  <a:extLst>
                    <a:ext uri="{9D8B030D-6E8A-4147-A177-3AD203B41FA5}">
                      <a16:colId xmlns:a16="http://schemas.microsoft.com/office/drawing/2014/main" val="89306525"/>
                    </a:ext>
                  </a:extLst>
                </a:gridCol>
                <a:gridCol w="1806734">
                  <a:extLst>
                    <a:ext uri="{9D8B030D-6E8A-4147-A177-3AD203B41FA5}">
                      <a16:colId xmlns:a16="http://schemas.microsoft.com/office/drawing/2014/main" val="83351599"/>
                    </a:ext>
                  </a:extLst>
                </a:gridCol>
                <a:gridCol w="1935244">
                  <a:extLst>
                    <a:ext uri="{9D8B030D-6E8A-4147-A177-3AD203B41FA5}">
                      <a16:colId xmlns:a16="http://schemas.microsoft.com/office/drawing/2014/main" val="2476725196"/>
                    </a:ext>
                  </a:extLst>
                </a:gridCol>
                <a:gridCol w="2530132">
                  <a:extLst>
                    <a:ext uri="{9D8B030D-6E8A-4147-A177-3AD203B41FA5}">
                      <a16:colId xmlns:a16="http://schemas.microsoft.com/office/drawing/2014/main" val="1847850441"/>
                    </a:ext>
                  </a:extLst>
                </a:gridCol>
              </a:tblGrid>
              <a:tr h="233584">
                <a:tc>
                  <a:txBody>
                    <a:bodyPr/>
                    <a:lstStyle/>
                    <a:p>
                      <a:pPr algn="r" fontAlgn="base">
                        <a:lnSpc>
                          <a:spcPts val="1350"/>
                        </a:lnSpc>
                        <a:buNone/>
                      </a:pPr>
                      <a:r>
                        <a:rPr lang="ca-ES" sz="1100" b="1" i="0">
                          <a:solidFill>
                            <a:srgbClr val="FFFFFF"/>
                          </a:solidFill>
                          <a:effectLst/>
                          <a:latin typeface="Neue Haas Grotesk Text Pro"/>
                        </a:rPr>
                        <a:t>CAS D’ÚS: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983" cap="flat" cmpd="sng" algn="ctr">
                      <a:solidFill>
                        <a:srgbClr val="FFFFFF"/>
                      </a:solidFill>
                      <a:prstDash val="solid"/>
                      <a:round/>
                      <a:headEnd type="none" w="med" len="med"/>
                      <a:tailEnd type="none" w="med" len="med"/>
                    </a:lnB>
                    <a:solidFill>
                      <a:srgbClr val="C34D54"/>
                    </a:solidFill>
                  </a:tcPr>
                </a:tc>
                <a:tc gridSpan="3">
                  <a:txBody>
                    <a:bodyPr/>
                    <a:lstStyle/>
                    <a:p>
                      <a:pPr algn="l" fontAlgn="base">
                        <a:lnSpc>
                          <a:spcPts val="1350"/>
                        </a:lnSpc>
                        <a:buNone/>
                      </a:pPr>
                      <a:r>
                        <a:rPr lang="ca-ES" sz="1100" b="0" i="0" u="none" strike="noStrike">
                          <a:solidFill>
                            <a:srgbClr val="FFFFFF"/>
                          </a:solidFill>
                          <a:effectLst/>
                          <a:latin typeface="Aptos"/>
                        </a:rPr>
                        <a:t>Veure plats/menús o cuiners actius</a:t>
                      </a:r>
                      <a:endParaRPr lang="es-ES" sz="1100" b="0" i="0">
                        <a:solidFill>
                          <a:srgbClr val="000000"/>
                        </a:solidFill>
                        <a:effectLst/>
                        <a:latin typeface="Aptos"/>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983"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00548894"/>
                  </a:ext>
                </a:extLst>
              </a:tr>
              <a:tr h="230616">
                <a:tc>
                  <a:txBody>
                    <a:bodyPr/>
                    <a:lstStyle/>
                    <a:p>
                      <a:pPr algn="r" fontAlgn="base">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1.0</a:t>
                      </a: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r" fontAlgn="base">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16/05/2026</a:t>
                      </a: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1135231839"/>
                  </a:ext>
                </a:extLst>
              </a:tr>
              <a:tr h="246727">
                <a:tc>
                  <a:txBody>
                    <a:bodyPr/>
                    <a:lstStyle/>
                    <a:p>
                      <a:pPr algn="r" fontAlgn="base">
                        <a:lnSpc>
                          <a:spcPts val="1350"/>
                        </a:lnSpc>
                        <a:buNone/>
                      </a:pPr>
                      <a:r>
                        <a:rPr lang="ca-ES" sz="1100" b="1" i="0">
                          <a:solidFill>
                            <a:srgbClr val="000000"/>
                          </a:solidFill>
                          <a:effectLst/>
                          <a:latin typeface="Neue Haas Grotesk Text Pro"/>
                        </a:rPr>
                        <a:t>Autors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lvl="0" algn="l">
                        <a:lnSpc>
                          <a:spcPct val="100000"/>
                        </a:lnSpc>
                        <a:spcBef>
                          <a:spcPts val="0"/>
                        </a:spcBef>
                        <a:spcAft>
                          <a:spcPts val="0"/>
                        </a:spcAft>
                        <a:buNone/>
                      </a:pPr>
                      <a:r>
                        <a:rPr lang="ca-ES" sz="1100" b="0" i="0" kern="1200" noProof="0">
                          <a:solidFill>
                            <a:srgbClr val="000000"/>
                          </a:solidFill>
                          <a:effectLst/>
                          <a:latin typeface="Neue Haas Grotesk Text Pro"/>
                          <a:ea typeface="+mn-ea"/>
                          <a:cs typeface="+mn-cs"/>
                        </a:rPr>
                        <a:t>Enric, Blay, Maria i Neus</a:t>
                      </a: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633903426"/>
                  </a:ext>
                </a:extLst>
              </a:tr>
              <a:tr h="379012">
                <a:tc>
                  <a:txBody>
                    <a:bodyPr/>
                    <a:lstStyle/>
                    <a:p>
                      <a:pPr algn="r" fontAlgn="base">
                        <a:lnSpc>
                          <a:spcPts val="1350"/>
                        </a:lnSpc>
                        <a:buNone/>
                      </a:pPr>
                      <a:r>
                        <a:rPr lang="ca-ES" sz="1100" b="1" i="0">
                          <a:solidFill>
                            <a:srgbClr val="000000"/>
                          </a:solidFill>
                          <a:effectLst/>
                          <a:latin typeface="Neue Haas Grotesk Text Pro"/>
                        </a:rPr>
                        <a:t>Descripció</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A</a:t>
                      </a:r>
                      <a:r>
                        <a:rPr lang="ca-ES" sz="1100" b="0" i="0" u="none" strike="noStrike" kern="1200" baseline="0">
                          <a:solidFill>
                            <a:srgbClr val="000000"/>
                          </a:solidFill>
                          <a:effectLst/>
                          <a:latin typeface="Neue Haas Grotesk Text Pro"/>
                          <a:ea typeface="+mn-ea"/>
                          <a:cs typeface="+mn-cs"/>
                        </a:rPr>
                        <a:t>quest cas d’ús descriu com els usuaris registrats o no registrats poden consultar el llistat de plats/menús disponibles o el llistat de ciuners actius. Els resultats s'ordenen per distància física (menor a major) respecte el client.</a:t>
                      </a: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57699356"/>
                  </a:ext>
                </a:extLst>
              </a:tr>
              <a:tr h="231464">
                <a:tc>
                  <a:txBody>
                    <a:bodyPr/>
                    <a:lstStyle/>
                    <a:p>
                      <a:pPr algn="r" fontAlgn="base">
                        <a:lnSpc>
                          <a:spcPts val="1350"/>
                        </a:lnSpc>
                        <a:buNone/>
                      </a:pPr>
                      <a:r>
                        <a:rPr lang="ca-ES" sz="1100" b="1" i="0">
                          <a:solidFill>
                            <a:srgbClr val="000000"/>
                          </a:solidFill>
                          <a:effectLst/>
                          <a:latin typeface="Neue Haas Grotesk Text Pro"/>
                        </a:rPr>
                        <a:t>Actors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Client, Mapa/ubicació</a:t>
                      </a:r>
                      <a:endParaRPr lang="en-U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379482964"/>
                  </a:ext>
                </a:extLst>
              </a:tr>
              <a:tr h="231464">
                <a:tc>
                  <a:txBody>
                    <a:bodyPr/>
                    <a:lstStyle/>
                    <a:p>
                      <a:pPr algn="r" fontAlgn="base">
                        <a:lnSpc>
                          <a:spcPts val="1350"/>
                        </a:lnSpc>
                        <a:buNone/>
                      </a:pPr>
                      <a:r>
                        <a:rPr lang="ca-ES" sz="1100" b="1" i="0">
                          <a:solidFill>
                            <a:srgbClr val="000000"/>
                          </a:solidFill>
                          <a:effectLst/>
                          <a:latin typeface="Neue Haas Grotesk Text Pro"/>
                        </a:rPr>
                        <a:t>Precondició</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 El sistema disposa de la localització del client.</a:t>
                      </a: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25838359"/>
                  </a:ext>
                </a:extLst>
              </a:tr>
              <a:tr h="751276">
                <a:tc>
                  <a:txBody>
                    <a:bodyPr/>
                    <a:lstStyle/>
                    <a:p>
                      <a:pPr algn="r" fontAlgn="base">
                        <a:lnSpc>
                          <a:spcPts val="1350"/>
                        </a:lnSpc>
                        <a:buNone/>
                      </a:pPr>
                      <a:r>
                        <a:rPr lang="ca-ES" sz="1100" b="1" i="0">
                          <a:solidFill>
                            <a:srgbClr val="000000"/>
                          </a:solidFill>
                          <a:effectLst/>
                          <a:latin typeface="Neue Haas Grotesk Text Pro"/>
                        </a:rPr>
                        <a:t>Flux principal</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fontAlgn="base">
                        <a:lnSpc>
                          <a:spcPts val="1350"/>
                        </a:lnSpc>
                        <a:buFont typeface="+mj-lt"/>
                        <a:buAutoNum type="arabicPeriod"/>
                      </a:pPr>
                      <a:r>
                        <a:rPr lang="ca-ES" sz="1100" b="0" i="0">
                          <a:solidFill>
                            <a:srgbClr val="000000"/>
                          </a:solidFill>
                          <a:effectLst/>
                          <a:latin typeface="Neue Haas Grotesk Text Pro"/>
                        </a:rPr>
                        <a:t>El client accedeix a la pantalla de consulta.</a:t>
                      </a: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mostra dues opcions de vista: llistat de plats/menús o llistat de cuiners actius.</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selecciona una vista.</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recupera les dades i les ordena per distància client-cuiner (menor a major).</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mostra el llistat ordenat.</a:t>
                      </a:r>
                      <a:endParaRPr lang="en-U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207764118"/>
                  </a:ext>
                </a:extLst>
              </a:tr>
              <a:tr h="231464">
                <a:tc>
                  <a:txBody>
                    <a:bodyPr/>
                    <a:lstStyle/>
                    <a:p>
                      <a:pPr algn="r" fontAlgn="base">
                        <a:lnSpc>
                          <a:spcPts val="1350"/>
                        </a:lnSpc>
                        <a:buNone/>
                      </a:pPr>
                      <a:r>
                        <a:rPr lang="ca-ES" sz="1100" b="1" i="0">
                          <a:solidFill>
                            <a:srgbClr val="000000"/>
                          </a:solidFill>
                          <a:effectLst/>
                          <a:latin typeface="Neue Haas Grotesk Text Pro"/>
                        </a:rPr>
                        <a:t>Subfluxos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es-ES" sz="1100" b="0" i="0">
                          <a:solidFill>
                            <a:srgbClr val="000000"/>
                          </a:solidFill>
                          <a:effectLst/>
                          <a:latin typeface="Neue Haas Grotesk Text Pro"/>
                        </a:rPr>
                        <a:t>Des de la vista de </a:t>
                      </a:r>
                      <a:r>
                        <a:rPr lang="es-ES" sz="1100" b="0" i="0" err="1">
                          <a:solidFill>
                            <a:srgbClr val="000000"/>
                          </a:solidFill>
                          <a:effectLst/>
                          <a:latin typeface="Neue Haas Grotesk Text Pro"/>
                        </a:rPr>
                        <a:t>cuiners</a:t>
                      </a:r>
                      <a:r>
                        <a:rPr lang="es-ES" sz="1100" b="0" i="0">
                          <a:solidFill>
                            <a:srgbClr val="000000"/>
                          </a:solidFill>
                          <a:effectLst/>
                          <a:latin typeface="Neue Haas Grotesk Text Pro"/>
                        </a:rPr>
                        <a:t>, el </a:t>
                      </a:r>
                      <a:r>
                        <a:rPr lang="es-ES" sz="1100" b="0" i="0" err="1">
                          <a:solidFill>
                            <a:srgbClr val="000000"/>
                          </a:solidFill>
                          <a:effectLst/>
                          <a:latin typeface="Neue Haas Grotesk Text Pro"/>
                        </a:rPr>
                        <a:t>client</a:t>
                      </a:r>
                      <a:r>
                        <a:rPr lang="es-ES" sz="1100" b="0" i="0">
                          <a:solidFill>
                            <a:srgbClr val="000000"/>
                          </a:solidFill>
                          <a:effectLst/>
                          <a:latin typeface="Neue Haas Grotesk Text Pro"/>
                        </a:rPr>
                        <a:t> </a:t>
                      </a:r>
                      <a:r>
                        <a:rPr lang="es-ES" sz="1100" b="0" i="0" err="1">
                          <a:solidFill>
                            <a:srgbClr val="000000"/>
                          </a:solidFill>
                          <a:effectLst/>
                          <a:latin typeface="Neue Haas Grotesk Text Pro"/>
                        </a:rPr>
                        <a:t>pot</a:t>
                      </a:r>
                      <a:r>
                        <a:rPr lang="es-ES" sz="1100" b="0" i="0">
                          <a:solidFill>
                            <a:srgbClr val="000000"/>
                          </a:solidFill>
                          <a:effectLst/>
                          <a:latin typeface="Neue Haas Grotesk Text Pro"/>
                        </a:rPr>
                        <a:t> </a:t>
                      </a:r>
                      <a:r>
                        <a:rPr lang="es-ES" sz="1100" b="0" i="0" err="1">
                          <a:solidFill>
                            <a:srgbClr val="000000"/>
                          </a:solidFill>
                          <a:effectLst/>
                          <a:latin typeface="Neue Haas Grotesk Text Pro"/>
                        </a:rPr>
                        <a:t>accedir</a:t>
                      </a:r>
                      <a:r>
                        <a:rPr lang="es-ES" sz="1100" b="0" i="0">
                          <a:solidFill>
                            <a:srgbClr val="000000"/>
                          </a:solidFill>
                          <a:effectLst/>
                          <a:latin typeface="Neue Haas Grotesk Text Pro"/>
                        </a:rPr>
                        <a:t> al </a:t>
                      </a:r>
                      <a:r>
                        <a:rPr lang="es-ES" sz="1100" b="0" i="0" err="1">
                          <a:solidFill>
                            <a:srgbClr val="000000"/>
                          </a:solidFill>
                          <a:effectLst/>
                          <a:latin typeface="Neue Haas Grotesk Text Pro"/>
                        </a:rPr>
                        <a:t>llistat</a:t>
                      </a:r>
                      <a:r>
                        <a:rPr lang="es-ES" sz="1100" b="0" i="0">
                          <a:solidFill>
                            <a:srgbClr val="000000"/>
                          </a:solidFill>
                          <a:effectLst/>
                          <a:latin typeface="Neue Haas Grotesk Text Pro"/>
                        </a:rPr>
                        <a:t> </a:t>
                      </a:r>
                      <a:r>
                        <a:rPr lang="es-ES" sz="1100" b="0" i="0" err="1">
                          <a:solidFill>
                            <a:srgbClr val="000000"/>
                          </a:solidFill>
                          <a:effectLst/>
                          <a:latin typeface="Neue Haas Grotesk Text Pro"/>
                        </a:rPr>
                        <a:t>complet</a:t>
                      </a:r>
                      <a:r>
                        <a:rPr lang="es-ES" sz="1100" b="0" i="0">
                          <a:solidFill>
                            <a:srgbClr val="000000"/>
                          </a:solidFill>
                          <a:effectLst/>
                          <a:latin typeface="Neue Haas Grotesk Text Pro"/>
                        </a:rPr>
                        <a:t> de </a:t>
                      </a:r>
                      <a:r>
                        <a:rPr lang="es-ES" sz="1100" b="0" i="0" err="1">
                          <a:solidFill>
                            <a:srgbClr val="000000"/>
                          </a:solidFill>
                          <a:effectLst/>
                          <a:latin typeface="Neue Haas Grotesk Text Pro"/>
                        </a:rPr>
                        <a:t>plats</a:t>
                      </a:r>
                      <a:r>
                        <a:rPr lang="es-ES" sz="1100" b="0" i="0">
                          <a:solidFill>
                            <a:srgbClr val="000000"/>
                          </a:solidFill>
                          <a:effectLst/>
                          <a:latin typeface="Neue Haas Grotesk Text Pro"/>
                        </a:rPr>
                        <a:t> que </a:t>
                      </a:r>
                      <a:r>
                        <a:rPr lang="es-ES" sz="1100" b="0" i="0" err="1">
                          <a:solidFill>
                            <a:srgbClr val="000000"/>
                          </a:solidFill>
                          <a:effectLst/>
                          <a:latin typeface="Neue Haas Grotesk Text Pro"/>
                        </a:rPr>
                        <a:t>ofereix</a:t>
                      </a:r>
                      <a:r>
                        <a:rPr lang="es-ES" sz="1100" b="0" i="0">
                          <a:solidFill>
                            <a:srgbClr val="000000"/>
                          </a:solidFill>
                          <a:effectLst/>
                          <a:latin typeface="Neue Haas Grotesk Text Pro"/>
                        </a:rPr>
                        <a:t> un </a:t>
                      </a:r>
                      <a:r>
                        <a:rPr lang="es-ES" sz="1100" b="0" i="0" err="1">
                          <a:solidFill>
                            <a:srgbClr val="000000"/>
                          </a:solidFill>
                          <a:effectLst/>
                          <a:latin typeface="Neue Haas Grotesk Text Pro"/>
                        </a:rPr>
                        <a:t>cuiner</a:t>
                      </a:r>
                      <a:r>
                        <a:rPr lang="es-ES" sz="1100" b="0" i="0">
                          <a:solidFill>
                            <a:srgbClr val="000000"/>
                          </a:solidFill>
                          <a:effectLst/>
                          <a:latin typeface="Neue Haas Grotesk Text Pro"/>
                        </a:rPr>
                        <a:t> </a:t>
                      </a:r>
                      <a:r>
                        <a:rPr lang="es-ES" sz="1100" b="0" i="0" err="1">
                          <a:solidFill>
                            <a:srgbClr val="000000"/>
                          </a:solidFill>
                          <a:effectLst/>
                          <a:latin typeface="Neue Haas Grotesk Text Pro"/>
                        </a:rPr>
                        <a:t>concret</a:t>
                      </a:r>
                      <a:r>
                        <a:rPr lang="es-ES" sz="1100" b="0" i="0">
                          <a:solidFill>
                            <a:srgbClr val="000000"/>
                          </a:solidFill>
                          <a:effectLst/>
                          <a:latin typeface="Neue Haas Grotesk Text Pro"/>
                        </a:rPr>
                        <a:t> (RF-02-03).</a:t>
                      </a: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613164356"/>
                  </a:ext>
                </a:extLst>
              </a:tr>
              <a:tr h="379012">
                <a:tc>
                  <a:txBody>
                    <a:bodyPr/>
                    <a:lstStyle/>
                    <a:p>
                      <a:pPr algn="r" fontAlgn="base">
                        <a:lnSpc>
                          <a:spcPts val="1350"/>
                        </a:lnSpc>
                        <a:buNone/>
                      </a:pPr>
                      <a:r>
                        <a:rPr lang="ca-ES" sz="1100" b="1" i="0">
                          <a:solidFill>
                            <a:srgbClr val="000000"/>
                          </a:solidFill>
                          <a:effectLst/>
                          <a:latin typeface="Neue Haas Grotesk Text Pro"/>
                        </a:rPr>
                        <a:t>Fluxos alternatius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a:solidFill>
                            <a:srgbClr val="000000"/>
                          </a:solidFill>
                          <a:effectLst/>
                          <a:latin typeface="Neue Haas Grotesk Text Pro"/>
                        </a:rPr>
                        <a:t>1a. El sistema no pot obtenir la localitzacio del client: e</a:t>
                      </a:r>
                      <a:r>
                        <a:rPr lang="ca-ES" sz="1100" b="0" i="0">
                          <a:solidFill>
                            <a:srgbClr val="000000"/>
                          </a:solidFill>
                          <a:effectLst/>
                          <a:latin typeface="Neue Haas Grotesk Text Pro"/>
                        </a:rPr>
                        <a:t>s mostra un missatge d'error i no es mostra el llistat (RNF-03-01).</a:t>
                      </a:r>
                      <a:endParaRPr lang="en-U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580589856"/>
                  </a:ext>
                </a:extLst>
              </a:tr>
              <a:tr h="231464">
                <a:tc>
                  <a:txBody>
                    <a:bodyPr/>
                    <a:lstStyle/>
                    <a:p>
                      <a:pPr algn="r" fontAlgn="base">
                        <a:lnSpc>
                          <a:spcPts val="1350"/>
                        </a:lnSpc>
                        <a:buNone/>
                      </a:pPr>
                      <a:r>
                        <a:rPr lang="ca-ES" sz="1100" b="1" i="0">
                          <a:solidFill>
                            <a:srgbClr val="000000"/>
                          </a:solidFill>
                          <a:effectLst/>
                          <a:latin typeface="Neue Haas Grotesk Text Pro"/>
                        </a:rPr>
                        <a:t>Postcondició</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077094836"/>
                  </a:ext>
                </a:extLst>
              </a:tr>
              <a:tr h="231464">
                <a:tc>
                  <a:txBody>
                    <a:bodyPr/>
                    <a:lstStyle/>
                    <a:p>
                      <a:pPr algn="r" fontAlgn="base">
                        <a:lnSpc>
                          <a:spcPts val="1350"/>
                        </a:lnSpc>
                        <a:buNone/>
                      </a:pPr>
                      <a:r>
                        <a:rPr lang="ca-ES" sz="1100" b="1" i="0">
                          <a:solidFill>
                            <a:srgbClr val="000000"/>
                          </a:solidFill>
                          <a:effectLst/>
                          <a:latin typeface="Neue Haas Grotesk Text Pro"/>
                        </a:rPr>
                        <a:t>Requeriments no funcionals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RNF-03-01 (API Google Maps per coordenades), RNF-00-06 (disseny responsive), RNF-00-07 (interfície intuïtiva)</a:t>
                      </a:r>
                      <a:endParaRPr lang="en-U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52686670"/>
                  </a:ext>
                </a:extLst>
              </a:tr>
              <a:tr h="231464">
                <a:tc>
                  <a:txBody>
                    <a:bodyPr/>
                    <a:lstStyle/>
                    <a:p>
                      <a:pPr algn="r" fontAlgn="base">
                        <a:lnSpc>
                          <a:spcPts val="1350"/>
                        </a:lnSpc>
                        <a:buNone/>
                      </a:pPr>
                      <a:r>
                        <a:rPr lang="ca-ES" sz="1100" b="1" i="0">
                          <a:solidFill>
                            <a:srgbClr val="000000"/>
                          </a:solidFill>
                          <a:effectLst/>
                          <a:latin typeface="Neue Haas Grotesk Text Pro"/>
                        </a:rPr>
                        <a:t>Prioritat</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Alta</a:t>
                      </a:r>
                      <a:endParaRPr lang="en-U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23329259"/>
                  </a:ext>
                </a:extLst>
              </a:tr>
              <a:tr h="231464">
                <a:tc>
                  <a:txBody>
                    <a:bodyPr/>
                    <a:lstStyle/>
                    <a:p>
                      <a:pPr algn="r" fontAlgn="base">
                        <a:lnSpc>
                          <a:spcPts val="1350"/>
                        </a:lnSpc>
                        <a:buNone/>
                      </a:pPr>
                      <a:r>
                        <a:rPr lang="ca-ES" sz="1100" b="1" i="0">
                          <a:solidFill>
                            <a:srgbClr val="000000"/>
                          </a:solidFill>
                          <a:effectLst/>
                          <a:latin typeface="Neue Haas Grotesk Text Pro"/>
                        </a:rPr>
                        <a:t>Comentaris</a:t>
                      </a:r>
                      <a:endParaRPr lang="ca-ES" sz="1100" b="0" i="0">
                        <a:solidFill>
                          <a:srgbClr val="000000"/>
                        </a:solidFill>
                        <a:effectLst/>
                        <a:latin typeface="Neue Haas Grotesk Text Pro"/>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33837" marR="33837" marT="34809" marB="3480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942475317"/>
                  </a:ext>
                </a:extLst>
              </a:tr>
            </a:tbl>
          </a:graphicData>
        </a:graphic>
      </p:graphicFrame>
    </p:spTree>
    <p:extLst>
      <p:ext uri="{BB962C8B-B14F-4D97-AF65-F5344CB8AC3E}">
        <p14:creationId xmlns:p14="http://schemas.microsoft.com/office/powerpoint/2010/main" val="2814593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12831D4-7A99-BE9A-D281-599DDA5C486E}"/>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1E7BCE46-A1AC-264D-F344-8D59D57DC99E}"/>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33" name="Rectangle 3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3D9F36CF-1E29-9B88-7111-5B51D51FD85E}"/>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23</a:t>
            </a:fld>
            <a:endParaRPr lang="en-US">
              <a:solidFill>
                <a:schemeClr val="tx2">
                  <a:lumMod val="50000"/>
                  <a:lumOff val="50000"/>
                </a:schemeClr>
              </a:solidFill>
            </a:endParaRPr>
          </a:p>
        </p:txBody>
      </p:sp>
      <p:graphicFrame>
        <p:nvGraphicFramePr>
          <p:cNvPr id="6" name="Taula 5">
            <a:extLst>
              <a:ext uri="{FF2B5EF4-FFF2-40B4-BE49-F238E27FC236}">
                <a16:creationId xmlns:a16="http://schemas.microsoft.com/office/drawing/2014/main" id="{354B25BD-2BE2-580F-0F27-17DDCE050521}"/>
              </a:ext>
            </a:extLst>
          </p:cNvPr>
          <p:cNvGraphicFramePr>
            <a:graphicFrameLocks noGrp="1"/>
          </p:cNvGraphicFramePr>
          <p:nvPr>
            <p:extLst>
              <p:ext uri="{D42A27DB-BD31-4B8C-83A1-F6EECF244321}">
                <p14:modId xmlns:p14="http://schemas.microsoft.com/office/powerpoint/2010/main" val="3938023801"/>
              </p:ext>
            </p:extLst>
          </p:nvPr>
        </p:nvGraphicFramePr>
        <p:xfrm>
          <a:off x="1611766" y="2091095"/>
          <a:ext cx="8971936" cy="4356297"/>
        </p:xfrm>
        <a:graphic>
          <a:graphicData uri="http://schemas.openxmlformats.org/drawingml/2006/table">
            <a:tbl>
              <a:tblPr firstRow="1" bandRow="1">
                <a:tableStyleId>{5C22544A-7EE6-4342-B048-85BDC9FD1C3A}</a:tableStyleId>
              </a:tblPr>
              <a:tblGrid>
                <a:gridCol w="2700370">
                  <a:extLst>
                    <a:ext uri="{9D8B030D-6E8A-4147-A177-3AD203B41FA5}">
                      <a16:colId xmlns:a16="http://schemas.microsoft.com/office/drawing/2014/main" val="3318512013"/>
                    </a:ext>
                  </a:extLst>
                </a:gridCol>
                <a:gridCol w="1761564">
                  <a:extLst>
                    <a:ext uri="{9D8B030D-6E8A-4147-A177-3AD203B41FA5}">
                      <a16:colId xmlns:a16="http://schemas.microsoft.com/office/drawing/2014/main" val="4092139291"/>
                    </a:ext>
                  </a:extLst>
                </a:gridCol>
                <a:gridCol w="1909378">
                  <a:extLst>
                    <a:ext uri="{9D8B030D-6E8A-4147-A177-3AD203B41FA5}">
                      <a16:colId xmlns:a16="http://schemas.microsoft.com/office/drawing/2014/main" val="3088345324"/>
                    </a:ext>
                  </a:extLst>
                </a:gridCol>
                <a:gridCol w="2600624">
                  <a:extLst>
                    <a:ext uri="{9D8B030D-6E8A-4147-A177-3AD203B41FA5}">
                      <a16:colId xmlns:a16="http://schemas.microsoft.com/office/drawing/2014/main" val="3566200006"/>
                    </a:ext>
                  </a:extLst>
                </a:gridCol>
              </a:tblGrid>
              <a:tr h="246944">
                <a:tc>
                  <a:txBody>
                    <a:bodyPr/>
                    <a:lstStyle/>
                    <a:p>
                      <a:pPr algn="r" fontAlgn="base">
                        <a:lnSpc>
                          <a:spcPts val="1350"/>
                        </a:lnSpc>
                        <a:buNone/>
                      </a:pPr>
                      <a:r>
                        <a:rPr lang="ca-ES" sz="1100" b="1" i="0">
                          <a:solidFill>
                            <a:srgbClr val="FFFFFF"/>
                          </a:solidFill>
                          <a:effectLst/>
                          <a:latin typeface="Neue Haas Grotesk Text Pro"/>
                        </a:rPr>
                        <a:t>CAS D’ÚS: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gridSpan="3">
                  <a:txBody>
                    <a:bodyPr/>
                    <a:lstStyle/>
                    <a:p>
                      <a:pPr algn="l" fontAlgn="base">
                        <a:lnSpc>
                          <a:spcPts val="1350"/>
                        </a:lnSpc>
                        <a:buNone/>
                      </a:pPr>
                      <a:r>
                        <a:rPr lang="ca-ES" sz="1100" b="0" i="0" u="none" strike="noStrike">
                          <a:solidFill>
                            <a:srgbClr val="FFFFFF"/>
                          </a:solidFill>
                          <a:effectLst/>
                          <a:latin typeface="Aptos"/>
                        </a:rPr>
                        <a:t>Reservar comanda per quan el cuiner estigui disponible</a:t>
                      </a:r>
                      <a:endParaRPr lang="en-US" sz="1100" b="0" i="0">
                        <a:solidFill>
                          <a:srgbClr val="000000"/>
                        </a:solidFill>
                        <a:effectLst/>
                        <a:latin typeface="Aptos"/>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984534333"/>
                  </a:ext>
                </a:extLst>
              </a:tr>
              <a:tr h="249295">
                <a:tc>
                  <a:txBody>
                    <a:bodyPr/>
                    <a:lstStyle/>
                    <a:p>
                      <a:pPr algn="r" fontAlgn="base">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1.0</a:t>
                      </a: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r" fontAlgn="base">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16/05/2026</a:t>
                      </a: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1406890785"/>
                  </a:ext>
                </a:extLst>
              </a:tr>
              <a:tr h="250262">
                <a:tc>
                  <a:txBody>
                    <a:bodyPr/>
                    <a:lstStyle/>
                    <a:p>
                      <a:pPr algn="r" fontAlgn="base">
                        <a:lnSpc>
                          <a:spcPts val="1350"/>
                        </a:lnSpc>
                        <a:buNone/>
                      </a:pPr>
                      <a:r>
                        <a:rPr lang="ca-ES" sz="1100" b="1" i="0">
                          <a:solidFill>
                            <a:srgbClr val="000000"/>
                          </a:solidFill>
                          <a:effectLst/>
                          <a:latin typeface="Neue Haas Grotesk Text Pro"/>
                        </a:rPr>
                        <a:t>Autors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lvl="0" algn="l">
                        <a:lnSpc>
                          <a:spcPct val="100000"/>
                        </a:lnSpc>
                        <a:spcBef>
                          <a:spcPts val="0"/>
                        </a:spcBef>
                        <a:spcAft>
                          <a:spcPts val="0"/>
                        </a:spcAft>
                        <a:buNone/>
                      </a:pPr>
                      <a:r>
                        <a:rPr lang="ca-ES" sz="1100" b="0" i="0" u="none" strike="noStrike" noProof="0">
                          <a:solidFill>
                            <a:srgbClr val="000000"/>
                          </a:solidFill>
                          <a:effectLst/>
                          <a:latin typeface="Neue Haas Grotesk Text Pro"/>
                        </a:rPr>
                        <a:t>Enric, Blay, Maria i Neus</a:t>
                      </a: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795021537"/>
                  </a:ext>
                </a:extLst>
              </a:tr>
              <a:tr h="399763">
                <a:tc>
                  <a:txBody>
                    <a:bodyPr/>
                    <a:lstStyle/>
                    <a:p>
                      <a:pPr algn="r" fontAlgn="base">
                        <a:lnSpc>
                          <a:spcPts val="1350"/>
                        </a:lnSpc>
                        <a:buNone/>
                      </a:pPr>
                      <a:r>
                        <a:rPr lang="ca-ES" sz="1100" b="1" i="0">
                          <a:solidFill>
                            <a:srgbClr val="000000"/>
                          </a:solidFill>
                          <a:effectLst/>
                          <a:latin typeface="Neue Haas Grotesk Text Pro"/>
                        </a:rPr>
                        <a:t>Descripció</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Aquest cas d’ús descriu com els clients poden reservar una comanda per a una hora futura en la qual el cuiner estarà disponible (quan el cuiner apareix com a "no disponible" en el llistat).</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656739839"/>
                  </a:ext>
                </a:extLst>
              </a:tr>
              <a:tr h="250262">
                <a:tc>
                  <a:txBody>
                    <a:bodyPr/>
                    <a:lstStyle/>
                    <a:p>
                      <a:pPr algn="r" fontAlgn="base">
                        <a:lnSpc>
                          <a:spcPts val="1350"/>
                        </a:lnSpc>
                        <a:buNone/>
                      </a:pPr>
                      <a:r>
                        <a:rPr lang="ca-ES" sz="1100" b="1" i="0">
                          <a:solidFill>
                            <a:srgbClr val="000000"/>
                          </a:solidFill>
                          <a:effectLst/>
                          <a:latin typeface="Neue Haas Grotesk Text Pro"/>
                        </a:rPr>
                        <a:t>Actors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Client</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795576080"/>
                  </a:ext>
                </a:extLst>
              </a:tr>
              <a:tr h="399763">
                <a:tc>
                  <a:txBody>
                    <a:bodyPr/>
                    <a:lstStyle/>
                    <a:p>
                      <a:pPr algn="r" fontAlgn="base">
                        <a:lnSpc>
                          <a:spcPts val="1350"/>
                        </a:lnSpc>
                        <a:buNone/>
                      </a:pPr>
                      <a:r>
                        <a:rPr lang="ca-ES" sz="1100" b="1" i="0">
                          <a:solidFill>
                            <a:srgbClr val="000000"/>
                          </a:solidFill>
                          <a:effectLst/>
                          <a:latin typeface="Neue Haas Grotesk Text Pro"/>
                        </a:rPr>
                        <a:t>Precondició</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El client vol seleccionar un cuiner que actualment no està disponible però ha indicat una hora prevista de disponibilitat.</a:t>
                      </a:r>
                      <a:endParaRPr lang="es-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14701572"/>
                  </a:ext>
                </a:extLst>
              </a:tr>
              <a:tr h="753202">
                <a:tc>
                  <a:txBody>
                    <a:bodyPr/>
                    <a:lstStyle/>
                    <a:p>
                      <a:pPr algn="r" fontAlgn="base">
                        <a:lnSpc>
                          <a:spcPts val="1350"/>
                        </a:lnSpc>
                        <a:buNone/>
                      </a:pPr>
                      <a:r>
                        <a:rPr lang="ca-ES" sz="1100" b="1" i="0">
                          <a:solidFill>
                            <a:srgbClr val="000000"/>
                          </a:solidFill>
                          <a:effectLst/>
                          <a:latin typeface="Neue Haas Grotesk Text Pro"/>
                        </a:rPr>
                        <a:t>Flux principal</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visualitza el llistat de cuiners.</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Selecciona un cuiner que apareix com a "no disponible" amb hora prevista de retorn.</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mostra l'hora de disponibilitat indicada pel cuiner.</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tria fer una reserva per aquella hora.</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crea una comanda en estat "reservada".</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440664648"/>
                  </a:ext>
                </a:extLst>
              </a:tr>
              <a:tr h="250262">
                <a:tc>
                  <a:txBody>
                    <a:bodyPr/>
                    <a:lstStyle/>
                    <a:p>
                      <a:pPr algn="r" fontAlgn="base">
                        <a:lnSpc>
                          <a:spcPts val="1350"/>
                        </a:lnSpc>
                        <a:buNone/>
                      </a:pPr>
                      <a:r>
                        <a:rPr lang="ca-ES" sz="1100" b="1" i="0">
                          <a:solidFill>
                            <a:srgbClr val="000000"/>
                          </a:solidFill>
                          <a:effectLst/>
                          <a:latin typeface="Neue Haas Grotesk Text Pro"/>
                        </a:rPr>
                        <a:t>Subfluxos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249167067"/>
                  </a:ext>
                </a:extLst>
              </a:tr>
              <a:tr h="250262">
                <a:tc>
                  <a:txBody>
                    <a:bodyPr/>
                    <a:lstStyle/>
                    <a:p>
                      <a:pPr algn="r" fontAlgn="base">
                        <a:lnSpc>
                          <a:spcPts val="1350"/>
                        </a:lnSpc>
                        <a:buNone/>
                      </a:pPr>
                      <a:r>
                        <a:rPr lang="ca-ES" sz="1100" b="1" i="0">
                          <a:solidFill>
                            <a:srgbClr val="000000"/>
                          </a:solidFill>
                          <a:effectLst/>
                          <a:latin typeface="Neue Haas Grotesk Text Pro"/>
                        </a:rPr>
                        <a:t>Fluxos alternatius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714757270"/>
                  </a:ext>
                </a:extLst>
              </a:tr>
              <a:tr h="399763">
                <a:tc>
                  <a:txBody>
                    <a:bodyPr/>
                    <a:lstStyle/>
                    <a:p>
                      <a:pPr algn="r" fontAlgn="base">
                        <a:lnSpc>
                          <a:spcPts val="1350"/>
                        </a:lnSpc>
                        <a:buNone/>
                      </a:pPr>
                      <a:r>
                        <a:rPr lang="ca-ES" sz="1100" b="1" i="0">
                          <a:solidFill>
                            <a:srgbClr val="000000"/>
                          </a:solidFill>
                          <a:effectLst/>
                          <a:latin typeface="Neue Haas Grotesk Text Pro"/>
                        </a:rPr>
                        <a:t>Postcondició</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La comanda queda registrada com a reserva per l'horari indicat. Quan arriba l'hora, passa a ser una comanda activa (si no supera el límit de 3 actives).</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13123773"/>
                  </a:ext>
                </a:extLst>
              </a:tr>
              <a:tr h="250262">
                <a:tc>
                  <a:txBody>
                    <a:bodyPr/>
                    <a:lstStyle/>
                    <a:p>
                      <a:pPr algn="r" fontAlgn="base">
                        <a:lnSpc>
                          <a:spcPts val="1350"/>
                        </a:lnSpc>
                        <a:buNone/>
                      </a:pPr>
                      <a:r>
                        <a:rPr lang="ca-ES" sz="1100" b="1" i="0">
                          <a:solidFill>
                            <a:srgbClr val="000000"/>
                          </a:solidFill>
                          <a:effectLst/>
                          <a:latin typeface="Neue Haas Grotesk Text Pro"/>
                        </a:rPr>
                        <a:t>Requeriments no funcionals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R</a:t>
                      </a:r>
                      <a:r>
                        <a:rPr lang="ca-ES" sz="1100" b="0" i="0" u="none" strike="noStrike">
                          <a:solidFill>
                            <a:srgbClr val="000000"/>
                          </a:solidFill>
                          <a:effectLst/>
                          <a:latin typeface="Neue Haas Grotesk Text Pro"/>
                        </a:rPr>
                        <a:t>NF-00-07 (interfície intuïtiva i amb claredat)</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548463768"/>
                  </a:ext>
                </a:extLst>
              </a:tr>
              <a:tr h="250262">
                <a:tc>
                  <a:txBody>
                    <a:bodyPr/>
                    <a:lstStyle/>
                    <a:p>
                      <a:pPr algn="r" fontAlgn="base">
                        <a:lnSpc>
                          <a:spcPts val="1350"/>
                        </a:lnSpc>
                        <a:buNone/>
                      </a:pPr>
                      <a:r>
                        <a:rPr lang="ca-ES" sz="1100" b="1" i="0">
                          <a:solidFill>
                            <a:srgbClr val="000000"/>
                          </a:solidFill>
                          <a:effectLst/>
                          <a:latin typeface="Neue Haas Grotesk Text Pro"/>
                        </a:rPr>
                        <a:t>Prioritat</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Normal</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40275062"/>
                  </a:ext>
                </a:extLst>
              </a:tr>
              <a:tr h="250262">
                <a:tc>
                  <a:txBody>
                    <a:bodyPr/>
                    <a:lstStyle/>
                    <a:p>
                      <a:pPr algn="r" fontAlgn="base">
                        <a:lnSpc>
                          <a:spcPts val="1350"/>
                        </a:lnSpc>
                        <a:buNone/>
                      </a:pPr>
                      <a:r>
                        <a:rPr lang="ca-ES" sz="1100" b="1" i="0">
                          <a:solidFill>
                            <a:srgbClr val="000000"/>
                          </a:solidFill>
                          <a:effectLst/>
                          <a:latin typeface="Neue Haas Grotesk Text Pro"/>
                        </a:rPr>
                        <a:t>Comentaris</a:t>
                      </a:r>
                      <a:endParaRPr lang="ca-E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Aquest cas d'ús és una extenció (&lt;&lt;extend&gt;&gt;) de "Fer una comanda".</a:t>
                      </a:r>
                      <a:endParaRPr lang="en-US" sz="1100" b="0" i="0">
                        <a:solidFill>
                          <a:srgbClr val="000000"/>
                        </a:solidFill>
                        <a:effectLst/>
                        <a:latin typeface="Neue Haas Grotesk Text Pro"/>
                      </a:endParaRPr>
                    </a:p>
                  </a:txBody>
                  <a:tcPr marL="37612" marR="37612" marT="38692" marB="3869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57692427"/>
                  </a:ext>
                </a:extLst>
              </a:tr>
            </a:tbl>
          </a:graphicData>
        </a:graphic>
      </p:graphicFrame>
    </p:spTree>
    <p:extLst>
      <p:ext uri="{BB962C8B-B14F-4D97-AF65-F5344CB8AC3E}">
        <p14:creationId xmlns:p14="http://schemas.microsoft.com/office/powerpoint/2010/main" val="4081562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146207-E149-0EFF-CF2C-1F050962DDAF}"/>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4" name="Rectangle 4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6" name="Rectangle 4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D7EC35E5-00D8-D923-D7BA-BF0BD6721B86}"/>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48" name="Rectangle 4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7BEB07C8-EC57-0175-1979-0BD381A96775}"/>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24</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7D1301E6-0054-3514-5B45-F4D971DFE593}"/>
              </a:ext>
            </a:extLst>
          </p:cNvPr>
          <p:cNvGraphicFramePr>
            <a:graphicFrameLocks noGrp="1"/>
          </p:cNvGraphicFramePr>
          <p:nvPr>
            <p:extLst>
              <p:ext uri="{D42A27DB-BD31-4B8C-83A1-F6EECF244321}">
                <p14:modId xmlns:p14="http://schemas.microsoft.com/office/powerpoint/2010/main" val="2041229424"/>
              </p:ext>
            </p:extLst>
          </p:nvPr>
        </p:nvGraphicFramePr>
        <p:xfrm>
          <a:off x="1446447" y="2263623"/>
          <a:ext cx="9302573" cy="4288490"/>
        </p:xfrm>
        <a:graphic>
          <a:graphicData uri="http://schemas.openxmlformats.org/drawingml/2006/table">
            <a:tbl>
              <a:tblPr firstRow="1" bandRow="1">
                <a:tableStyleId>{5C22544A-7EE6-4342-B048-85BDC9FD1C3A}</a:tableStyleId>
              </a:tblPr>
              <a:tblGrid>
                <a:gridCol w="2799885">
                  <a:extLst>
                    <a:ext uri="{9D8B030D-6E8A-4147-A177-3AD203B41FA5}">
                      <a16:colId xmlns:a16="http://schemas.microsoft.com/office/drawing/2014/main" val="324634673"/>
                    </a:ext>
                  </a:extLst>
                </a:gridCol>
                <a:gridCol w="1826482">
                  <a:extLst>
                    <a:ext uri="{9D8B030D-6E8A-4147-A177-3AD203B41FA5}">
                      <a16:colId xmlns:a16="http://schemas.microsoft.com/office/drawing/2014/main" val="97958035"/>
                    </a:ext>
                  </a:extLst>
                </a:gridCol>
                <a:gridCol w="1979743">
                  <a:extLst>
                    <a:ext uri="{9D8B030D-6E8A-4147-A177-3AD203B41FA5}">
                      <a16:colId xmlns:a16="http://schemas.microsoft.com/office/drawing/2014/main" val="1418606878"/>
                    </a:ext>
                  </a:extLst>
                </a:gridCol>
                <a:gridCol w="2696463">
                  <a:extLst>
                    <a:ext uri="{9D8B030D-6E8A-4147-A177-3AD203B41FA5}">
                      <a16:colId xmlns:a16="http://schemas.microsoft.com/office/drawing/2014/main" val="2687137494"/>
                    </a:ext>
                  </a:extLst>
                </a:gridCol>
              </a:tblGrid>
              <a:tr h="261936">
                <a:tc>
                  <a:txBody>
                    <a:bodyPr/>
                    <a:lstStyle/>
                    <a:p>
                      <a:pPr algn="r" fontAlgn="base">
                        <a:lnSpc>
                          <a:spcPts val="1350"/>
                        </a:lnSpc>
                        <a:buNone/>
                      </a:pPr>
                      <a:r>
                        <a:rPr lang="ca-ES" sz="1100" b="1" i="0">
                          <a:solidFill>
                            <a:srgbClr val="FFFFFF"/>
                          </a:solidFill>
                          <a:effectLst/>
                          <a:latin typeface="Neue Haas Grotesk Text Pro"/>
                        </a:rPr>
                        <a:t>CAS D’ÚS: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gridSpan="3">
                  <a:txBody>
                    <a:bodyPr/>
                    <a:lstStyle/>
                    <a:p>
                      <a:pPr algn="l" fontAlgn="base">
                        <a:lnSpc>
                          <a:spcPts val="1350"/>
                        </a:lnSpc>
                        <a:buNone/>
                      </a:pPr>
                      <a:r>
                        <a:rPr lang="ca-ES" sz="1100" b="0" i="0" u="none" strike="noStrike">
                          <a:solidFill>
                            <a:srgbClr val="FFFFFF"/>
                          </a:solidFill>
                          <a:effectLst/>
                          <a:latin typeface="Aptos"/>
                        </a:rPr>
                        <a:t>Fer una comanda (màxim 3 actives)</a:t>
                      </a:r>
                      <a:endParaRPr lang="en-US" sz="1100" b="0" i="0">
                        <a:solidFill>
                          <a:srgbClr val="000000"/>
                        </a:solidFill>
                        <a:effectLst/>
                        <a:latin typeface="Aptos"/>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92106830"/>
                  </a:ext>
                </a:extLst>
              </a:tr>
              <a:tr h="258482">
                <a:tc>
                  <a:txBody>
                    <a:bodyPr/>
                    <a:lstStyle/>
                    <a:p>
                      <a:pPr algn="r" fontAlgn="base">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1.0</a:t>
                      </a: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r" fontAlgn="base">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16/05/2026</a:t>
                      </a: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2718418026"/>
                  </a:ext>
                </a:extLst>
              </a:tr>
              <a:tr h="259485">
                <a:tc>
                  <a:txBody>
                    <a:bodyPr/>
                    <a:lstStyle/>
                    <a:p>
                      <a:pPr algn="r" fontAlgn="base">
                        <a:lnSpc>
                          <a:spcPts val="1350"/>
                        </a:lnSpc>
                        <a:buNone/>
                      </a:pPr>
                      <a:r>
                        <a:rPr lang="ca-ES" sz="1100" b="1" i="0">
                          <a:solidFill>
                            <a:srgbClr val="000000"/>
                          </a:solidFill>
                          <a:effectLst/>
                          <a:latin typeface="Neue Haas Grotesk Text Pro"/>
                        </a:rPr>
                        <a:t>Autors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lvl="0" algn="l">
                        <a:lnSpc>
                          <a:spcPct val="100000"/>
                        </a:lnSpc>
                        <a:spcBef>
                          <a:spcPts val="0"/>
                        </a:spcBef>
                        <a:spcAft>
                          <a:spcPts val="0"/>
                        </a:spcAft>
                        <a:buNone/>
                      </a:pPr>
                      <a:r>
                        <a:rPr lang="ca-ES" sz="1100" b="0" i="0" u="none" strike="noStrike" noProof="0">
                          <a:solidFill>
                            <a:srgbClr val="000000"/>
                          </a:solidFill>
                          <a:effectLst/>
                          <a:latin typeface="Neue Haas Grotesk Text Pro"/>
                        </a:rPr>
                        <a:t>Enric, Blay, Maria i Neus</a:t>
                      </a: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330114893"/>
                  </a:ext>
                </a:extLst>
              </a:tr>
              <a:tr h="414495">
                <a:tc>
                  <a:txBody>
                    <a:bodyPr/>
                    <a:lstStyle/>
                    <a:p>
                      <a:pPr algn="r" fontAlgn="base">
                        <a:lnSpc>
                          <a:spcPts val="1350"/>
                        </a:lnSpc>
                        <a:buNone/>
                      </a:pPr>
                      <a:r>
                        <a:rPr lang="ca-ES" sz="1100" b="1" i="0">
                          <a:solidFill>
                            <a:srgbClr val="000000"/>
                          </a:solidFill>
                          <a:effectLst/>
                          <a:latin typeface="Neue Haas Grotesk Text Pro"/>
                        </a:rPr>
                        <a:t>Descripció</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Aquest cas d’ús descriu com els clients poden realitzar una comanda seleccionant plats d'un cuiner. El sistema impedeix a un mateix client tenir més de 3 comandes actives simultàniament.</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3940246"/>
                  </a:ext>
                </a:extLst>
              </a:tr>
              <a:tr h="259485">
                <a:tc>
                  <a:txBody>
                    <a:bodyPr/>
                    <a:lstStyle/>
                    <a:p>
                      <a:pPr algn="r" fontAlgn="base">
                        <a:lnSpc>
                          <a:spcPts val="1350"/>
                        </a:lnSpc>
                        <a:buNone/>
                      </a:pPr>
                      <a:r>
                        <a:rPr lang="ca-ES" sz="1100" b="1" i="0">
                          <a:solidFill>
                            <a:srgbClr val="000000"/>
                          </a:solidFill>
                          <a:effectLst/>
                          <a:latin typeface="Neue Haas Grotesk Text Pro"/>
                        </a:rPr>
                        <a:t>Actors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Client</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957073321"/>
                  </a:ext>
                </a:extLst>
              </a:tr>
              <a:tr h="259485">
                <a:tc>
                  <a:txBody>
                    <a:bodyPr/>
                    <a:lstStyle/>
                    <a:p>
                      <a:pPr algn="r" fontAlgn="base">
                        <a:lnSpc>
                          <a:spcPts val="1350"/>
                        </a:lnSpc>
                        <a:buNone/>
                      </a:pPr>
                      <a:r>
                        <a:rPr lang="ca-ES" sz="1100" b="1" i="0">
                          <a:solidFill>
                            <a:srgbClr val="000000"/>
                          </a:solidFill>
                          <a:effectLst/>
                          <a:latin typeface="Neue Haas Grotesk Text Pro"/>
                        </a:rPr>
                        <a:t>Precondició</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El client està registrat i té menys de 3 comandes actives.</a:t>
                      </a:r>
                      <a:endParaRPr lang="es-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91061999"/>
                  </a:ext>
                </a:extLst>
              </a:tr>
              <a:tr h="780959">
                <a:tc>
                  <a:txBody>
                    <a:bodyPr/>
                    <a:lstStyle/>
                    <a:p>
                      <a:pPr algn="r" fontAlgn="base">
                        <a:lnSpc>
                          <a:spcPts val="1350"/>
                        </a:lnSpc>
                        <a:buNone/>
                      </a:pPr>
                      <a:r>
                        <a:rPr lang="ca-ES" sz="1100" b="1" i="0">
                          <a:solidFill>
                            <a:srgbClr val="000000"/>
                          </a:solidFill>
                          <a:effectLst/>
                          <a:latin typeface="Neue Haas Grotesk Text Pro"/>
                        </a:rPr>
                        <a:t>Flux principal</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selecciona un cuiner i afageix plats/meús a la comanda.</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verifica que el client no supero el límit de 3 comandes actives.</a:t>
                      </a: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calcula el cost d'enviament.</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confirma la comanda.</a:t>
                      </a: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registra la comanda amb estat "activa".</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83783746"/>
                  </a:ext>
                </a:extLst>
              </a:tr>
              <a:tr h="259485">
                <a:tc>
                  <a:txBody>
                    <a:bodyPr/>
                    <a:lstStyle/>
                    <a:p>
                      <a:pPr algn="r" fontAlgn="base">
                        <a:lnSpc>
                          <a:spcPts val="1350"/>
                        </a:lnSpc>
                        <a:buNone/>
                      </a:pPr>
                      <a:r>
                        <a:rPr lang="ca-ES" sz="1100" b="1" i="0">
                          <a:solidFill>
                            <a:srgbClr val="000000"/>
                          </a:solidFill>
                          <a:effectLst/>
                          <a:latin typeface="Neue Haas Grotesk Text Pro"/>
                        </a:rPr>
                        <a:t>Subfluxos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es-ES" sz="1100" b="0" i="0">
                          <a:solidFill>
                            <a:srgbClr val="000000"/>
                          </a:solidFill>
                          <a:effectLst/>
                          <a:latin typeface="Neue Haas Grotesk Text Pro"/>
                        </a:rPr>
                        <a:t>Si el </a:t>
                      </a:r>
                      <a:r>
                        <a:rPr lang="es-ES" sz="1100" b="0" i="0" err="1">
                          <a:solidFill>
                            <a:srgbClr val="000000"/>
                          </a:solidFill>
                          <a:effectLst/>
                          <a:latin typeface="Neue Haas Grotesk Text Pro"/>
                        </a:rPr>
                        <a:t>cuiner</a:t>
                      </a:r>
                      <a:r>
                        <a:rPr lang="es-ES" sz="1100" b="0" i="0">
                          <a:solidFill>
                            <a:srgbClr val="000000"/>
                          </a:solidFill>
                          <a:effectLst/>
                          <a:latin typeface="Neue Haas Grotesk Text Pro"/>
                        </a:rPr>
                        <a:t> no </a:t>
                      </a:r>
                      <a:r>
                        <a:rPr lang="es-ES" sz="1100" b="0" i="0" err="1">
                          <a:solidFill>
                            <a:srgbClr val="000000"/>
                          </a:solidFill>
                          <a:effectLst/>
                          <a:latin typeface="Neue Haas Grotesk Text Pro"/>
                        </a:rPr>
                        <a:t>està</a:t>
                      </a:r>
                      <a:r>
                        <a:rPr lang="es-ES" sz="1100" b="0" i="0">
                          <a:solidFill>
                            <a:srgbClr val="000000"/>
                          </a:solidFill>
                          <a:effectLst/>
                          <a:latin typeface="Neue Haas Grotesk Text Pro"/>
                        </a:rPr>
                        <a:t> disponible es </a:t>
                      </a:r>
                      <a:r>
                        <a:rPr lang="es-ES" sz="1100" b="0" i="0" err="1">
                          <a:solidFill>
                            <a:srgbClr val="000000"/>
                          </a:solidFill>
                          <a:effectLst/>
                          <a:latin typeface="Neue Haas Grotesk Text Pro"/>
                        </a:rPr>
                        <a:t>pot</a:t>
                      </a:r>
                      <a:r>
                        <a:rPr lang="es-ES" sz="1100" b="0" i="0">
                          <a:solidFill>
                            <a:srgbClr val="000000"/>
                          </a:solidFill>
                          <a:effectLst/>
                          <a:latin typeface="Neue Haas Grotesk Text Pro"/>
                        </a:rPr>
                        <a:t> "Reservar comanda per </a:t>
                      </a:r>
                      <a:r>
                        <a:rPr lang="es-ES" sz="1100" b="0" i="0" err="1">
                          <a:solidFill>
                            <a:srgbClr val="000000"/>
                          </a:solidFill>
                          <a:effectLst/>
                          <a:latin typeface="Neue Haas Grotesk Text Pro"/>
                        </a:rPr>
                        <a:t>quan</a:t>
                      </a:r>
                      <a:r>
                        <a:rPr lang="es-ES" sz="1100" b="0" i="0">
                          <a:solidFill>
                            <a:srgbClr val="000000"/>
                          </a:solidFill>
                          <a:effectLst/>
                          <a:latin typeface="Neue Haas Grotesk Text Pro"/>
                        </a:rPr>
                        <a:t> el </a:t>
                      </a:r>
                      <a:r>
                        <a:rPr lang="es-ES" sz="1100" b="0" i="0" err="1">
                          <a:solidFill>
                            <a:srgbClr val="000000"/>
                          </a:solidFill>
                          <a:effectLst/>
                          <a:latin typeface="Neue Haas Grotesk Text Pro"/>
                        </a:rPr>
                        <a:t>cuiner</a:t>
                      </a:r>
                      <a:r>
                        <a:rPr lang="es-ES" sz="1100" b="0" i="0">
                          <a:solidFill>
                            <a:srgbClr val="000000"/>
                          </a:solidFill>
                          <a:effectLst/>
                          <a:latin typeface="Neue Haas Grotesk Text Pro"/>
                        </a:rPr>
                        <a:t> </a:t>
                      </a:r>
                      <a:r>
                        <a:rPr lang="es-ES" sz="1100" b="0" i="0" err="1">
                          <a:solidFill>
                            <a:srgbClr val="000000"/>
                          </a:solidFill>
                          <a:effectLst/>
                          <a:latin typeface="Neue Haas Grotesk Text Pro"/>
                        </a:rPr>
                        <a:t>està</a:t>
                      </a:r>
                      <a:r>
                        <a:rPr lang="es-ES" sz="1100" b="0" i="0">
                          <a:solidFill>
                            <a:srgbClr val="000000"/>
                          </a:solidFill>
                          <a:effectLst/>
                          <a:latin typeface="Neue Haas Grotesk Text Pro"/>
                        </a:rPr>
                        <a:t> disponible".</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551694866"/>
                  </a:ext>
                </a:extLst>
              </a:tr>
              <a:tr h="414495">
                <a:tc>
                  <a:txBody>
                    <a:bodyPr/>
                    <a:lstStyle/>
                    <a:p>
                      <a:pPr algn="r" fontAlgn="base">
                        <a:lnSpc>
                          <a:spcPts val="1350"/>
                        </a:lnSpc>
                        <a:buNone/>
                      </a:pPr>
                      <a:r>
                        <a:rPr lang="ca-ES" sz="1100" b="1" i="0">
                          <a:solidFill>
                            <a:srgbClr val="000000"/>
                          </a:solidFill>
                          <a:effectLst/>
                          <a:latin typeface="Neue Haas Grotesk Text Pro"/>
                        </a:rPr>
                        <a:t>Fluxos alternatius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a:solidFill>
                            <a:srgbClr val="000000"/>
                          </a:solidFill>
                          <a:effectLst/>
                          <a:latin typeface="Neue Haas Grotesk Text Pro"/>
                        </a:rPr>
                        <a:t>El client ja té 3 comandes actives: e</a:t>
                      </a:r>
                      <a:r>
                        <a:rPr lang="ca-ES" sz="1100" b="0" i="0" u="none" strike="noStrike">
                          <a:solidFill>
                            <a:srgbClr val="000000"/>
                          </a:solidFill>
                          <a:effectLst/>
                          <a:latin typeface="Neue Haas Grotesk Text Pro"/>
                        </a:rPr>
                        <a:t>l sistema mostra un missatge d'error i no permet la nova comanda (RF-02-06).</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540079227"/>
                  </a:ext>
                </a:extLst>
              </a:tr>
              <a:tr h="259485">
                <a:tc>
                  <a:txBody>
                    <a:bodyPr/>
                    <a:lstStyle/>
                    <a:p>
                      <a:pPr algn="r" fontAlgn="base">
                        <a:lnSpc>
                          <a:spcPts val="1350"/>
                        </a:lnSpc>
                        <a:buNone/>
                      </a:pPr>
                      <a:r>
                        <a:rPr lang="ca-ES" sz="1100" b="1" i="0">
                          <a:solidFill>
                            <a:srgbClr val="000000"/>
                          </a:solidFill>
                          <a:effectLst/>
                          <a:latin typeface="Neue Haas Grotesk Text Pro"/>
                        </a:rPr>
                        <a:t>Postcondició</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La comanda queda registrada com a activa i s'actualitza el límit disponible.</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091156779"/>
                  </a:ext>
                </a:extLst>
              </a:tr>
              <a:tr h="259485">
                <a:tc>
                  <a:txBody>
                    <a:bodyPr/>
                    <a:lstStyle/>
                    <a:p>
                      <a:pPr algn="r" fontAlgn="base">
                        <a:lnSpc>
                          <a:spcPts val="1350"/>
                        </a:lnSpc>
                        <a:buNone/>
                      </a:pPr>
                      <a:r>
                        <a:rPr lang="ca-ES" sz="1100" b="1" i="0">
                          <a:solidFill>
                            <a:srgbClr val="000000"/>
                          </a:solidFill>
                          <a:effectLst/>
                          <a:latin typeface="Neue Haas Grotesk Text Pro"/>
                        </a:rPr>
                        <a:t>Requeriments no funcionals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r>
                        <a:rPr lang="ca-ES" sz="1100">
                          <a:effectLst/>
                        </a:rPr>
                        <a:t>---</a:t>
                      </a: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776849704"/>
                  </a:ext>
                </a:extLst>
              </a:tr>
              <a:tr h="259485">
                <a:tc>
                  <a:txBody>
                    <a:bodyPr/>
                    <a:lstStyle/>
                    <a:p>
                      <a:pPr algn="r" fontAlgn="base">
                        <a:lnSpc>
                          <a:spcPts val="1350"/>
                        </a:lnSpc>
                        <a:buNone/>
                      </a:pPr>
                      <a:r>
                        <a:rPr lang="ca-ES" sz="1100" b="1" i="0">
                          <a:solidFill>
                            <a:srgbClr val="000000"/>
                          </a:solidFill>
                          <a:effectLst/>
                          <a:latin typeface="Neue Haas Grotesk Text Pro"/>
                        </a:rPr>
                        <a:t>Prioritat</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Alta</a:t>
                      </a:r>
                      <a:endParaRPr lang="es-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499446011"/>
                  </a:ext>
                </a:extLst>
              </a:tr>
              <a:tr h="259485">
                <a:tc>
                  <a:txBody>
                    <a:bodyPr/>
                    <a:lstStyle/>
                    <a:p>
                      <a:pPr algn="r" fontAlgn="base">
                        <a:lnSpc>
                          <a:spcPts val="1350"/>
                        </a:lnSpc>
                        <a:buNone/>
                      </a:pPr>
                      <a:r>
                        <a:rPr lang="ca-ES" sz="1100" b="1" i="0">
                          <a:solidFill>
                            <a:srgbClr val="000000"/>
                          </a:solidFill>
                          <a:effectLst/>
                          <a:latin typeface="Neue Haas Grotesk Text Pro"/>
                        </a:rPr>
                        <a:t>Comentaris</a:t>
                      </a:r>
                      <a:endParaRPr lang="ca-E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Inclou (&lt;&lt;</a:t>
                      </a:r>
                      <a:r>
                        <a:rPr lang="ca-ES" sz="1100" b="0" i="0" err="1">
                          <a:solidFill>
                            <a:srgbClr val="000000"/>
                          </a:solidFill>
                          <a:effectLst/>
                          <a:latin typeface="Neue Haas Grotesk Text Pro"/>
                        </a:rPr>
                        <a:t>include</a:t>
                      </a:r>
                      <a:r>
                        <a:rPr lang="ca-ES" sz="1100" b="0" i="0">
                          <a:solidFill>
                            <a:srgbClr val="000000"/>
                          </a:solidFill>
                          <a:effectLst/>
                          <a:latin typeface="Neue Haas Grotesk Text Pro"/>
                        </a:rPr>
                        <a:t>&gt;&gt;) el càlcul del cost d'enviament.</a:t>
                      </a:r>
                      <a:endParaRPr lang="en-US" sz="1100" b="0" i="0">
                        <a:solidFill>
                          <a:srgbClr val="000000"/>
                        </a:solidFill>
                        <a:effectLst/>
                        <a:latin typeface="Neue Haas Grotesk Text Pro"/>
                      </a:endParaRPr>
                    </a:p>
                  </a:txBody>
                  <a:tcPr marL="38998" marR="38998" marT="40118" marB="40118">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93841892"/>
                  </a:ext>
                </a:extLst>
              </a:tr>
            </a:tbl>
          </a:graphicData>
        </a:graphic>
      </p:graphicFrame>
    </p:spTree>
    <p:extLst>
      <p:ext uri="{BB962C8B-B14F-4D97-AF65-F5344CB8AC3E}">
        <p14:creationId xmlns:p14="http://schemas.microsoft.com/office/powerpoint/2010/main" val="3978299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1EA8C61-B297-B352-953E-B7E9D8767C86}"/>
            </a:ext>
          </a:extLst>
        </p:cNvPr>
        <p:cNvGrpSpPr/>
        <p:nvPr/>
      </p:nvGrpSpPr>
      <p:grpSpPr>
        <a:xfrm>
          <a:off x="0" y="0"/>
          <a:ext cx="0" cy="0"/>
          <a:chOff x="0" y="0"/>
          <a:chExt cx="0" cy="0"/>
        </a:xfrm>
      </p:grpSpPr>
      <p:sp>
        <p:nvSpPr>
          <p:cNvPr id="55" name="Rectangle 5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9" name="Rectangle 5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Rectangle 6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4B6665F8-BC00-E5DD-7953-541F82C526FD}"/>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63" name="Rectangle 6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E5535613-8D17-7803-5ABA-713F2FEC764D}"/>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25</a:t>
            </a:fld>
            <a:endParaRPr lang="en-US">
              <a:solidFill>
                <a:schemeClr val="tx2">
                  <a:lumMod val="50000"/>
                  <a:lumOff val="50000"/>
                </a:schemeClr>
              </a:solidFill>
            </a:endParaRPr>
          </a:p>
        </p:txBody>
      </p:sp>
      <p:graphicFrame>
        <p:nvGraphicFramePr>
          <p:cNvPr id="6" name="Taula 5">
            <a:extLst>
              <a:ext uri="{FF2B5EF4-FFF2-40B4-BE49-F238E27FC236}">
                <a16:creationId xmlns:a16="http://schemas.microsoft.com/office/drawing/2014/main" id="{AE8F0DBC-A6D6-3ACC-A24C-78448516D67F}"/>
              </a:ext>
            </a:extLst>
          </p:cNvPr>
          <p:cNvGraphicFramePr>
            <a:graphicFrameLocks noGrp="1"/>
          </p:cNvGraphicFramePr>
          <p:nvPr>
            <p:extLst>
              <p:ext uri="{D42A27DB-BD31-4B8C-83A1-F6EECF244321}">
                <p14:modId xmlns:p14="http://schemas.microsoft.com/office/powerpoint/2010/main" val="4139795073"/>
              </p:ext>
            </p:extLst>
          </p:nvPr>
        </p:nvGraphicFramePr>
        <p:xfrm>
          <a:off x="1761181" y="2249246"/>
          <a:ext cx="8686797" cy="3830438"/>
        </p:xfrm>
        <a:graphic>
          <a:graphicData uri="http://schemas.openxmlformats.org/drawingml/2006/table">
            <a:tbl>
              <a:tblPr firstRow="1" bandRow="1">
                <a:tableStyleId>{5C22544A-7EE6-4342-B048-85BDC9FD1C3A}</a:tableStyleId>
              </a:tblPr>
              <a:tblGrid>
                <a:gridCol w="2614549">
                  <a:extLst>
                    <a:ext uri="{9D8B030D-6E8A-4147-A177-3AD203B41FA5}">
                      <a16:colId xmlns:a16="http://schemas.microsoft.com/office/drawing/2014/main" val="1869462103"/>
                    </a:ext>
                  </a:extLst>
                </a:gridCol>
                <a:gridCol w="1705579">
                  <a:extLst>
                    <a:ext uri="{9D8B030D-6E8A-4147-A177-3AD203B41FA5}">
                      <a16:colId xmlns:a16="http://schemas.microsoft.com/office/drawing/2014/main" val="3653940633"/>
                    </a:ext>
                  </a:extLst>
                </a:gridCol>
                <a:gridCol w="1848696">
                  <a:extLst>
                    <a:ext uri="{9D8B030D-6E8A-4147-A177-3AD203B41FA5}">
                      <a16:colId xmlns:a16="http://schemas.microsoft.com/office/drawing/2014/main" val="3519101625"/>
                    </a:ext>
                  </a:extLst>
                </a:gridCol>
                <a:gridCol w="2517973">
                  <a:extLst>
                    <a:ext uri="{9D8B030D-6E8A-4147-A177-3AD203B41FA5}">
                      <a16:colId xmlns:a16="http://schemas.microsoft.com/office/drawing/2014/main" val="3328342957"/>
                    </a:ext>
                  </a:extLst>
                </a:gridCol>
              </a:tblGrid>
              <a:tr h="244597">
                <a:tc>
                  <a:txBody>
                    <a:bodyPr/>
                    <a:lstStyle/>
                    <a:p>
                      <a:pPr algn="r" fontAlgn="base">
                        <a:lnSpc>
                          <a:spcPts val="1350"/>
                        </a:lnSpc>
                        <a:buNone/>
                      </a:pPr>
                      <a:r>
                        <a:rPr lang="ca-ES" sz="1100" b="1" i="0">
                          <a:solidFill>
                            <a:srgbClr val="FFFFFF"/>
                          </a:solidFill>
                          <a:effectLst/>
                          <a:latin typeface="Neue Haas Grotesk Text Pro"/>
                        </a:rPr>
                        <a:t>CAS D’ÚS: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gridSpan="3">
                  <a:txBody>
                    <a:bodyPr/>
                    <a:lstStyle/>
                    <a:p>
                      <a:pPr algn="l" fontAlgn="base">
                        <a:lnSpc>
                          <a:spcPts val="1350"/>
                        </a:lnSpc>
                        <a:buNone/>
                      </a:pPr>
                      <a:r>
                        <a:rPr lang="ca-ES" sz="1100" b="0" i="0" u="none" strike="noStrike">
                          <a:solidFill>
                            <a:srgbClr val="FFFFFF"/>
                          </a:solidFill>
                          <a:effectLst/>
                          <a:latin typeface="Aptos"/>
                        </a:rPr>
                        <a:t>Veure historial de comandes</a:t>
                      </a:r>
                      <a:endParaRPr lang="en-US" sz="1100" b="0" i="0">
                        <a:solidFill>
                          <a:srgbClr val="000000"/>
                        </a:solidFill>
                        <a:effectLst/>
                        <a:latin typeface="Aptos"/>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79370833"/>
                  </a:ext>
                </a:extLst>
              </a:tr>
              <a:tr h="241371">
                <a:tc>
                  <a:txBody>
                    <a:bodyPr/>
                    <a:lstStyle/>
                    <a:p>
                      <a:pPr algn="r" fontAlgn="base">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1.0</a:t>
                      </a: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r" fontAlgn="base">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16/05/2026</a:t>
                      </a: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597000774"/>
                  </a:ext>
                </a:extLst>
              </a:tr>
              <a:tr h="242307">
                <a:tc>
                  <a:txBody>
                    <a:bodyPr/>
                    <a:lstStyle/>
                    <a:p>
                      <a:pPr algn="r" fontAlgn="base">
                        <a:lnSpc>
                          <a:spcPts val="1350"/>
                        </a:lnSpc>
                        <a:buNone/>
                      </a:pPr>
                      <a:r>
                        <a:rPr lang="ca-ES" sz="1100" b="1" i="0">
                          <a:solidFill>
                            <a:srgbClr val="000000"/>
                          </a:solidFill>
                          <a:effectLst/>
                          <a:latin typeface="Neue Haas Grotesk Text Pro"/>
                        </a:rPr>
                        <a:t>Autors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lvl="0" algn="l">
                        <a:lnSpc>
                          <a:spcPct val="100000"/>
                        </a:lnSpc>
                        <a:spcBef>
                          <a:spcPts val="0"/>
                        </a:spcBef>
                        <a:spcAft>
                          <a:spcPts val="0"/>
                        </a:spcAft>
                        <a:buNone/>
                      </a:pPr>
                      <a:r>
                        <a:rPr lang="ca-ES" sz="1100" b="0" i="0" u="none" strike="noStrike" noProof="0">
                          <a:solidFill>
                            <a:srgbClr val="000000"/>
                          </a:solidFill>
                          <a:effectLst/>
                          <a:latin typeface="Neue Haas Grotesk Text Pro"/>
                        </a:rPr>
                        <a:t>Enric, Blay, Maria i Neus</a:t>
                      </a: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445674443"/>
                  </a:ext>
                </a:extLst>
              </a:tr>
              <a:tr h="387057">
                <a:tc>
                  <a:txBody>
                    <a:bodyPr/>
                    <a:lstStyle/>
                    <a:p>
                      <a:pPr algn="r" fontAlgn="base">
                        <a:lnSpc>
                          <a:spcPts val="1350"/>
                        </a:lnSpc>
                        <a:buNone/>
                      </a:pPr>
                      <a:r>
                        <a:rPr lang="ca-ES" sz="1100" b="1" i="0">
                          <a:solidFill>
                            <a:srgbClr val="000000"/>
                          </a:solidFill>
                          <a:effectLst/>
                          <a:latin typeface="Neue Haas Grotesk Text Pro"/>
                        </a:rPr>
                        <a:t>Descripció</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Aquest cas d’ús descriu com els clients poden consultar el llistat de totes les comandes realitzades anteriorment (historial).</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89095733"/>
                  </a:ext>
                </a:extLst>
              </a:tr>
              <a:tr h="242307">
                <a:tc>
                  <a:txBody>
                    <a:bodyPr/>
                    <a:lstStyle/>
                    <a:p>
                      <a:pPr algn="r" fontAlgn="base">
                        <a:lnSpc>
                          <a:spcPts val="1350"/>
                        </a:lnSpc>
                        <a:buNone/>
                      </a:pPr>
                      <a:r>
                        <a:rPr lang="ca-ES" sz="1100" b="1" i="0">
                          <a:solidFill>
                            <a:srgbClr val="000000"/>
                          </a:solidFill>
                          <a:effectLst/>
                          <a:latin typeface="Neue Haas Grotesk Text Pro"/>
                        </a:rPr>
                        <a:t>Actors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Client</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739561600"/>
                  </a:ext>
                </a:extLst>
              </a:tr>
              <a:tr h="242307">
                <a:tc>
                  <a:txBody>
                    <a:bodyPr/>
                    <a:lstStyle/>
                    <a:p>
                      <a:pPr algn="r" fontAlgn="base">
                        <a:lnSpc>
                          <a:spcPts val="1350"/>
                        </a:lnSpc>
                        <a:buNone/>
                      </a:pPr>
                      <a:r>
                        <a:rPr lang="ca-ES" sz="1100" b="1" i="0">
                          <a:solidFill>
                            <a:srgbClr val="000000"/>
                          </a:solidFill>
                          <a:effectLst/>
                          <a:latin typeface="Neue Haas Grotesk Text Pro"/>
                        </a:rPr>
                        <a:t>Precondició</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El client està registrat.</a:t>
                      </a:r>
                      <a:endParaRPr lang="es-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067055716"/>
                  </a:ext>
                </a:extLst>
              </a:tr>
              <a:tr h="354642">
                <a:tc>
                  <a:txBody>
                    <a:bodyPr/>
                    <a:lstStyle/>
                    <a:p>
                      <a:pPr algn="r" fontAlgn="base">
                        <a:lnSpc>
                          <a:spcPts val="1350"/>
                        </a:lnSpc>
                        <a:buNone/>
                      </a:pPr>
                      <a:r>
                        <a:rPr lang="ca-ES" sz="1100" b="1" i="0">
                          <a:solidFill>
                            <a:srgbClr val="000000"/>
                          </a:solidFill>
                          <a:effectLst/>
                          <a:latin typeface="Neue Haas Grotesk Text Pro"/>
                        </a:rPr>
                        <a:t>Flux principal</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accedeix a la secció "Historial de comandes":</a:t>
                      </a: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recupera i mostra totes les comandes fetes anteriorment.</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141770946"/>
                  </a:ext>
                </a:extLst>
              </a:tr>
              <a:tr h="242307">
                <a:tc>
                  <a:txBody>
                    <a:bodyPr/>
                    <a:lstStyle/>
                    <a:p>
                      <a:pPr algn="r" fontAlgn="base">
                        <a:lnSpc>
                          <a:spcPts val="1350"/>
                        </a:lnSpc>
                        <a:buNone/>
                      </a:pPr>
                      <a:r>
                        <a:rPr lang="ca-ES" sz="1100" b="1" i="0">
                          <a:solidFill>
                            <a:srgbClr val="000000"/>
                          </a:solidFill>
                          <a:effectLst/>
                          <a:latin typeface="Neue Haas Grotesk Text Pro"/>
                        </a:rPr>
                        <a:t>Subfluxos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es-ES" sz="1100" b="0" i="0">
                          <a:solidFill>
                            <a:srgbClr val="000000"/>
                          </a:solidFill>
                          <a:effectLst/>
                          <a:latin typeface="Neue Haas Grotesk Text Pro"/>
                        </a:rPr>
                        <a:t>Des de </a:t>
                      </a:r>
                      <a:r>
                        <a:rPr lang="es-ES" sz="1100" b="0" i="0" err="1">
                          <a:solidFill>
                            <a:srgbClr val="000000"/>
                          </a:solidFill>
                          <a:effectLst/>
                          <a:latin typeface="Neue Haas Grotesk Text Pro"/>
                        </a:rPr>
                        <a:t>l'historial</a:t>
                      </a:r>
                      <a:r>
                        <a:rPr lang="es-ES" sz="1100" b="0" i="0">
                          <a:solidFill>
                            <a:srgbClr val="000000"/>
                          </a:solidFill>
                          <a:effectLst/>
                          <a:latin typeface="Neue Haas Grotesk Text Pro"/>
                        </a:rPr>
                        <a:t>, el </a:t>
                      </a:r>
                      <a:r>
                        <a:rPr lang="es-ES" sz="1100" b="0" i="0" err="1">
                          <a:solidFill>
                            <a:srgbClr val="000000"/>
                          </a:solidFill>
                          <a:effectLst/>
                          <a:latin typeface="Neue Haas Grotesk Text Pro"/>
                        </a:rPr>
                        <a:t>client</a:t>
                      </a:r>
                      <a:r>
                        <a:rPr lang="es-ES" sz="1100" b="0" i="0">
                          <a:solidFill>
                            <a:srgbClr val="000000"/>
                          </a:solidFill>
                          <a:effectLst/>
                          <a:latin typeface="Neue Haas Grotesk Text Pro"/>
                        </a:rPr>
                        <a:t> </a:t>
                      </a:r>
                      <a:r>
                        <a:rPr lang="es-ES" sz="1100" b="0" i="0" err="1">
                          <a:solidFill>
                            <a:srgbClr val="000000"/>
                          </a:solidFill>
                          <a:effectLst/>
                          <a:latin typeface="Neue Haas Grotesk Text Pro"/>
                        </a:rPr>
                        <a:t>pot</a:t>
                      </a:r>
                      <a:r>
                        <a:rPr lang="es-ES" sz="1100" b="0" i="0">
                          <a:solidFill>
                            <a:srgbClr val="000000"/>
                          </a:solidFill>
                          <a:effectLst/>
                          <a:latin typeface="Neue Haas Grotesk Text Pro"/>
                        </a:rPr>
                        <a:t> repetir una comanda.</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55269464"/>
                  </a:ext>
                </a:extLst>
              </a:tr>
              <a:tr h="387057">
                <a:tc>
                  <a:txBody>
                    <a:bodyPr/>
                    <a:lstStyle/>
                    <a:p>
                      <a:pPr algn="r" fontAlgn="base">
                        <a:lnSpc>
                          <a:spcPts val="1350"/>
                        </a:lnSpc>
                        <a:buNone/>
                      </a:pPr>
                      <a:r>
                        <a:rPr lang="ca-ES" sz="1100" b="1" i="0">
                          <a:solidFill>
                            <a:srgbClr val="000000"/>
                          </a:solidFill>
                          <a:effectLst/>
                          <a:latin typeface="Neue Haas Grotesk Text Pro"/>
                        </a:rPr>
                        <a:t>Fluxos alternatius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a:solidFill>
                            <a:srgbClr val="000000"/>
                          </a:solidFill>
                          <a:effectLst/>
                          <a:latin typeface="Neue Haas Grotesk Text Pro"/>
                        </a:rPr>
                        <a:t>2a. No hi ha comandes prèvies: e</a:t>
                      </a:r>
                      <a:r>
                        <a:rPr lang="ca-ES" sz="1100" b="0" i="0" u="none" strike="noStrike">
                          <a:solidFill>
                            <a:srgbClr val="000000"/>
                          </a:solidFill>
                          <a:effectLst/>
                          <a:latin typeface="Neue Haas Grotesk Text Pro"/>
                        </a:rPr>
                        <a:t>l sistema mostra un missatge indicant que l'historial està buit.</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876769786"/>
                  </a:ext>
                </a:extLst>
              </a:tr>
              <a:tr h="242307">
                <a:tc>
                  <a:txBody>
                    <a:bodyPr/>
                    <a:lstStyle/>
                    <a:p>
                      <a:pPr algn="r" fontAlgn="base">
                        <a:lnSpc>
                          <a:spcPts val="1350"/>
                        </a:lnSpc>
                        <a:buNone/>
                      </a:pPr>
                      <a:r>
                        <a:rPr lang="ca-ES" sz="1100" b="1" i="0">
                          <a:solidFill>
                            <a:srgbClr val="000000"/>
                          </a:solidFill>
                          <a:effectLst/>
                          <a:latin typeface="Neue Haas Grotesk Text Pro"/>
                        </a:rPr>
                        <a:t>Postcondició</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354199261"/>
                  </a:ext>
                </a:extLst>
              </a:tr>
              <a:tr h="242307">
                <a:tc>
                  <a:txBody>
                    <a:bodyPr/>
                    <a:lstStyle/>
                    <a:p>
                      <a:pPr algn="r" fontAlgn="base">
                        <a:lnSpc>
                          <a:spcPts val="1350"/>
                        </a:lnSpc>
                        <a:buNone/>
                      </a:pPr>
                      <a:r>
                        <a:rPr lang="ca-ES" sz="1100" b="1" i="0">
                          <a:solidFill>
                            <a:srgbClr val="000000"/>
                          </a:solidFill>
                          <a:effectLst/>
                          <a:latin typeface="Neue Haas Grotesk Text Pro"/>
                        </a:rPr>
                        <a:t>Requeriments no funcionals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strike="noStrike">
                          <a:solidFill>
                            <a:srgbClr val="000000"/>
                          </a:solidFill>
                          <a:effectLst/>
                          <a:latin typeface="Neue Haas Grotesk Text Pro"/>
                        </a:rPr>
                        <a:t>RNF-00-07 (interfície intuïtiva i amb claredat), RNF-09-01 (temps de resposta)</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290200351"/>
                  </a:ext>
                </a:extLst>
              </a:tr>
              <a:tr h="242307">
                <a:tc>
                  <a:txBody>
                    <a:bodyPr/>
                    <a:lstStyle/>
                    <a:p>
                      <a:pPr algn="r" fontAlgn="base">
                        <a:lnSpc>
                          <a:spcPts val="1350"/>
                        </a:lnSpc>
                        <a:buNone/>
                      </a:pPr>
                      <a:r>
                        <a:rPr lang="ca-ES" sz="1100" b="1" i="0">
                          <a:solidFill>
                            <a:srgbClr val="000000"/>
                          </a:solidFill>
                          <a:effectLst/>
                          <a:latin typeface="Neue Haas Grotesk Text Pro"/>
                        </a:rPr>
                        <a:t>Prioritat</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Normal</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43882274"/>
                  </a:ext>
                </a:extLst>
              </a:tr>
              <a:tr h="242307">
                <a:tc>
                  <a:txBody>
                    <a:bodyPr/>
                    <a:lstStyle/>
                    <a:p>
                      <a:pPr algn="r" fontAlgn="base">
                        <a:lnSpc>
                          <a:spcPts val="1350"/>
                        </a:lnSpc>
                        <a:buNone/>
                      </a:pPr>
                      <a:r>
                        <a:rPr lang="ca-ES" sz="1100" b="1" i="0">
                          <a:solidFill>
                            <a:srgbClr val="000000"/>
                          </a:solidFill>
                          <a:effectLst/>
                          <a:latin typeface="Neue Haas Grotesk Text Pro"/>
                        </a:rPr>
                        <a:t>Comentaris</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95100160"/>
                  </a:ext>
                </a:extLst>
              </a:tr>
            </a:tbl>
          </a:graphicData>
        </a:graphic>
      </p:graphicFrame>
    </p:spTree>
    <p:extLst>
      <p:ext uri="{BB962C8B-B14F-4D97-AF65-F5344CB8AC3E}">
        <p14:creationId xmlns:p14="http://schemas.microsoft.com/office/powerpoint/2010/main" val="2720780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5363239-D487-F481-6DDE-642FA791237A}"/>
            </a:ext>
          </a:extLst>
        </p:cNvPr>
        <p:cNvGrpSpPr/>
        <p:nvPr/>
      </p:nvGrpSpPr>
      <p:grpSpPr>
        <a:xfrm>
          <a:off x="0" y="0"/>
          <a:ext cx="0" cy="0"/>
          <a:chOff x="0" y="0"/>
          <a:chExt cx="0" cy="0"/>
        </a:xfrm>
      </p:grpSpPr>
      <p:sp>
        <p:nvSpPr>
          <p:cNvPr id="70" name="Rectangle 6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Rectangle 7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6" name="Rectangle 7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6A2F2674-6153-3675-7A70-60D159643F78}"/>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78" name="Rectangle 7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496F2B52-6023-DE8D-CE3A-DF1B9045752D}"/>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26</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DF5B093D-4DE9-670C-FF1A-03268DDE4732}"/>
              </a:ext>
            </a:extLst>
          </p:cNvPr>
          <p:cNvGraphicFramePr>
            <a:graphicFrameLocks noGrp="1"/>
          </p:cNvGraphicFramePr>
          <p:nvPr>
            <p:extLst>
              <p:ext uri="{D42A27DB-BD31-4B8C-83A1-F6EECF244321}">
                <p14:modId xmlns:p14="http://schemas.microsoft.com/office/powerpoint/2010/main" val="813416285"/>
              </p:ext>
            </p:extLst>
          </p:nvPr>
        </p:nvGraphicFramePr>
        <p:xfrm>
          <a:off x="1710659" y="2278001"/>
          <a:ext cx="8778238" cy="4059526"/>
        </p:xfrm>
        <a:graphic>
          <a:graphicData uri="http://schemas.openxmlformats.org/drawingml/2006/table">
            <a:tbl>
              <a:tblPr firstRow="1" bandRow="1">
                <a:tableStyleId>{5C22544A-7EE6-4342-B048-85BDC9FD1C3A}</a:tableStyleId>
              </a:tblPr>
              <a:tblGrid>
                <a:gridCol w="2642070">
                  <a:extLst>
                    <a:ext uri="{9D8B030D-6E8A-4147-A177-3AD203B41FA5}">
                      <a16:colId xmlns:a16="http://schemas.microsoft.com/office/drawing/2014/main" val="1006114176"/>
                    </a:ext>
                  </a:extLst>
                </a:gridCol>
                <a:gridCol w="1723534">
                  <a:extLst>
                    <a:ext uri="{9D8B030D-6E8A-4147-A177-3AD203B41FA5}">
                      <a16:colId xmlns:a16="http://schemas.microsoft.com/office/drawing/2014/main" val="1899525078"/>
                    </a:ext>
                  </a:extLst>
                </a:gridCol>
                <a:gridCol w="1868155">
                  <a:extLst>
                    <a:ext uri="{9D8B030D-6E8A-4147-A177-3AD203B41FA5}">
                      <a16:colId xmlns:a16="http://schemas.microsoft.com/office/drawing/2014/main" val="3637117227"/>
                    </a:ext>
                  </a:extLst>
                </a:gridCol>
                <a:gridCol w="2544479">
                  <a:extLst>
                    <a:ext uri="{9D8B030D-6E8A-4147-A177-3AD203B41FA5}">
                      <a16:colId xmlns:a16="http://schemas.microsoft.com/office/drawing/2014/main" val="2432378597"/>
                    </a:ext>
                  </a:extLst>
                </a:gridCol>
              </a:tblGrid>
              <a:tr h="247171">
                <a:tc>
                  <a:txBody>
                    <a:bodyPr/>
                    <a:lstStyle/>
                    <a:p>
                      <a:pPr algn="r" fontAlgn="base">
                        <a:lnSpc>
                          <a:spcPts val="1350"/>
                        </a:lnSpc>
                        <a:buNone/>
                      </a:pPr>
                      <a:r>
                        <a:rPr lang="ca-ES" sz="1100" b="1" i="0">
                          <a:solidFill>
                            <a:srgbClr val="FFFFFF"/>
                          </a:solidFill>
                          <a:effectLst/>
                          <a:latin typeface="Neue Haas Grotesk Text Pro"/>
                        </a:rPr>
                        <a:t>CAS D’ÚS: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gridSpan="3">
                  <a:txBody>
                    <a:bodyPr/>
                    <a:lstStyle/>
                    <a:p>
                      <a:pPr algn="l" fontAlgn="base">
                        <a:lnSpc>
                          <a:spcPts val="1350"/>
                        </a:lnSpc>
                        <a:buNone/>
                      </a:pPr>
                      <a:r>
                        <a:rPr lang="ca-ES" sz="1100" b="0" i="0" u="none" strike="noStrike">
                          <a:solidFill>
                            <a:srgbClr val="FFFFFF"/>
                          </a:solidFill>
                          <a:effectLst/>
                          <a:latin typeface="Aptos"/>
                        </a:rPr>
                        <a:t>Repetir una comanda anterior</a:t>
                      </a:r>
                      <a:endParaRPr lang="en-US" sz="1100" b="0" i="0">
                        <a:solidFill>
                          <a:srgbClr val="000000"/>
                        </a:solidFill>
                        <a:effectLst/>
                        <a:latin typeface="Aptos"/>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178354667"/>
                  </a:ext>
                </a:extLst>
              </a:tr>
              <a:tr h="243911">
                <a:tc>
                  <a:txBody>
                    <a:bodyPr/>
                    <a:lstStyle/>
                    <a:p>
                      <a:pPr algn="r" fontAlgn="base">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1.0</a:t>
                      </a: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r" fontAlgn="base">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a:rPr>
                        <a:t>16/05/2026</a:t>
                      </a: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150317600"/>
                  </a:ext>
                </a:extLst>
              </a:tr>
              <a:tr h="244858">
                <a:tc>
                  <a:txBody>
                    <a:bodyPr/>
                    <a:lstStyle/>
                    <a:p>
                      <a:pPr algn="r" fontAlgn="base">
                        <a:lnSpc>
                          <a:spcPts val="1350"/>
                        </a:lnSpc>
                        <a:buNone/>
                      </a:pPr>
                      <a:r>
                        <a:rPr lang="ca-ES" sz="1100" b="1" i="0">
                          <a:solidFill>
                            <a:srgbClr val="000000"/>
                          </a:solidFill>
                          <a:effectLst/>
                          <a:latin typeface="Neue Haas Grotesk Text Pro"/>
                        </a:rPr>
                        <a:t>Autors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lvl="0" algn="l">
                        <a:lnSpc>
                          <a:spcPct val="100000"/>
                        </a:lnSpc>
                        <a:spcBef>
                          <a:spcPts val="0"/>
                        </a:spcBef>
                        <a:spcAft>
                          <a:spcPts val="0"/>
                        </a:spcAft>
                        <a:buNone/>
                      </a:pPr>
                      <a:r>
                        <a:rPr lang="ca-ES" sz="1100" b="0" i="0" u="none" strike="noStrike" noProof="0">
                          <a:solidFill>
                            <a:srgbClr val="000000"/>
                          </a:solidFill>
                          <a:effectLst/>
                          <a:latin typeface="Neue Haas Grotesk Text Pro"/>
                        </a:rPr>
                        <a:t>Enric, Blay, Maria i Neus</a:t>
                      </a: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960267411"/>
                  </a:ext>
                </a:extLst>
              </a:tr>
              <a:tr h="391132">
                <a:tc>
                  <a:txBody>
                    <a:bodyPr/>
                    <a:lstStyle/>
                    <a:p>
                      <a:pPr algn="r" fontAlgn="base">
                        <a:lnSpc>
                          <a:spcPts val="1350"/>
                        </a:lnSpc>
                        <a:buNone/>
                      </a:pPr>
                      <a:r>
                        <a:rPr lang="ca-ES" sz="1100" b="1" i="0">
                          <a:solidFill>
                            <a:srgbClr val="000000"/>
                          </a:solidFill>
                          <a:effectLst/>
                          <a:latin typeface="Neue Haas Grotesk Text Pro"/>
                        </a:rPr>
                        <a:t>Descripció</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Aquest cas d’ús descriu com els clients des de l'historial poden repetir una comanda prèvia sempre que tots els plats que la componen estiguin disponibles en el moment de la repetició.</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884165441"/>
                  </a:ext>
                </a:extLst>
              </a:tr>
              <a:tr h="244858">
                <a:tc>
                  <a:txBody>
                    <a:bodyPr/>
                    <a:lstStyle/>
                    <a:p>
                      <a:pPr algn="r" fontAlgn="base">
                        <a:lnSpc>
                          <a:spcPts val="1350"/>
                        </a:lnSpc>
                        <a:buNone/>
                      </a:pPr>
                      <a:r>
                        <a:rPr lang="ca-ES" sz="1100" b="1" i="0">
                          <a:solidFill>
                            <a:srgbClr val="000000"/>
                          </a:solidFill>
                          <a:effectLst/>
                          <a:latin typeface="Neue Haas Grotesk Text Pro"/>
                        </a:rPr>
                        <a:t>Actors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Client</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26910196"/>
                  </a:ext>
                </a:extLst>
              </a:tr>
              <a:tr h="244858">
                <a:tc>
                  <a:txBody>
                    <a:bodyPr/>
                    <a:lstStyle/>
                    <a:p>
                      <a:pPr algn="r" fontAlgn="base">
                        <a:lnSpc>
                          <a:spcPts val="1350"/>
                        </a:lnSpc>
                        <a:buNone/>
                      </a:pPr>
                      <a:r>
                        <a:rPr lang="ca-ES" sz="1100" b="1" i="0">
                          <a:solidFill>
                            <a:srgbClr val="000000"/>
                          </a:solidFill>
                          <a:effectLst/>
                          <a:latin typeface="Neue Haas Grotesk Text Pro"/>
                        </a:rPr>
                        <a:t>Precondició</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a:rPr>
                        <a:t>El client està registrat i visualitza l'historial de comandes.</a:t>
                      </a:r>
                      <a:endParaRPr lang="es-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49078560"/>
                  </a:ext>
                </a:extLst>
              </a:tr>
              <a:tr h="610752">
                <a:tc>
                  <a:txBody>
                    <a:bodyPr/>
                    <a:lstStyle/>
                    <a:p>
                      <a:pPr algn="r" fontAlgn="base">
                        <a:lnSpc>
                          <a:spcPts val="1350"/>
                        </a:lnSpc>
                        <a:buNone/>
                      </a:pPr>
                      <a:r>
                        <a:rPr lang="ca-ES" sz="1100" b="1" i="0">
                          <a:solidFill>
                            <a:srgbClr val="000000"/>
                          </a:solidFill>
                          <a:effectLst/>
                          <a:latin typeface="Neue Haas Grotesk Text Pro"/>
                        </a:rPr>
                        <a:t>Flux principal</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fontAlgn="base">
                        <a:lnSpc>
                          <a:spcPts val="1200"/>
                        </a:lnSpc>
                        <a:buFont typeface="+mj-lt"/>
                        <a:buAutoNum type="arabicPeriod"/>
                      </a:pPr>
                      <a:r>
                        <a:rPr lang="ca-ES" sz="1100" b="0" i="0">
                          <a:solidFill>
                            <a:srgbClr val="000000"/>
                          </a:solidFill>
                          <a:effectLst/>
                          <a:latin typeface="Neue Haas Grotesk Text Pro"/>
                        </a:rPr>
                        <a:t>El client selecciona una comanda de l'historial i clica a "Repetir".</a:t>
                      </a:r>
                      <a:endParaRPr lang="es-E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El sistema verifica la disponibilitat actual de cada plat de la comanda original.</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Si tots estan disponibles, el sistema crea una nova comanda amb les mateixos plats.</a:t>
                      </a:r>
                      <a:endParaRPr lang="en-US" sz="1100" b="0" i="0">
                        <a:solidFill>
                          <a:srgbClr val="000000"/>
                        </a:solidFill>
                        <a:effectLst/>
                        <a:latin typeface="Neue Haas Grotesk Text Pro"/>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a:rPr>
                        <a:t>Es continua amb el flux de "Fer una comanda".</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15583750"/>
                  </a:ext>
                </a:extLst>
              </a:tr>
              <a:tr h="244858">
                <a:tc>
                  <a:txBody>
                    <a:bodyPr/>
                    <a:lstStyle/>
                    <a:p>
                      <a:pPr algn="r" fontAlgn="base">
                        <a:lnSpc>
                          <a:spcPts val="1350"/>
                        </a:lnSpc>
                        <a:buNone/>
                      </a:pPr>
                      <a:r>
                        <a:rPr lang="ca-ES" sz="1100" b="1" i="0">
                          <a:solidFill>
                            <a:srgbClr val="000000"/>
                          </a:solidFill>
                          <a:effectLst/>
                          <a:latin typeface="Neue Haas Grotesk Text Pro"/>
                        </a:rPr>
                        <a:t>Subfluxos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313968429"/>
                  </a:ext>
                </a:extLst>
              </a:tr>
              <a:tr h="391132">
                <a:tc>
                  <a:txBody>
                    <a:bodyPr/>
                    <a:lstStyle/>
                    <a:p>
                      <a:pPr algn="r" fontAlgn="base">
                        <a:lnSpc>
                          <a:spcPts val="1350"/>
                        </a:lnSpc>
                        <a:buNone/>
                      </a:pPr>
                      <a:r>
                        <a:rPr lang="ca-ES" sz="1100" b="1" i="0">
                          <a:solidFill>
                            <a:srgbClr val="000000"/>
                          </a:solidFill>
                          <a:effectLst/>
                          <a:latin typeface="Neue Haas Grotesk Text Pro"/>
                        </a:rPr>
                        <a:t>Fluxos alternatius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a:solidFill>
                            <a:srgbClr val="000000"/>
                          </a:solidFill>
                          <a:effectLst/>
                          <a:latin typeface="Neue Haas Grotesk Text Pro"/>
                        </a:rPr>
                        <a:t>3a. Algún plat ja no està disponible: e</a:t>
                      </a:r>
                      <a:r>
                        <a:rPr lang="ca-ES" sz="1100" b="0" i="0" u="none" strike="noStrike">
                          <a:solidFill>
                            <a:srgbClr val="000000"/>
                          </a:solidFill>
                          <a:effectLst/>
                          <a:latin typeface="Neue Haas Grotesk Text Pro"/>
                        </a:rPr>
                        <a:t>l sistema informa dels plats no disponibles i no permet repetir la comanda.</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05799666"/>
                  </a:ext>
                </a:extLst>
              </a:tr>
              <a:tr h="244858">
                <a:tc>
                  <a:txBody>
                    <a:bodyPr/>
                    <a:lstStyle/>
                    <a:p>
                      <a:pPr algn="r" fontAlgn="base">
                        <a:lnSpc>
                          <a:spcPts val="1350"/>
                        </a:lnSpc>
                        <a:buNone/>
                      </a:pPr>
                      <a:r>
                        <a:rPr lang="ca-ES" sz="1100" b="1" i="0">
                          <a:solidFill>
                            <a:srgbClr val="000000"/>
                          </a:solidFill>
                          <a:effectLst/>
                          <a:latin typeface="Neue Haas Grotesk Text Pro"/>
                        </a:rPr>
                        <a:t>Postcondició</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36762639"/>
                  </a:ext>
                </a:extLst>
              </a:tr>
              <a:tr h="244858">
                <a:tc>
                  <a:txBody>
                    <a:bodyPr/>
                    <a:lstStyle/>
                    <a:p>
                      <a:pPr algn="r" fontAlgn="base">
                        <a:lnSpc>
                          <a:spcPts val="1350"/>
                        </a:lnSpc>
                        <a:buNone/>
                      </a:pPr>
                      <a:r>
                        <a:rPr lang="ca-ES" sz="1100" b="1" i="0">
                          <a:solidFill>
                            <a:srgbClr val="000000"/>
                          </a:solidFill>
                          <a:effectLst/>
                          <a:latin typeface="Neue Haas Grotesk Text Pro"/>
                        </a:rPr>
                        <a:t>Requeriments no funcionals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strike="noStrike">
                          <a:solidFill>
                            <a:srgbClr val="000000"/>
                          </a:solidFill>
                          <a:effectLst/>
                          <a:latin typeface="Neue Haas Grotesk Text Pro"/>
                        </a:rPr>
                        <a:t>RNF-09-01 (temps de resposta per verificar la disponibilitat)</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99315443"/>
                  </a:ext>
                </a:extLst>
              </a:tr>
              <a:tr h="244858">
                <a:tc>
                  <a:txBody>
                    <a:bodyPr/>
                    <a:lstStyle/>
                    <a:p>
                      <a:pPr algn="r" fontAlgn="base">
                        <a:lnSpc>
                          <a:spcPts val="1350"/>
                        </a:lnSpc>
                        <a:buNone/>
                      </a:pPr>
                      <a:r>
                        <a:rPr lang="ca-ES" sz="1100" b="1" i="0">
                          <a:solidFill>
                            <a:srgbClr val="000000"/>
                          </a:solidFill>
                          <a:effectLst/>
                          <a:latin typeface="Neue Haas Grotesk Text Pro"/>
                        </a:rPr>
                        <a:t>Prioritat</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Normal</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086299783"/>
                  </a:ext>
                </a:extLst>
              </a:tr>
              <a:tr h="244858">
                <a:tc>
                  <a:txBody>
                    <a:bodyPr/>
                    <a:lstStyle/>
                    <a:p>
                      <a:pPr algn="r" fontAlgn="base">
                        <a:lnSpc>
                          <a:spcPts val="1350"/>
                        </a:lnSpc>
                        <a:buNone/>
                      </a:pPr>
                      <a:r>
                        <a:rPr lang="ca-ES" sz="1100" b="1" i="0">
                          <a:solidFill>
                            <a:srgbClr val="000000"/>
                          </a:solidFill>
                          <a:effectLst/>
                          <a:latin typeface="Neue Haas Grotesk Text Pro"/>
                        </a:rPr>
                        <a:t>Comentaris</a:t>
                      </a:r>
                      <a:endParaRPr lang="ca-E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a:rPr>
                        <a:t>Extensio (&lt;&lt;extend&gt;&gt;) de "Veure historial de comandes".</a:t>
                      </a:r>
                      <a:endParaRPr lang="en-US" sz="1100" b="0" i="0">
                        <a:solidFill>
                          <a:srgbClr val="000000"/>
                        </a:solidFill>
                        <a:effectLst/>
                        <a:latin typeface="Neue Haas Grotesk Text Pro"/>
                      </a:endParaRPr>
                    </a:p>
                  </a:txBody>
                  <a:tcPr marL="40279" marR="40279" marT="41435" marB="41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31200690"/>
                  </a:ext>
                </a:extLst>
              </a:tr>
            </a:tbl>
          </a:graphicData>
        </a:graphic>
      </p:graphicFrame>
    </p:spTree>
    <p:extLst>
      <p:ext uri="{BB962C8B-B14F-4D97-AF65-F5344CB8AC3E}">
        <p14:creationId xmlns:p14="http://schemas.microsoft.com/office/powerpoint/2010/main" val="4293124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ADEBC54-F334-E205-1C73-F958019D2769}"/>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9" name="Rectangle 8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1" name="Rectangle 9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BF64844C-FFE0-800D-5385-2D91A11A7C87}"/>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93" name="Rectangle 9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Rectangle 9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65E0C898-88E5-467C-E03D-10820B694CE1}"/>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27</a:t>
            </a:fld>
            <a:endParaRPr lang="en-US">
              <a:solidFill>
                <a:schemeClr val="tx2">
                  <a:lumMod val="50000"/>
                  <a:lumOff val="50000"/>
                </a:schemeClr>
              </a:solidFill>
            </a:endParaRPr>
          </a:p>
        </p:txBody>
      </p:sp>
      <p:graphicFrame>
        <p:nvGraphicFramePr>
          <p:cNvPr id="8" name="Taula 7">
            <a:extLst>
              <a:ext uri="{FF2B5EF4-FFF2-40B4-BE49-F238E27FC236}">
                <a16:creationId xmlns:a16="http://schemas.microsoft.com/office/drawing/2014/main" id="{6AD2467B-3FB6-5B59-FD3A-E295BFCC70F8}"/>
              </a:ext>
            </a:extLst>
          </p:cNvPr>
          <p:cNvGraphicFramePr>
            <a:graphicFrameLocks noGrp="1"/>
          </p:cNvGraphicFramePr>
          <p:nvPr>
            <p:extLst>
              <p:ext uri="{D42A27DB-BD31-4B8C-83A1-F6EECF244321}">
                <p14:modId xmlns:p14="http://schemas.microsoft.com/office/powerpoint/2010/main" val="232496192"/>
              </p:ext>
            </p:extLst>
          </p:nvPr>
        </p:nvGraphicFramePr>
        <p:xfrm>
          <a:off x="1703672" y="2206114"/>
          <a:ext cx="8778237" cy="4006016"/>
        </p:xfrm>
        <a:graphic>
          <a:graphicData uri="http://schemas.openxmlformats.org/drawingml/2006/table">
            <a:tbl>
              <a:tblPr firstRow="1" bandRow="1">
                <a:tableStyleId>{5C22544A-7EE6-4342-B048-85BDC9FD1C3A}</a:tableStyleId>
              </a:tblPr>
              <a:tblGrid>
                <a:gridCol w="2642071">
                  <a:extLst>
                    <a:ext uri="{9D8B030D-6E8A-4147-A177-3AD203B41FA5}">
                      <a16:colId xmlns:a16="http://schemas.microsoft.com/office/drawing/2014/main" val="746127896"/>
                    </a:ext>
                  </a:extLst>
                </a:gridCol>
                <a:gridCol w="1723533">
                  <a:extLst>
                    <a:ext uri="{9D8B030D-6E8A-4147-A177-3AD203B41FA5}">
                      <a16:colId xmlns:a16="http://schemas.microsoft.com/office/drawing/2014/main" val="520581585"/>
                    </a:ext>
                  </a:extLst>
                </a:gridCol>
                <a:gridCol w="1868155">
                  <a:extLst>
                    <a:ext uri="{9D8B030D-6E8A-4147-A177-3AD203B41FA5}">
                      <a16:colId xmlns:a16="http://schemas.microsoft.com/office/drawing/2014/main" val="1288175847"/>
                    </a:ext>
                  </a:extLst>
                </a:gridCol>
                <a:gridCol w="2544478">
                  <a:extLst>
                    <a:ext uri="{9D8B030D-6E8A-4147-A177-3AD203B41FA5}">
                      <a16:colId xmlns:a16="http://schemas.microsoft.com/office/drawing/2014/main" val="3227194742"/>
                    </a:ext>
                  </a:extLst>
                </a:gridCol>
              </a:tblGrid>
              <a:tr h="247172">
                <a:tc>
                  <a:txBody>
                    <a:bodyPr/>
                    <a:lstStyle/>
                    <a:p>
                      <a:pPr algn="r" fontAlgn="base">
                        <a:lnSpc>
                          <a:spcPts val="1350"/>
                        </a:lnSpc>
                        <a:buNone/>
                      </a:pPr>
                      <a:r>
                        <a:rPr lang="ca-ES" sz="1100" b="1" i="0">
                          <a:solidFill>
                            <a:srgbClr val="FFFFFF"/>
                          </a:solidFill>
                          <a:effectLst/>
                          <a:latin typeface="Neue Haas Grotesk Text Pro" panose="020B0504020202020204" pitchFamily="34" charset="0"/>
                        </a:rPr>
                        <a:t>CAS D’ÚS: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gridSpan="3">
                  <a:txBody>
                    <a:bodyPr/>
                    <a:lstStyle/>
                    <a:p>
                      <a:pPr algn="l" fontAlgn="base">
                        <a:lnSpc>
                          <a:spcPts val="1350"/>
                        </a:lnSpc>
                        <a:buNone/>
                      </a:pPr>
                      <a:r>
                        <a:rPr lang="ca-ES" sz="1100" b="0" i="0" u="none" strike="noStrike">
                          <a:solidFill>
                            <a:srgbClr val="FFFFFF"/>
                          </a:solidFill>
                          <a:effectLst/>
                          <a:latin typeface="Aptos" panose="020B0004020202020204" pitchFamily="34" charset="0"/>
                        </a:rPr>
                        <a:t>Veure les meves valoracions</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77314750"/>
                  </a:ext>
                </a:extLst>
              </a:tr>
              <a:tr h="243912">
                <a:tc>
                  <a:txBody>
                    <a:bodyPr/>
                    <a:lstStyle/>
                    <a:p>
                      <a:pPr algn="r" fontAlgn="base">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panose="020B0504020202020204" pitchFamily="34" charset="0"/>
                        </a:rPr>
                        <a:t>1.0</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r" fontAlgn="base">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algn="l" fontAlgn="base">
                        <a:lnSpc>
                          <a:spcPts val="1350"/>
                        </a:lnSpc>
                        <a:buNone/>
                      </a:pPr>
                      <a:r>
                        <a:rPr lang="ca-ES" sz="1100" b="0" i="0">
                          <a:solidFill>
                            <a:srgbClr val="000000"/>
                          </a:solidFill>
                          <a:effectLst/>
                          <a:latin typeface="Neue Haas Grotesk Text Pro" panose="020B0504020202020204" pitchFamily="34" charset="0"/>
                        </a:rPr>
                        <a:t>16/05/2026</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2835537271"/>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Autors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lvl="0" algn="l">
                        <a:lnSpc>
                          <a:spcPct val="100000"/>
                        </a:lnSpc>
                        <a:spcBef>
                          <a:spcPts val="0"/>
                        </a:spcBef>
                        <a:spcAft>
                          <a:spcPts val="0"/>
                        </a:spcAft>
                        <a:buNone/>
                      </a:pPr>
                      <a:r>
                        <a:rPr lang="ca-ES" sz="1100" b="0" i="0" u="none" strike="noStrike" noProof="0">
                          <a:solidFill>
                            <a:srgbClr val="000000"/>
                          </a:solidFill>
                          <a:effectLst/>
                          <a:latin typeface="Neue Haas Grotesk Text Pro"/>
                        </a:rPr>
                        <a:t>Enric, Blay, Maria i Neus</a:t>
                      </a: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98801922"/>
                  </a:ext>
                </a:extLst>
              </a:tr>
              <a:tr h="391132">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Descripció</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panose="020B0504020202020204" pitchFamily="34" charset="0"/>
                        </a:rPr>
                        <a:t>Aquest cas d’ús descriu com els clients poden consultar les valoracions que han fet de comandes rebudes anteriorment.</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35146110"/>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Actors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panose="020B0504020202020204" pitchFamily="34" charset="0"/>
                        </a:rPr>
                        <a:t>Client</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028071133"/>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Precondició</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just" fontAlgn="base">
                        <a:lnSpc>
                          <a:spcPts val="1350"/>
                        </a:lnSpc>
                        <a:buNone/>
                      </a:pPr>
                      <a:r>
                        <a:rPr lang="ca-ES" sz="1100" b="0" i="0">
                          <a:solidFill>
                            <a:srgbClr val="000000"/>
                          </a:solidFill>
                          <a:effectLst/>
                          <a:latin typeface="Neue Haas Grotesk Text Pro" panose="020B0504020202020204" pitchFamily="34" charset="0"/>
                        </a:rPr>
                        <a:t>El client està registrat i ha realitzat alguna valoració prèvia.</a:t>
                      </a:r>
                      <a:endParaRPr lang="es-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78946681"/>
                  </a:ext>
                </a:extLst>
              </a:tr>
              <a:tr h="358375">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Flux principal</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fontAlgn="base">
                        <a:lnSpc>
                          <a:spcPts val="1200"/>
                        </a:lnSpc>
                        <a:buFont typeface="+mj-lt"/>
                        <a:buAutoNum type="arabicPeriod"/>
                      </a:pPr>
                      <a:r>
                        <a:rPr lang="ca-ES" sz="1100" b="0" i="0">
                          <a:solidFill>
                            <a:srgbClr val="000000"/>
                          </a:solidFill>
                          <a:effectLst/>
                          <a:latin typeface="Neue Haas Grotesk Text Pro" panose="020B0504020202020204" pitchFamily="34" charset="0"/>
                        </a:rPr>
                        <a:t>El client accedeix a la seccio "Les meves valoracions".</a:t>
                      </a:r>
                      <a:endParaRPr lang="es-ES" sz="1100" b="0" i="0">
                        <a:solidFill>
                          <a:srgbClr val="000000"/>
                        </a:solidFill>
                        <a:effectLst/>
                        <a:latin typeface="Arial"/>
                      </a:endParaRPr>
                    </a:p>
                    <a:p>
                      <a:pPr marL="342900" lvl="0" indent="-342900" algn="just" fontAlgn="base">
                        <a:lnSpc>
                          <a:spcPts val="1200"/>
                        </a:lnSpc>
                        <a:buFont typeface="+mj-lt"/>
                        <a:buAutoNum type="arabicPeriod"/>
                      </a:pPr>
                      <a:r>
                        <a:rPr lang="ca-ES" sz="1100" b="0" i="0">
                          <a:solidFill>
                            <a:srgbClr val="000000"/>
                          </a:solidFill>
                          <a:effectLst/>
                          <a:latin typeface="Neue Haas Grotesk Text Pro" panose="020B0504020202020204" pitchFamily="34" charset="0"/>
                        </a:rPr>
                        <a:t>El sistema recupera i mostra les valoracions fetes prèviament pel client.</a:t>
                      </a:r>
                      <a:endParaRPr lang="en-US" sz="1100" b="0" i="0">
                        <a:solidFill>
                          <a:srgbClr val="000000"/>
                        </a:solidFill>
                        <a:effectLst/>
                        <a:latin typeface="Arial"/>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32116786"/>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Subfluxos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fontAlgn="t">
                        <a:buNone/>
                      </a:pPr>
                      <a:endParaRPr lang="ca-ES" sz="1100">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273458966"/>
                  </a:ext>
                </a:extLst>
              </a:tr>
              <a:tr h="391132">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Fluxos alternatius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a:solidFill>
                            <a:srgbClr val="000000"/>
                          </a:solidFill>
                          <a:effectLst/>
                          <a:latin typeface="Neue Haas Grotesk Text Pro"/>
                        </a:rPr>
                        <a:t>2a. No hi ha valoracions prèvies: e</a:t>
                      </a:r>
                      <a:r>
                        <a:rPr lang="ca-ES" sz="1100" b="0" i="0" u="none" strike="noStrike">
                          <a:solidFill>
                            <a:srgbClr val="000000"/>
                          </a:solidFill>
                          <a:effectLst/>
                          <a:latin typeface="Neue Haas Grotesk Text Pro"/>
                        </a:rPr>
                        <a:t>l sistema mostra un missatge informatiu indicant que no hi ha valoracions.</a:t>
                      </a:r>
                      <a:endParaRPr lang="en-US" sz="1100" b="0" i="0">
                        <a:solidFill>
                          <a:srgbClr val="000000"/>
                        </a:solidFill>
                        <a:effectLst/>
                        <a:latin typeface="Neue Haas Grotesk Text Pro"/>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49666196"/>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Postcondició</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panose="020B0504020202020204" pitchFamily="34" charset="0"/>
                        </a:rPr>
                        <a:t>Es mostra el llistat de valoracions fetes pel client.</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638177370"/>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Requeriments no funcionals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u="none" strike="noStrike">
                          <a:solidFill>
                            <a:srgbClr val="000000"/>
                          </a:solidFill>
                          <a:effectLst/>
                          <a:latin typeface="Neue Haas Grotesk Text Pro" panose="020B0504020202020204" pitchFamily="34" charset="0"/>
                        </a:rPr>
                        <a:t>RNF-05-00 (només una única valoració per comanda), RNF-00-07 (interfície intuïtiva i amb claredat).</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86632862"/>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Prioritat</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panose="020B0504020202020204" pitchFamily="34" charset="0"/>
                        </a:rPr>
                        <a:t>Baixa</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14393854"/>
                  </a:ext>
                </a:extLst>
              </a:tr>
              <a:tr h="244859">
                <a:tc>
                  <a:txBody>
                    <a:bodyPr/>
                    <a:lstStyle/>
                    <a:p>
                      <a:pPr algn="r" fontAlgn="base">
                        <a:lnSpc>
                          <a:spcPts val="1350"/>
                        </a:lnSpc>
                        <a:buNone/>
                      </a:pPr>
                      <a:r>
                        <a:rPr lang="ca-ES" sz="1100" b="1" i="0">
                          <a:solidFill>
                            <a:srgbClr val="000000"/>
                          </a:solidFill>
                          <a:effectLst/>
                          <a:latin typeface="Neue Haas Grotesk Text Pro" panose="020B0504020202020204" pitchFamily="34" charset="0"/>
                        </a:rPr>
                        <a:t>Comentaris</a:t>
                      </a:r>
                      <a:endParaRPr lang="ca-E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algn="l" fontAlgn="base">
                        <a:lnSpc>
                          <a:spcPts val="1350"/>
                        </a:lnSpc>
                        <a:buNone/>
                      </a:pPr>
                      <a:r>
                        <a:rPr lang="ca-ES" sz="1100" b="0" i="0">
                          <a:solidFill>
                            <a:srgbClr val="000000"/>
                          </a:solidFill>
                          <a:effectLst/>
                          <a:latin typeface="Neue Haas Grotesk Text Pro" panose="020B0504020202020204" pitchFamily="34" charset="0"/>
                        </a:rPr>
                        <a:t>Extensio (&lt;&lt;extend&gt;&gt;) de "Valorar una comanda rebuda".</a:t>
                      </a:r>
                      <a:endParaRPr lang="en-US" sz="1100" b="0" i="0">
                        <a:solidFill>
                          <a:srgbClr val="000000"/>
                        </a:solidFill>
                        <a:effectLst/>
                      </a:endParaRPr>
                    </a:p>
                  </a:txBody>
                  <a:tcPr marL="43110" marR="43110" marT="44347" marB="44347">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027887778"/>
                  </a:ext>
                </a:extLst>
              </a:tr>
            </a:tbl>
          </a:graphicData>
        </a:graphic>
      </p:graphicFrame>
    </p:spTree>
    <p:extLst>
      <p:ext uri="{BB962C8B-B14F-4D97-AF65-F5344CB8AC3E}">
        <p14:creationId xmlns:p14="http://schemas.microsoft.com/office/powerpoint/2010/main" val="583604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C46D04-22FC-1E64-AEC0-4CA0B9DC5D5D}"/>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1702952-D846-B04D-A4C6-E7259AEE33BA}"/>
              </a:ext>
            </a:extLst>
          </p:cNvPr>
          <p:cNvSpPr>
            <a:spLocks noGrp="1"/>
          </p:cNvSpPr>
          <p:nvPr>
            <p:ph type="sldNum" sz="quarter" idx="12"/>
          </p:nvPr>
        </p:nvSpPr>
        <p:spPr/>
        <p:txBody>
          <a:bodyPr/>
          <a:lstStyle/>
          <a:p>
            <a:fld id="{B2DC25EE-239B-4C5F-AAD1-255A7D5F1EE2}" type="slidenum">
              <a:rPr lang="en-US" smtClean="0"/>
              <a:t>28</a:t>
            </a:fld>
            <a:endParaRPr lang="en-US"/>
          </a:p>
        </p:txBody>
      </p:sp>
      <p:sp>
        <p:nvSpPr>
          <p:cNvPr id="5" name="Título 1">
            <a:extLst>
              <a:ext uri="{FF2B5EF4-FFF2-40B4-BE49-F238E27FC236}">
                <a16:creationId xmlns:a16="http://schemas.microsoft.com/office/drawing/2014/main" id="{188C0451-7A66-D3AE-1ACE-16C02BCDA144}"/>
              </a:ext>
            </a:extLst>
          </p:cNvPr>
          <p:cNvSpPr>
            <a:spLocks noGrp="1"/>
          </p:cNvSpPr>
          <p:nvPr>
            <p:ph type="title"/>
          </p:nvPr>
        </p:nvSpPr>
        <p:spPr>
          <a:xfrm>
            <a:off x="1115568" y="548640"/>
            <a:ext cx="10168128" cy="1179576"/>
          </a:xfrm>
        </p:spPr>
        <p:txBody>
          <a:bodyPr>
            <a:normAutofit/>
          </a:bodyPr>
          <a:lstStyle/>
          <a:p>
            <a:r>
              <a:rPr lang="ca-ES"/>
              <a:t>Especificacions Client</a:t>
            </a:r>
          </a:p>
        </p:txBody>
      </p:sp>
      <p:graphicFrame>
        <p:nvGraphicFramePr>
          <p:cNvPr id="7" name="Tabla 2">
            <a:extLst>
              <a:ext uri="{FF2B5EF4-FFF2-40B4-BE49-F238E27FC236}">
                <a16:creationId xmlns:a16="http://schemas.microsoft.com/office/drawing/2014/main" id="{AC30C7C8-9564-EB20-C44E-89554AA48D42}"/>
              </a:ext>
            </a:extLst>
          </p:cNvPr>
          <p:cNvGraphicFramePr>
            <a:graphicFrameLocks noGrp="1"/>
          </p:cNvGraphicFramePr>
          <p:nvPr>
            <p:extLst>
              <p:ext uri="{D42A27DB-BD31-4B8C-83A1-F6EECF244321}">
                <p14:modId xmlns:p14="http://schemas.microsoft.com/office/powerpoint/2010/main" val="3353064113"/>
              </p:ext>
            </p:extLst>
          </p:nvPr>
        </p:nvGraphicFramePr>
        <p:xfrm>
          <a:off x="1813332" y="2142124"/>
          <a:ext cx="8746609" cy="3673092"/>
        </p:xfrm>
        <a:graphic>
          <a:graphicData uri="http://schemas.openxmlformats.org/drawingml/2006/table">
            <a:tbl>
              <a:tblPr firstRow="1">
                <a:tableStyleId>{5C22544A-7EE6-4342-B048-85BDC9FD1C3A}</a:tableStyleId>
              </a:tblPr>
              <a:tblGrid>
                <a:gridCol w="2653125">
                  <a:extLst>
                    <a:ext uri="{9D8B030D-6E8A-4147-A177-3AD203B41FA5}">
                      <a16:colId xmlns:a16="http://schemas.microsoft.com/office/drawing/2014/main" val="645709654"/>
                    </a:ext>
                  </a:extLst>
                </a:gridCol>
                <a:gridCol w="2868653">
                  <a:extLst>
                    <a:ext uri="{9D8B030D-6E8A-4147-A177-3AD203B41FA5}">
                      <a16:colId xmlns:a16="http://schemas.microsoft.com/office/drawing/2014/main" val="842417822"/>
                    </a:ext>
                  </a:extLst>
                </a:gridCol>
                <a:gridCol w="1095856">
                  <a:extLst>
                    <a:ext uri="{9D8B030D-6E8A-4147-A177-3AD203B41FA5}">
                      <a16:colId xmlns:a16="http://schemas.microsoft.com/office/drawing/2014/main" val="4136022570"/>
                    </a:ext>
                  </a:extLst>
                </a:gridCol>
                <a:gridCol w="2128975">
                  <a:extLst>
                    <a:ext uri="{9D8B030D-6E8A-4147-A177-3AD203B41FA5}">
                      <a16:colId xmlns:a16="http://schemas.microsoft.com/office/drawing/2014/main" val="1005851753"/>
                    </a:ext>
                  </a:extLst>
                </a:gridCol>
              </a:tblGrid>
              <a:tr h="186123">
                <a:tc>
                  <a:txBody>
                    <a:bodyPr/>
                    <a:lstStyle/>
                    <a:p>
                      <a:pPr algn="r">
                        <a:buNone/>
                      </a:pPr>
                      <a:r>
                        <a:rPr lang="ca-ES" sz="1100">
                          <a:effectLst/>
                        </a:rPr>
                        <a:t>CAS D’ÚS:</a:t>
                      </a:r>
                      <a:endParaRPr lang="ca-ES" sz="1000">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0" lvl="0" indent="0" algn="l">
                        <a:lnSpc>
                          <a:spcPct val="100000"/>
                        </a:lnSpc>
                        <a:buNone/>
                      </a:pPr>
                      <a:r>
                        <a:rPr lang="ca-ES" sz="1100" b="1" i="0" u="none" strike="noStrike" baseline="0" noProof="0">
                          <a:solidFill>
                            <a:srgbClr val="FFFFFF"/>
                          </a:solidFill>
                          <a:effectLst/>
                          <a:latin typeface="Neue Haas Grotesk Text Pro"/>
                        </a:rPr>
                        <a:t>Veure cost d'enviament</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47312255"/>
                  </a:ext>
                </a:extLst>
              </a:tr>
              <a:tr h="186123">
                <a:tc>
                  <a:txBody>
                    <a:bodyPr/>
                    <a:lstStyle/>
                    <a:p>
                      <a:pPr algn="r">
                        <a:buNone/>
                      </a:pPr>
                      <a:r>
                        <a:rPr lang="ca-ES" sz="1000" b="1" kern="0">
                          <a:effectLst/>
                        </a:rPr>
                        <a:t>Versió</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1.0</a:t>
                      </a:r>
                      <a:endParaRPr lang="ca-ES"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algn="r">
                        <a:buNone/>
                      </a:pPr>
                      <a:r>
                        <a:rPr lang="ca-ES" sz="1000" b="1" kern="0">
                          <a:effectLst/>
                        </a:rPr>
                        <a:t>Data</a:t>
                      </a:r>
                      <a:endParaRPr lang="ca-ES" sz="1000" b="1" kern="0">
                        <a:effectLst/>
                        <a:latin typeface="Times New Roman" panose="02020603050405020304" pitchFamily="18" charset="0"/>
                        <a:cs typeface="Times New Roman" panose="02020603050405020304" pitchFamily="18" charset="0"/>
                      </a:endParaRPr>
                    </a:p>
                  </a:txBody>
                  <a:tcPr marL="44450" marR="44450" marT="0" marB="0"/>
                </a:tc>
                <a:tc>
                  <a:txBody>
                    <a:bodyPr/>
                    <a:lstStyle/>
                    <a:p>
                      <a:pPr>
                        <a:buNone/>
                      </a:pPr>
                      <a:r>
                        <a:rPr lang="ca-ES" sz="1100">
                          <a:effectLst/>
                        </a:rPr>
                        <a:t>16/05/2026</a:t>
                      </a:r>
                      <a:endParaRPr lang="ca-ES"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0715469"/>
                  </a:ext>
                </a:extLst>
              </a:tr>
              <a:tr h="186123">
                <a:tc>
                  <a:txBody>
                    <a:bodyPr/>
                    <a:lstStyle/>
                    <a:p>
                      <a:pPr algn="r">
                        <a:buNone/>
                      </a:pPr>
                      <a:r>
                        <a:rPr lang="ca-ES" sz="1100" b="1">
                          <a:effectLst/>
                        </a:rPr>
                        <a:t>Autors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buNone/>
                      </a:pPr>
                      <a:r>
                        <a:rPr lang="ca-ES" sz="1100">
                          <a:effectLst/>
                        </a:rPr>
                        <a:t>Enric, Blay, Maria i Neus</a:t>
                      </a:r>
                      <a:endParaRPr lang="ca-ES" sz="1000">
                        <a:effectLst/>
                        <a:latin typeface="Times New Roman" panose="02020603050405020304" pitchFamily="18" charset="0"/>
                        <a:ea typeface="Times New Roman" panose="02020603050405020304" pitchFamily="18" charset="0"/>
                      </a:endParaRP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61049461"/>
                  </a:ext>
                </a:extLst>
              </a:tr>
              <a:tr h="372247">
                <a:tc>
                  <a:txBody>
                    <a:bodyPr/>
                    <a:lstStyle/>
                    <a:p>
                      <a:pPr algn="r">
                        <a:buNone/>
                      </a:pPr>
                      <a:r>
                        <a:rPr lang="ca-ES" sz="1100" b="1">
                          <a:effectLst/>
                        </a:rPr>
                        <a:t>Descripció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sistema mostra al client el cost d'enviament d'una comanda abans de confirmar-la. El cost es calcula segons la distància entre el cuiner i el punt de recollida.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6735445"/>
                  </a:ext>
                </a:extLst>
              </a:tr>
              <a:tr h="186123">
                <a:tc>
                  <a:txBody>
                    <a:bodyPr/>
                    <a:lstStyle/>
                    <a:p>
                      <a:pPr algn="r">
                        <a:buNone/>
                      </a:pPr>
                      <a:r>
                        <a:rPr lang="ca-ES" sz="1100" b="1">
                          <a:effectLst/>
                        </a:rPr>
                        <a:t>Actors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Client, Mapa/ubicació</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73289525"/>
                  </a:ext>
                </a:extLst>
              </a:tr>
              <a:tr h="186123">
                <a:tc>
                  <a:txBody>
                    <a:bodyPr/>
                    <a:lstStyle/>
                    <a:p>
                      <a:pPr algn="r">
                        <a:buNone/>
                      </a:pPr>
                      <a:r>
                        <a:rPr lang="ca-ES" sz="1100" b="1">
                          <a:effectLst/>
                        </a:rPr>
                        <a:t>Precondició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client ha seleccionat un cuiner i els plats, però encara no ha confirmat la comanda.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80124132"/>
                  </a:ext>
                </a:extLst>
              </a:tr>
              <a:tr h="918211">
                <a:tc>
                  <a:txBody>
                    <a:bodyPr/>
                    <a:lstStyle/>
                    <a:p>
                      <a:pPr algn="r">
                        <a:buNone/>
                      </a:pPr>
                      <a:r>
                        <a:rPr lang="ca-ES" sz="1100" b="1">
                          <a:effectLst/>
                        </a:rPr>
                        <a:t>Flux principal</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lvl="0" indent="-228600" algn="l">
                        <a:buAutoNum type="arabicPeriod"/>
                      </a:pPr>
                      <a:r>
                        <a:rPr lang="ca-ES" sz="1100">
                          <a:effectLst/>
                        </a:rPr>
                        <a:t>El sistema obté les coordenades del cuiner i del punt de recollida (domicili del cuiner, local del client o ubicació del repartidor segons l'opció triada).</a:t>
                      </a:r>
                    </a:p>
                    <a:p>
                      <a:pPr marL="228600" lvl="0" indent="-228600" algn="l">
                        <a:buAutoNum type="arabicPeriod"/>
                      </a:pPr>
                      <a:r>
                        <a:rPr lang="ca-ES" sz="1100">
                          <a:effectLst/>
                        </a:rPr>
                        <a:t>Calcula la distància Manhattan.</a:t>
                      </a:r>
                      <a:endParaRPr lang="ca-ES"/>
                    </a:p>
                    <a:p>
                      <a:pPr marL="228600" lvl="0" indent="-228600" algn="l">
                        <a:buAutoNum type="arabicPeriod"/>
                      </a:pPr>
                      <a:r>
                        <a:rPr lang="ca-ES" sz="1100">
                          <a:effectLst/>
                        </a:rPr>
                        <a:t>Aplica la tarifa corresponent (gratuït si el client es desplaça al domicili del cuiner).</a:t>
                      </a:r>
                      <a:endParaRPr lang="ca-ES"/>
                    </a:p>
                    <a:p>
                      <a:pPr marL="228600" lvl="0" indent="-228600" algn="l">
                        <a:buAutoNum type="arabicPeriod"/>
                      </a:pPr>
                      <a:r>
                        <a:rPr lang="ca-ES" sz="1100">
                          <a:effectLst/>
                        </a:rPr>
                        <a:t>Mostra el cost d'enviament al resum de la comanda.</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48944531"/>
                  </a:ext>
                </a:extLst>
              </a:tr>
              <a:tr h="372247">
                <a:tc>
                  <a:txBody>
                    <a:bodyPr/>
                    <a:lstStyle/>
                    <a:p>
                      <a:pPr algn="r">
                        <a:buNone/>
                      </a:pPr>
                      <a:r>
                        <a:rPr lang="ca-ES" sz="1100" b="1">
                          <a:effectLst/>
                        </a:rPr>
                        <a:t>Subfluxos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Si el client té subscripció mensual l'enviament pot ser gratuït (tarifa plana).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26722916"/>
                  </a:ext>
                </a:extLst>
              </a:tr>
              <a:tr h="186123">
                <a:tc>
                  <a:txBody>
                    <a:bodyPr/>
                    <a:lstStyle/>
                    <a:p>
                      <a:pPr algn="r">
                        <a:buNone/>
                      </a:pPr>
                      <a:r>
                        <a:rPr lang="ca-ES" sz="1100" b="1">
                          <a:effectLst/>
                        </a:rPr>
                        <a:t>Fluxos alternatius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marL="228600" marR="457200" lvl="0" indent="0" algn="l">
                        <a:spcBef>
                          <a:spcPts val="500"/>
                        </a:spcBef>
                        <a:spcAft>
                          <a:spcPts val="500"/>
                        </a:spcAft>
                        <a:buNone/>
                      </a:pPr>
                      <a:r>
                        <a:rPr lang="ca-ES" sz="1100" b="0" i="0" u="none" strike="noStrike" kern="1200" baseline="0" noProof="0">
                          <a:solidFill>
                            <a:srgbClr val="000000"/>
                          </a:solidFill>
                          <a:effectLst/>
                          <a:latin typeface="Neue Haas Grotesk Text Pro"/>
                          <a:ea typeface="+mn-ea"/>
                          <a:cs typeface="+mn-cs"/>
                        </a:rPr>
                        <a:t>No es pot obtenir la ubicació:  el sistema mostra un missatge d'error i no es calcula el cost.</a:t>
                      </a:r>
                      <a:endParaRPr lang="ca-ES"/>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61327384"/>
                  </a:ext>
                </a:extLst>
              </a:tr>
              <a:tr h="186123">
                <a:tc>
                  <a:txBody>
                    <a:bodyPr/>
                    <a:lstStyle/>
                    <a:p>
                      <a:pPr algn="r">
                        <a:buNone/>
                      </a:pPr>
                      <a:r>
                        <a:rPr lang="ca-ES" sz="1100" b="1">
                          <a:effectLst/>
                        </a:rPr>
                        <a:t>Postcondició</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rPr>
                        <a:t>El client pot veure el cost de la comanda abans de pagar.</a:t>
                      </a:r>
                      <a:endParaRPr lang="ca-ES" sz="1100"/>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40087435"/>
                  </a:ext>
                </a:extLst>
              </a:tr>
              <a:tr h="186123">
                <a:tc>
                  <a:txBody>
                    <a:bodyPr/>
                    <a:lstStyle/>
                    <a:p>
                      <a:pPr algn="r">
                        <a:buNone/>
                      </a:pPr>
                      <a:r>
                        <a:rPr lang="ca-ES" sz="1100" b="1">
                          <a:effectLst/>
                        </a:rPr>
                        <a:t>Requeriments no funcionals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lvl="0" algn="l">
                        <a:buNone/>
                      </a:pPr>
                      <a:r>
                        <a:rPr lang="ca-ES" sz="1100" b="0" i="0" u="none" strike="noStrike" baseline="0" noProof="0">
                          <a:solidFill>
                            <a:srgbClr val="000000"/>
                          </a:solidFill>
                          <a:effectLst/>
                          <a:latin typeface="Neue Haas Grotesk Text Pro"/>
                          <a:cs typeface="Times New Roman"/>
                        </a:rPr>
                        <a:t>RNF-03-00 (distància Manhattan), RNF-03-01 (API Google Maps).</a:t>
                      </a:r>
                      <a:endParaRPr lang="ca-ES" sz="1100"/>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15901478"/>
                  </a:ext>
                </a:extLst>
              </a:tr>
              <a:tr h="186123">
                <a:tc>
                  <a:txBody>
                    <a:bodyPr/>
                    <a:lstStyle/>
                    <a:p>
                      <a:pPr algn="r">
                        <a:buNone/>
                      </a:pPr>
                      <a:r>
                        <a:rPr lang="ca-ES" sz="1100" b="1">
                          <a:effectLst/>
                        </a:rPr>
                        <a:t>Prioritat</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a:effectLst/>
                        </a:rPr>
                        <a:t>Alta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9556542"/>
                  </a:ext>
                </a:extLst>
              </a:tr>
              <a:tr h="186123">
                <a:tc>
                  <a:txBody>
                    <a:bodyPr/>
                    <a:lstStyle/>
                    <a:p>
                      <a:pPr algn="r">
                        <a:buNone/>
                      </a:pPr>
                      <a:r>
                        <a:rPr lang="ca-ES" sz="1100" b="1">
                          <a:effectLst/>
                        </a:rPr>
                        <a:t>Comentaris</a:t>
                      </a:r>
                      <a:endParaRPr lang="ca-ES" sz="1000" b="1">
                        <a:effectLst/>
                        <a:latin typeface="Times New Roman" panose="02020603050405020304" pitchFamily="18" charset="0"/>
                        <a:ea typeface="Times New Roman" panose="02020603050405020304" pitchFamily="18" charset="0"/>
                      </a:endParaRPr>
                    </a:p>
                  </a:txBody>
                  <a:tcPr marL="44450" marR="44450" marT="0" marB="0"/>
                </a:tc>
                <a:tc gridSpan="3">
                  <a:txBody>
                    <a:bodyPr/>
                    <a:lstStyle/>
                    <a:p>
                      <a:pPr algn="l">
                        <a:buNone/>
                      </a:pPr>
                      <a:r>
                        <a:rPr lang="ca-ES" sz="1100" b="0" i="0" u="none" strike="noStrike" kern="1200" baseline="0">
                          <a:solidFill>
                            <a:srgbClr val="000000"/>
                          </a:solidFill>
                          <a:effectLst/>
                          <a:latin typeface="Neue Haas Grotesk Text Pro"/>
                          <a:ea typeface="+mn-ea"/>
                          <a:cs typeface="+mn-cs"/>
                        </a:rPr>
                        <a:t>Aquest cas d'ús és inclòs (&lt;&lt;include&gt;&gt;) obligatòriamenrt dins de "Fer una comanda".</a:t>
                      </a:r>
                    </a:p>
                  </a:txBody>
                  <a:tcPr marL="44450" marR="4445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48280576"/>
                  </a:ext>
                </a:extLst>
              </a:tr>
            </a:tbl>
          </a:graphicData>
        </a:graphic>
      </p:graphicFrame>
    </p:spTree>
    <p:extLst>
      <p:ext uri="{BB962C8B-B14F-4D97-AF65-F5344CB8AC3E}">
        <p14:creationId xmlns:p14="http://schemas.microsoft.com/office/powerpoint/2010/main" val="50346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F69A609-A444-FDEE-F868-AAF948F367E4}"/>
            </a:ext>
          </a:extLst>
        </p:cNvPr>
        <p:cNvGrpSpPr/>
        <p:nvPr/>
      </p:nvGrpSpPr>
      <p:grpSpPr>
        <a:xfrm>
          <a:off x="0" y="0"/>
          <a:ext cx="0" cy="0"/>
          <a:chOff x="0" y="0"/>
          <a:chExt cx="0" cy="0"/>
        </a:xfrm>
      </p:grpSpPr>
      <p:sp>
        <p:nvSpPr>
          <p:cNvPr id="135" name="Rectangle 13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Rectangle 135">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7" name="Rectangle 13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8" name="Rectangle 137">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86D1E4CD-D4AF-A279-8C5C-6F0A9929208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39" name="Rectangle 138">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13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31664347-3326-AF55-169C-D2846CDB466D}"/>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29</a:t>
            </a:fld>
            <a:endParaRPr lang="en-US">
              <a:solidFill>
                <a:schemeClr val="tx2">
                  <a:lumMod val="50000"/>
                  <a:lumOff val="50000"/>
                </a:schemeClr>
              </a:solidFill>
            </a:endParaRPr>
          </a:p>
        </p:txBody>
      </p:sp>
      <p:graphicFrame>
        <p:nvGraphicFramePr>
          <p:cNvPr id="8" name="Taula 7">
            <a:extLst>
              <a:ext uri="{FF2B5EF4-FFF2-40B4-BE49-F238E27FC236}">
                <a16:creationId xmlns:a16="http://schemas.microsoft.com/office/drawing/2014/main" id="{B917A1EF-7C17-D0CF-51F5-56C37C32BC18}"/>
              </a:ext>
            </a:extLst>
          </p:cNvPr>
          <p:cNvGraphicFramePr>
            <a:graphicFrameLocks noGrp="1"/>
          </p:cNvGraphicFramePr>
          <p:nvPr>
            <p:extLst>
              <p:ext uri="{D42A27DB-BD31-4B8C-83A1-F6EECF244321}">
                <p14:modId xmlns:p14="http://schemas.microsoft.com/office/powerpoint/2010/main" val="1591867195"/>
              </p:ext>
            </p:extLst>
          </p:nvPr>
        </p:nvGraphicFramePr>
        <p:xfrm>
          <a:off x="1064750" y="2004831"/>
          <a:ext cx="10058397" cy="4534709"/>
        </p:xfrm>
        <a:graphic>
          <a:graphicData uri="http://schemas.openxmlformats.org/drawingml/2006/table">
            <a:tbl>
              <a:tblPr firstRow="1" bandRow="1">
                <a:tableStyleId>{5C22544A-7EE6-4342-B048-85BDC9FD1C3A}</a:tableStyleId>
              </a:tblPr>
              <a:tblGrid>
                <a:gridCol w="2944191">
                  <a:extLst>
                    <a:ext uri="{9D8B030D-6E8A-4147-A177-3AD203B41FA5}">
                      <a16:colId xmlns:a16="http://schemas.microsoft.com/office/drawing/2014/main" val="746127896"/>
                    </a:ext>
                  </a:extLst>
                </a:gridCol>
                <a:gridCol w="1989809">
                  <a:extLst>
                    <a:ext uri="{9D8B030D-6E8A-4147-A177-3AD203B41FA5}">
                      <a16:colId xmlns:a16="http://schemas.microsoft.com/office/drawing/2014/main" val="520581585"/>
                    </a:ext>
                  </a:extLst>
                </a:gridCol>
                <a:gridCol w="2205454">
                  <a:extLst>
                    <a:ext uri="{9D8B030D-6E8A-4147-A177-3AD203B41FA5}">
                      <a16:colId xmlns:a16="http://schemas.microsoft.com/office/drawing/2014/main" val="1288175847"/>
                    </a:ext>
                  </a:extLst>
                </a:gridCol>
                <a:gridCol w="2918943">
                  <a:extLst>
                    <a:ext uri="{9D8B030D-6E8A-4147-A177-3AD203B41FA5}">
                      <a16:colId xmlns:a16="http://schemas.microsoft.com/office/drawing/2014/main" val="3227194742"/>
                    </a:ext>
                  </a:extLst>
                </a:gridCol>
              </a:tblGrid>
              <a:tr h="217759">
                <a:tc>
                  <a:txBody>
                    <a:bodyPr/>
                    <a:lstStyle/>
                    <a:p>
                      <a:pPr marL="0" algn="r" defTabSz="914400" rtl="0" eaLnBrk="1" fontAlgn="base" latinLnBrk="0" hangingPunct="1">
                        <a:lnSpc>
                          <a:spcPts val="1350"/>
                        </a:lnSpc>
                        <a:buNone/>
                      </a:pPr>
                      <a:r>
                        <a:rPr lang="ca-ES" sz="1100" b="1" i="0">
                          <a:solidFill>
                            <a:srgbClr val="FFFFFF"/>
                          </a:solidFill>
                          <a:effectLst/>
                          <a:latin typeface="Neue Haas Grotesk Text Pro"/>
                        </a:rPr>
                        <a:t>CAS D’ÚS:</a:t>
                      </a:r>
                      <a:endParaRPr lang="ca-ES" sz="1100" b="0" i="0">
                        <a:solidFill>
                          <a:srgbClr val="FFFFFF"/>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gridSpan="3">
                  <a:txBody>
                    <a:bodyPr/>
                    <a:lstStyle/>
                    <a:p>
                      <a:pPr marL="0" lvl="0" algn="l" defTabSz="914400" rtl="0" eaLnBrk="1" latinLnBrk="0" hangingPunct="1">
                        <a:lnSpc>
                          <a:spcPts val="1350"/>
                        </a:lnSpc>
                        <a:buNone/>
                      </a:pPr>
                      <a:r>
                        <a:rPr lang="ca-ES" sz="1100" b="0" i="0" u="none" strike="noStrike">
                          <a:solidFill>
                            <a:srgbClr val="FFFFFF"/>
                          </a:solidFill>
                          <a:effectLst/>
                          <a:latin typeface="Aptos"/>
                        </a:rPr>
                        <a:t>Valorar una comanda rebuda</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34D54"/>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77314750"/>
                  </a:ext>
                </a:extLst>
              </a:tr>
              <a:tr h="214044">
                <a:tc>
                  <a:txBody>
                    <a:bodyPr/>
                    <a:lstStyle/>
                    <a:p>
                      <a:pPr marL="0" algn="r" defTabSz="914400" rtl="0" eaLnBrk="1" fontAlgn="base" latinLnBrk="0" hangingPunct="1">
                        <a:lnSpc>
                          <a:spcPts val="1200"/>
                        </a:lnSpc>
                        <a:buNone/>
                      </a:pPr>
                      <a:r>
                        <a:rPr lang="ca-ES" sz="1100" b="1" i="0">
                          <a:solidFill>
                            <a:srgbClr val="000000"/>
                          </a:solidFill>
                          <a:effectLst/>
                          <a:latin typeface="Neue Haas Grotesk Text Pro"/>
                        </a:rPr>
                        <a:t>Versió</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marL="0" algn="l" defTabSz="914400" rtl="0" eaLnBrk="1" fontAlgn="base" latinLnBrk="0" hangingPunct="1">
                        <a:lnSpc>
                          <a:spcPts val="1350"/>
                        </a:lnSpc>
                        <a:buNone/>
                      </a:pPr>
                      <a:r>
                        <a:rPr lang="ca-ES" sz="1100" b="0" i="0">
                          <a:solidFill>
                            <a:srgbClr val="000000"/>
                          </a:solidFill>
                          <a:effectLst/>
                          <a:latin typeface="Neue Haas Grotesk Text Pro"/>
                        </a:rPr>
                        <a:t>1.0</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marL="0" algn="r" defTabSz="914400" rtl="0" eaLnBrk="1" fontAlgn="base" latinLnBrk="0" hangingPunct="1">
                        <a:lnSpc>
                          <a:spcPts val="1200"/>
                        </a:lnSpc>
                        <a:buNone/>
                      </a:pPr>
                      <a:r>
                        <a:rPr lang="ca-ES" sz="1100" b="1" i="0">
                          <a:solidFill>
                            <a:srgbClr val="000000"/>
                          </a:solidFill>
                          <a:effectLst/>
                          <a:latin typeface="Neue Haas Grotesk Text Pro"/>
                        </a:rPr>
                        <a:t>Data</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a:txBody>
                    <a:bodyPr/>
                    <a:lstStyle/>
                    <a:p>
                      <a:pPr marL="0" algn="l" defTabSz="914400" rtl="0" eaLnBrk="1" fontAlgn="base" latinLnBrk="0" hangingPunct="1">
                        <a:lnSpc>
                          <a:spcPts val="1350"/>
                        </a:lnSpc>
                        <a:buNone/>
                      </a:pPr>
                      <a:r>
                        <a:rPr lang="ca-ES" sz="1100" b="0" i="0">
                          <a:solidFill>
                            <a:srgbClr val="000000"/>
                          </a:solidFill>
                          <a:effectLst/>
                          <a:latin typeface="Neue Haas Grotesk Text Pro"/>
                        </a:rPr>
                        <a:t>16/05/2026</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extLst>
                  <a:ext uri="{0D108BD9-81ED-4DB2-BD59-A6C34878D82A}">
                    <a16:rowId xmlns:a16="http://schemas.microsoft.com/office/drawing/2014/main" val="2835537271"/>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Autors</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lvl="0" algn="l" defTabSz="914400" rtl="0" eaLnBrk="1" latinLnBrk="0" hangingPunct="1">
                        <a:lnSpc>
                          <a:spcPct val="100000"/>
                        </a:lnSpc>
                        <a:spcBef>
                          <a:spcPts val="0"/>
                        </a:spcBef>
                        <a:spcAft>
                          <a:spcPts val="0"/>
                        </a:spcAft>
                        <a:buNone/>
                      </a:pPr>
                      <a:r>
                        <a:rPr lang="ca-ES" sz="1100" b="0" i="0" u="none" strike="noStrike" noProof="0">
                          <a:solidFill>
                            <a:srgbClr val="000000"/>
                          </a:solidFill>
                          <a:effectLst/>
                          <a:latin typeface="Neue Haas Grotesk Text Pro"/>
                        </a:rPr>
                        <a:t>Enric, Blay, Maria i Neus</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98801922"/>
                  </a:ext>
                </a:extLst>
              </a:tr>
              <a:tr h="498991">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Descripció</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just" defTabSz="914400" rtl="0" eaLnBrk="1" fontAlgn="base" latinLnBrk="0" hangingPunct="1">
                        <a:lnSpc>
                          <a:spcPts val="1350"/>
                        </a:lnSpc>
                        <a:buNone/>
                      </a:pPr>
                      <a:r>
                        <a:rPr lang="ca-ES" sz="1100" b="0" i="0">
                          <a:solidFill>
                            <a:srgbClr val="000000"/>
                          </a:solidFill>
                          <a:effectLst/>
                          <a:latin typeface="Neue Haas Grotesk Text Pro"/>
                        </a:rPr>
                        <a:t>Aquest cas d’ús descriu com un cop els clients han rebut una comanda, poder valorar-la indicant aspectes com la puntualitat del servei o l'estat del menjar. Aquesta valoració es fa servir per posicionar els cuiners al rànquing del sistema. Cada comanda només pot tenir una única valoració, feta pel client que la va realitzar.</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35146110"/>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Actors</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l" defTabSz="914400" rtl="0" eaLnBrk="1" fontAlgn="base" latinLnBrk="0" hangingPunct="1">
                        <a:lnSpc>
                          <a:spcPts val="1350"/>
                        </a:lnSpc>
                        <a:buNone/>
                      </a:pPr>
                      <a:r>
                        <a:rPr lang="ca-ES" sz="1100" b="0" i="0">
                          <a:solidFill>
                            <a:srgbClr val="000000"/>
                          </a:solidFill>
                          <a:effectLst/>
                          <a:latin typeface="Neue Haas Grotesk Text Pro"/>
                        </a:rPr>
                        <a:t>Client</a:t>
                      </a:r>
                      <a:endParaRPr lang="en-U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028071133"/>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Precondició</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just" defTabSz="914400" rtl="0" eaLnBrk="1" fontAlgn="base" latinLnBrk="0" hangingPunct="1">
                        <a:lnSpc>
                          <a:spcPts val="1350"/>
                        </a:lnSpc>
                        <a:buNone/>
                      </a:pPr>
                      <a:r>
                        <a:rPr lang="ca-ES" sz="1100" b="0" i="0">
                          <a:solidFill>
                            <a:srgbClr val="000000"/>
                          </a:solidFill>
                          <a:effectLst/>
                          <a:latin typeface="Neue Haas Grotesk Text Pro"/>
                        </a:rPr>
                        <a:t>El client està registrat. La comanda ha estat lliurada (estat "rebuda"). El client no ha valorat prèviament aquesta comanda.</a:t>
                      </a:r>
                      <a:endParaRPr lang="es-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78946681"/>
                  </a:ext>
                </a:extLst>
              </a:tr>
              <a:tr h="937555">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Flux principal</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342900" lvl="0" indent="-342900" algn="just" defTabSz="914400" rtl="0" eaLnBrk="1" fontAlgn="base" latinLnBrk="0" hangingPunct="1">
                        <a:lnSpc>
                          <a:spcPts val="1200"/>
                        </a:lnSpc>
                        <a:buAutoNum type="arabicPeriod"/>
                      </a:pPr>
                      <a:r>
                        <a:rPr lang="ca-ES" sz="1100" b="0" i="0">
                          <a:solidFill>
                            <a:srgbClr val="000000"/>
                          </a:solidFill>
                          <a:effectLst/>
                          <a:latin typeface="Neue Haas Grotesk Text Pro"/>
                        </a:rPr>
                        <a:t>El client accedeix a la seccio "Historial de comandes".</a:t>
                      </a:r>
                      <a:endParaRPr lang="es-ES" sz="1100" b="0" i="0">
                        <a:solidFill>
                          <a:srgbClr val="000000"/>
                        </a:solidFill>
                        <a:effectLst/>
                        <a:latin typeface="Neue Haas Grotesk Text Pro"/>
                      </a:endParaRPr>
                    </a:p>
                    <a:p>
                      <a:pPr marL="342900" lvl="0" indent="-342900" algn="just" defTabSz="914400" rtl="0" eaLnBrk="1" fontAlgn="base" latinLnBrk="0" hangingPunct="1">
                        <a:lnSpc>
                          <a:spcPts val="1200"/>
                        </a:lnSpc>
                        <a:buAutoNum type="arabicPeriod"/>
                      </a:pPr>
                      <a:r>
                        <a:rPr lang="ca-ES" sz="1100" b="0" i="0">
                          <a:solidFill>
                            <a:srgbClr val="000000"/>
                          </a:solidFill>
                          <a:effectLst/>
                          <a:latin typeface="Neue Haas Grotesk Text Pro"/>
                        </a:rPr>
                        <a:t>Selecciona una comanda que estigui en estat "rebuda".</a:t>
                      </a:r>
                    </a:p>
                    <a:p>
                      <a:pPr marL="342900" lvl="0" indent="-342900" algn="just" defTabSz="914400" rtl="0" eaLnBrk="1" latinLnBrk="0" hangingPunct="1">
                        <a:lnSpc>
                          <a:spcPts val="1200"/>
                        </a:lnSpc>
                        <a:buAutoNum type="arabicPeriod"/>
                      </a:pPr>
                      <a:r>
                        <a:rPr lang="ca-ES" sz="1100" b="0" i="0">
                          <a:solidFill>
                            <a:srgbClr val="000000"/>
                          </a:solidFill>
                          <a:effectLst/>
                          <a:latin typeface="Neue Haas Grotesk Text Pro"/>
                        </a:rPr>
                        <a:t>El sistema mostra un botó "Valorar comanda".</a:t>
                      </a:r>
                    </a:p>
                    <a:p>
                      <a:pPr marL="342900" lvl="0" indent="-342900" algn="just" defTabSz="914400" rtl="0" eaLnBrk="1" latinLnBrk="0" hangingPunct="1">
                        <a:lnSpc>
                          <a:spcPts val="1200"/>
                        </a:lnSpc>
                        <a:buAutoNum type="arabicPeriod"/>
                      </a:pPr>
                      <a:r>
                        <a:rPr lang="ca-ES" sz="1100" b="0" i="0">
                          <a:solidFill>
                            <a:srgbClr val="000000"/>
                          </a:solidFill>
                          <a:effectLst/>
                          <a:latin typeface="Neue Haas Grotesk Text Pro"/>
                        </a:rPr>
                        <a:t>El client clica el botó i s'obre un formulari de valoració.</a:t>
                      </a:r>
                    </a:p>
                    <a:p>
                      <a:pPr marL="342900" lvl="0" indent="-342900" algn="just" defTabSz="914400" rtl="0" eaLnBrk="1" latinLnBrk="0" hangingPunct="1">
                        <a:lnSpc>
                          <a:spcPts val="1200"/>
                        </a:lnSpc>
                        <a:buAutoNum type="arabicPeriod"/>
                      </a:pPr>
                      <a:r>
                        <a:rPr lang="ca-ES" sz="1100" b="0" i="0">
                          <a:solidFill>
                            <a:srgbClr val="000000"/>
                          </a:solidFill>
                          <a:effectLst/>
                          <a:latin typeface="Neue Haas Grotesk Text Pro"/>
                        </a:rPr>
                        <a:t>El client assigna una puntuació (per exemple de 1 a 5 estrelles).</a:t>
                      </a:r>
                    </a:p>
                    <a:p>
                      <a:pPr marL="342900" lvl="0" indent="-342900" algn="just" defTabSz="914400" rtl="0" eaLnBrk="1" latinLnBrk="0" hangingPunct="1">
                        <a:lnSpc>
                          <a:spcPts val="1200"/>
                        </a:lnSpc>
                        <a:buAutoNum type="arabicPeriod"/>
                      </a:pPr>
                      <a:r>
                        <a:rPr lang="ca-ES" sz="1100" b="0" i="0">
                          <a:solidFill>
                            <a:srgbClr val="000000"/>
                          </a:solidFill>
                          <a:effectLst/>
                          <a:latin typeface="Neue Haas Grotesk Text Pro"/>
                        </a:rPr>
                        <a:t>El client confirma la valoració.</a:t>
                      </a:r>
                    </a:p>
                    <a:p>
                      <a:pPr marL="342900" lvl="0" indent="-342900" algn="just" defTabSz="914400" rtl="0" eaLnBrk="1" latinLnBrk="0" hangingPunct="1">
                        <a:lnSpc>
                          <a:spcPts val="1200"/>
                        </a:lnSpc>
                        <a:buAutoNum type="arabicPeriod"/>
                      </a:pPr>
                      <a:r>
                        <a:rPr lang="ca-ES" sz="1100" b="0" i="0">
                          <a:solidFill>
                            <a:srgbClr val="000000"/>
                          </a:solidFill>
                          <a:effectLst/>
                          <a:latin typeface="Neue Haas Grotesk Text Pro"/>
                        </a:rPr>
                        <a:t>El sistema registra la valoració associada a la comanda i actualitza el rànquing del cuiner.</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32116786"/>
                  </a:ext>
                </a:extLst>
              </a:tr>
              <a:tr h="215062">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Subfluxos</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l" defTabSz="914400" rtl="0" eaLnBrk="1" fontAlgn="t" latinLnBrk="0" hangingPunct="1">
                        <a:buNone/>
                      </a:pPr>
                      <a:r>
                        <a:rPr lang="ca-ES" sz="1100" b="0" i="0" kern="1200">
                          <a:solidFill>
                            <a:srgbClr val="000000"/>
                          </a:solidFill>
                          <a:effectLst/>
                          <a:latin typeface="Neue Haas Grotesk Text Pro"/>
                          <a:ea typeface="+mn-ea"/>
                          <a:cs typeface="+mn-cs"/>
                        </a:rPr>
                        <a:t>Des de la mateixa pantalla, el client pot veure valoracions prèvies seves. </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273458966"/>
                  </a:ext>
                </a:extLst>
              </a:tr>
              <a:tr h="35651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Fluxos alternatius</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lvl="0" indent="0" algn="l" defTabSz="914400" rtl="0" eaLnBrk="1" latinLnBrk="0" hangingPunct="1">
                        <a:lnSpc>
                          <a:spcPts val="1350"/>
                        </a:lnSpc>
                        <a:buNone/>
                      </a:pPr>
                      <a:r>
                        <a:rPr lang="ca-ES" sz="1100" b="0" i="0" u="none" strike="noStrike" noProof="0">
                          <a:solidFill>
                            <a:srgbClr val="000000"/>
                          </a:solidFill>
                          <a:effectLst/>
                          <a:latin typeface="Neue Haas Grotesk Text Pro"/>
                        </a:rPr>
                        <a:t>2a. La comanda encara no s'ha lliurat: el botó "Valorar" està deshabilitat o no apareix.</a:t>
                      </a:r>
                      <a:endParaRPr lang="ca-ES" sz="1100" b="0" i="0" u="none" strike="noStrike">
                        <a:solidFill>
                          <a:srgbClr val="000000"/>
                        </a:solidFill>
                        <a:latin typeface="Neue Haas Grotesk Text Pro"/>
                      </a:endParaRPr>
                    </a:p>
                    <a:p>
                      <a:pPr marL="0" lvl="0" indent="0" algn="l" defTabSz="914400" rtl="0" eaLnBrk="1" latinLnBrk="0" hangingPunct="1">
                        <a:lnSpc>
                          <a:spcPts val="1350"/>
                        </a:lnSpc>
                        <a:buNone/>
                      </a:pPr>
                      <a:r>
                        <a:rPr lang="ca-ES" sz="1100" b="0" i="0" u="none">
                          <a:solidFill>
                            <a:srgbClr val="000000"/>
                          </a:solidFill>
                          <a:effectLst/>
                          <a:latin typeface="Neue Haas Grotesk Text Pro"/>
                        </a:rPr>
                        <a:t>2b. La comanda ja té una valoració: e</a:t>
                      </a:r>
                      <a:r>
                        <a:rPr lang="ca-ES" sz="1100" b="0" i="0" u="none" strike="noStrike">
                          <a:solidFill>
                            <a:srgbClr val="000000"/>
                          </a:solidFill>
                          <a:effectLst/>
                          <a:latin typeface="Neue Haas Grotesk Text Pro"/>
                        </a:rPr>
                        <a:t>l sistema mostra la valoració existent i no permet crear-ne una de nova.</a:t>
                      </a:r>
                      <a:endParaRPr lang="en-US" sz="1100" b="0" i="0" u="none" strike="noStrike">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49666196"/>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Postcondició</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lvl="0" algn="l" defTabSz="914400" rtl="0" eaLnBrk="1" latinLnBrk="0" hangingPunct="1">
                        <a:lnSpc>
                          <a:spcPts val="1350"/>
                        </a:lnSpc>
                        <a:buNone/>
                      </a:pPr>
                      <a:r>
                        <a:rPr lang="ca-ES" sz="1100" b="0" i="0">
                          <a:solidFill>
                            <a:srgbClr val="000000"/>
                          </a:solidFill>
                          <a:effectLst/>
                          <a:latin typeface="Neue Haas Grotesk Text Pro"/>
                        </a:rPr>
                        <a:t>La comanda queda marcada com a valorada. La valoració s'emmagatzema i influeix en el rànquing de cuiners.</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638177370"/>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Requeriments no funcionals</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l" defTabSz="914400" rtl="0" eaLnBrk="1" fontAlgn="base" latinLnBrk="0" hangingPunct="1">
                        <a:lnSpc>
                          <a:spcPts val="1350"/>
                        </a:lnSpc>
                        <a:buNone/>
                      </a:pPr>
                      <a:r>
                        <a:rPr lang="ca-ES" sz="1100" b="0" i="0" u="none" strike="noStrike">
                          <a:solidFill>
                            <a:srgbClr val="000000"/>
                          </a:solidFill>
                          <a:effectLst/>
                          <a:latin typeface="Neue Haas Grotesk Text Pro"/>
                        </a:rPr>
                        <a:t>RNF-05-00 (només una única valoració per comanda), RNF-00-07 (interfície intuïtiva i amb claredat).</a:t>
                      </a:r>
                      <a:endParaRPr lang="en-US" sz="1100" b="0" i="0" u="none" strike="noStrike">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86632862"/>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Prioritat</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l" defTabSz="914400" rtl="0" eaLnBrk="1" fontAlgn="base" latinLnBrk="0" hangingPunct="1">
                        <a:lnSpc>
                          <a:spcPts val="1350"/>
                        </a:lnSpc>
                        <a:buNone/>
                      </a:pPr>
                      <a:r>
                        <a:rPr lang="ca-ES" sz="1100" b="0" i="0">
                          <a:solidFill>
                            <a:srgbClr val="000000"/>
                          </a:solidFill>
                          <a:effectLst/>
                          <a:latin typeface="Neue Haas Grotesk Text Pro"/>
                        </a:rPr>
                        <a:t>Normal</a:t>
                      </a: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14393854"/>
                  </a:ext>
                </a:extLst>
              </a:tr>
              <a:tr h="214858">
                <a:tc>
                  <a:txBody>
                    <a:bodyPr/>
                    <a:lstStyle/>
                    <a:p>
                      <a:pPr marL="0" algn="r" defTabSz="914400" rtl="0" eaLnBrk="1" fontAlgn="base" latinLnBrk="0" hangingPunct="1">
                        <a:lnSpc>
                          <a:spcPts val="1350"/>
                        </a:lnSpc>
                        <a:buNone/>
                      </a:pPr>
                      <a:r>
                        <a:rPr lang="ca-ES" sz="1100" b="1" i="0">
                          <a:solidFill>
                            <a:srgbClr val="000000"/>
                          </a:solidFill>
                          <a:effectLst/>
                          <a:latin typeface="Neue Haas Grotesk Text Pro"/>
                        </a:rPr>
                        <a:t>Comentaris</a:t>
                      </a: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gridSpan="3">
                  <a:txBody>
                    <a:bodyPr/>
                    <a:lstStyle/>
                    <a:p>
                      <a:pPr marL="0" algn="l" defTabSz="914400" rtl="0" eaLnBrk="1" fontAlgn="base" latinLnBrk="0" hangingPunct="1">
                        <a:lnSpc>
                          <a:spcPts val="1350"/>
                        </a:lnSpc>
                        <a:buNone/>
                      </a:pPr>
                      <a:endParaRPr lang="ca-ES" sz="1100" b="0" i="0">
                        <a:solidFill>
                          <a:srgbClr val="000000"/>
                        </a:solidFill>
                        <a:effectLst/>
                        <a:latin typeface="Neue Haas Grotesk Text Pro"/>
                      </a:endParaRPr>
                    </a:p>
                  </a:txBody>
                  <a:tcPr marL="27685" marR="27685" marT="28479" marB="2847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5E9E9"/>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027887778"/>
                  </a:ext>
                </a:extLst>
              </a:tr>
            </a:tbl>
          </a:graphicData>
        </a:graphic>
      </p:graphicFrame>
    </p:spTree>
    <p:extLst>
      <p:ext uri="{BB962C8B-B14F-4D97-AF65-F5344CB8AC3E}">
        <p14:creationId xmlns:p14="http://schemas.microsoft.com/office/powerpoint/2010/main" val="1754482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0336F684-5D4E-7D6F-961B-A127824CCE7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CA159B96-059F-5543-0B72-2429D5131089}"/>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8" name="Rectangle 1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0A7B3783-C5CF-D411-9D87-F75221DF478C}"/>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30</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868681D5-1953-651B-1AA9-8320AAF2B8FF}"/>
              </a:ext>
            </a:extLst>
          </p:cNvPr>
          <p:cNvGraphicFramePr>
            <a:graphicFrameLocks noGrp="1"/>
          </p:cNvGraphicFramePr>
          <p:nvPr>
            <p:extLst>
              <p:ext uri="{D42A27DB-BD31-4B8C-83A1-F6EECF244321}">
                <p14:modId xmlns:p14="http://schemas.microsoft.com/office/powerpoint/2010/main" val="736359336"/>
              </p:ext>
            </p:extLst>
          </p:nvPr>
        </p:nvGraphicFramePr>
        <p:xfrm>
          <a:off x="848680" y="2091095"/>
          <a:ext cx="10498105" cy="4206250"/>
        </p:xfrm>
        <a:graphic>
          <a:graphicData uri="http://schemas.openxmlformats.org/drawingml/2006/table">
            <a:tbl>
              <a:tblPr firstRow="1" bandRow="1">
                <a:tableStyleId>{5C22544A-7EE6-4342-B048-85BDC9FD1C3A}</a:tableStyleId>
              </a:tblPr>
              <a:tblGrid>
                <a:gridCol w="3183294">
                  <a:extLst>
                    <a:ext uri="{9D8B030D-6E8A-4147-A177-3AD203B41FA5}">
                      <a16:colId xmlns:a16="http://schemas.microsoft.com/office/drawing/2014/main" val="3621179432"/>
                    </a:ext>
                  </a:extLst>
                </a:gridCol>
                <a:gridCol w="1945098">
                  <a:extLst>
                    <a:ext uri="{9D8B030D-6E8A-4147-A177-3AD203B41FA5}">
                      <a16:colId xmlns:a16="http://schemas.microsoft.com/office/drawing/2014/main" val="1633479306"/>
                    </a:ext>
                  </a:extLst>
                </a:gridCol>
                <a:gridCol w="2207290">
                  <a:extLst>
                    <a:ext uri="{9D8B030D-6E8A-4147-A177-3AD203B41FA5}">
                      <a16:colId xmlns:a16="http://schemas.microsoft.com/office/drawing/2014/main" val="2951500944"/>
                    </a:ext>
                  </a:extLst>
                </a:gridCol>
                <a:gridCol w="3162423">
                  <a:extLst>
                    <a:ext uri="{9D8B030D-6E8A-4147-A177-3AD203B41FA5}">
                      <a16:colId xmlns:a16="http://schemas.microsoft.com/office/drawing/2014/main" val="2207349862"/>
                    </a:ext>
                  </a:extLst>
                </a:gridCol>
              </a:tblGrid>
              <a:tr h="229924">
                <a:tc>
                  <a:txBody>
                    <a:bodyPr/>
                    <a:lstStyle/>
                    <a:p>
                      <a:pPr algn="r">
                        <a:buNone/>
                      </a:pPr>
                      <a:r>
                        <a:rPr lang="ca-ES" sz="1100" b="1">
                          <a:solidFill>
                            <a:srgbClr val="FFFFFF"/>
                          </a:solidFill>
                          <a:effectLst/>
                          <a:latin typeface="+mn-lt"/>
                        </a:rPr>
                        <a:t>CAS D’ÚS:</a:t>
                      </a:r>
                      <a:endParaRPr lang="ca-ES" sz="1100">
                        <a:effectLst/>
                        <a:latin typeface="+mn-l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100" b="1">
                          <a:solidFill>
                            <a:srgbClr val="FFFFFF"/>
                          </a:solidFill>
                          <a:effectLst/>
                          <a:latin typeface="+mn-lt"/>
                        </a:rPr>
                        <a:t>Seguir l’enviament al mapa</a:t>
                      </a:r>
                      <a:endParaRPr lang="ca-ES" sz="1100">
                        <a:effectLst/>
                        <a:latin typeface="+mn-l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34823875"/>
                  </a:ext>
                </a:extLst>
              </a:tr>
              <a:tr h="229924">
                <a:tc>
                  <a:txBody>
                    <a:bodyPr/>
                    <a:lstStyle/>
                    <a:p>
                      <a:pPr algn="r">
                        <a:buNone/>
                      </a:pPr>
                      <a:r>
                        <a:rPr lang="ca-ES" sz="1300" b="1">
                          <a:solidFill>
                            <a:srgbClr val="000000"/>
                          </a:solidFill>
                          <a:effectLst/>
                          <a:latin typeface="Helvetica" panose="020B0604020202020204" pitchFamily="34" charset="0"/>
                        </a:rPr>
                        <a:t>Versió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1.0</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300" b="1">
                          <a:solidFill>
                            <a:srgbClr val="000000"/>
                          </a:solidFill>
                          <a:effectLst/>
                          <a:latin typeface="Helvetica" panose="020B0604020202020204" pitchFamily="34" charset="0"/>
                        </a:rPr>
                        <a:t>Data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16/05/2026</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751142803"/>
                  </a:ext>
                </a:extLst>
              </a:tr>
              <a:tr h="229924">
                <a:tc>
                  <a:txBody>
                    <a:bodyPr/>
                    <a:lstStyle/>
                    <a:p>
                      <a:pPr algn="r">
                        <a:buNone/>
                      </a:pPr>
                      <a:r>
                        <a:rPr lang="ca-ES" sz="1300" b="1">
                          <a:solidFill>
                            <a:srgbClr val="000000"/>
                          </a:solidFill>
                          <a:effectLst/>
                          <a:latin typeface="Helvetica" panose="020B0604020202020204" pitchFamily="34" charset="0"/>
                        </a:rPr>
                        <a:t>Autors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lvl="0">
                        <a:buNone/>
                      </a:pPr>
                      <a:r>
                        <a:rPr lang="ca-ES" sz="1100" b="0" i="0" u="none" strike="noStrike" noProof="0">
                          <a:solidFill>
                            <a:srgbClr val="000000"/>
                          </a:solidFill>
                          <a:effectLst/>
                          <a:latin typeface="Neue Haas Grotesk Text Pro"/>
                        </a:rPr>
                        <a:t>Enric, Blay, Maria i Neus</a:t>
                      </a:r>
                      <a:endParaRPr lang="ca-ES"/>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712038096"/>
                  </a:ext>
                </a:extLst>
              </a:tr>
              <a:tr h="432797">
                <a:tc>
                  <a:txBody>
                    <a:bodyPr/>
                    <a:lstStyle/>
                    <a:p>
                      <a:pPr algn="r">
                        <a:buNone/>
                      </a:pPr>
                      <a:r>
                        <a:rPr lang="ca-ES" sz="1300" b="1">
                          <a:solidFill>
                            <a:srgbClr val="000000"/>
                          </a:solidFill>
                          <a:effectLst/>
                          <a:latin typeface="Helvetica" panose="020B0604020202020204" pitchFamily="34" charset="0"/>
                        </a:rPr>
                        <a:t>Descripció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Aquest cas d’ús descriu com el client pot seguir el progres de l’enviament motjançant un mapa interactiu i veure la ubicacio del repartidor o cuiner</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00480200"/>
                  </a:ext>
                </a:extLst>
              </a:tr>
              <a:tr h="229924">
                <a:tc>
                  <a:txBody>
                    <a:bodyPr/>
                    <a:lstStyle/>
                    <a:p>
                      <a:pPr algn="r">
                        <a:buNone/>
                      </a:pPr>
                      <a:r>
                        <a:rPr lang="ca-ES" sz="1300" b="1">
                          <a:solidFill>
                            <a:srgbClr val="000000"/>
                          </a:solidFill>
                          <a:effectLst/>
                          <a:latin typeface="Helvetica" panose="020B0604020202020204" pitchFamily="34" charset="0"/>
                        </a:rPr>
                        <a:t>Actors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Client, Mapa/Ubicació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43286989"/>
                  </a:ext>
                </a:extLst>
              </a:tr>
              <a:tr h="229924">
                <a:tc>
                  <a:txBody>
                    <a:bodyPr/>
                    <a:lstStyle/>
                    <a:p>
                      <a:pPr algn="r">
                        <a:buNone/>
                      </a:pPr>
                      <a:r>
                        <a:rPr lang="ca-ES" sz="1300" b="1">
                          <a:solidFill>
                            <a:srgbClr val="000000"/>
                          </a:solidFill>
                          <a:effectLst/>
                          <a:latin typeface="Helvetica" panose="020B0604020202020204" pitchFamily="34" charset="0"/>
                        </a:rPr>
                        <a:t>Precondició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El client té una comanda en procés d’enviament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594761838"/>
                  </a:ext>
                </a:extLst>
              </a:tr>
              <a:tr h="838543">
                <a:tc>
                  <a:txBody>
                    <a:bodyPr/>
                    <a:lstStyle/>
                    <a:p>
                      <a:pPr algn="r">
                        <a:buNone/>
                      </a:pPr>
                      <a:r>
                        <a:rPr lang="ca-ES" sz="1300" b="1">
                          <a:solidFill>
                            <a:srgbClr val="000000"/>
                          </a:solidFill>
                          <a:effectLst/>
                          <a:latin typeface="Helvetica" panose="020B0604020202020204" pitchFamily="34" charset="0"/>
                        </a:rPr>
                        <a:t>Flux principal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Font typeface="+mj-lt"/>
                        <a:buAutoNum type="arabicPeriod"/>
                      </a:pPr>
                      <a:r>
                        <a:rPr lang="ca-ES" sz="1300">
                          <a:solidFill>
                            <a:srgbClr val="000000"/>
                          </a:solidFill>
                          <a:effectLst/>
                          <a:latin typeface="Helvetica" panose="020B0604020202020204" pitchFamily="34" charset="0"/>
                        </a:rPr>
                        <a:t>El client obre el detall de la comanda</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mostra el mapa interactiu.</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mostra la ubicació del repartidor o cuiner</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client pot consultar l’estat de l’enviament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29812612"/>
                  </a:ext>
                </a:extLst>
              </a:tr>
              <a:tr h="432797">
                <a:tc>
                  <a:txBody>
                    <a:bodyPr/>
                    <a:lstStyle/>
                    <a:p>
                      <a:pPr algn="r">
                        <a:buNone/>
                      </a:pPr>
                      <a:r>
                        <a:rPr lang="ca-ES" sz="1300" b="1">
                          <a:solidFill>
                            <a:srgbClr val="000000"/>
                          </a:solidFill>
                          <a:effectLst/>
                          <a:latin typeface="Helvetica" panose="020B0604020202020204" pitchFamily="34" charset="0"/>
                        </a:rPr>
                        <a:t>Subfluxos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br>
                        <a:rPr lang="ca-ES" sz="1300">
                          <a:effectLst/>
                          <a:latin typeface="Helvetica"/>
                        </a:rPr>
                      </a:br>
                      <a:endParaRPr lang="ca-ES" sz="13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883167690"/>
                  </a:ext>
                </a:extLst>
              </a:tr>
              <a:tr h="432797">
                <a:tc>
                  <a:txBody>
                    <a:bodyPr/>
                    <a:lstStyle/>
                    <a:p>
                      <a:pPr algn="r">
                        <a:buNone/>
                      </a:pPr>
                      <a:r>
                        <a:rPr lang="ca-ES" sz="1300" b="1">
                          <a:solidFill>
                            <a:srgbClr val="000000"/>
                          </a:solidFill>
                          <a:effectLst/>
                          <a:latin typeface="Helvetica" panose="020B0604020202020204" pitchFamily="34" charset="0"/>
                        </a:rPr>
                        <a:t>Fluxos alternatius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spcAft>
                          <a:spcPts val="375"/>
                        </a:spcAft>
                        <a:buNone/>
                      </a:pPr>
                      <a:r>
                        <a:rPr lang="ca-ES" sz="1300">
                          <a:solidFill>
                            <a:srgbClr val="000000"/>
                          </a:solidFill>
                          <a:effectLst/>
                          <a:latin typeface="Helvetica" panose="020B0604020202020204" pitchFamily="34" charset="0"/>
                        </a:rPr>
                        <a:t>No es pot obtenir la ubicació; el sistema mostra un missatge indicant que la ubicació no està disponible</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139539219"/>
                  </a:ext>
                </a:extLst>
              </a:tr>
              <a:tr h="229924">
                <a:tc>
                  <a:txBody>
                    <a:bodyPr/>
                    <a:lstStyle/>
                    <a:p>
                      <a:pPr algn="r">
                        <a:buNone/>
                      </a:pPr>
                      <a:r>
                        <a:rPr lang="ca-ES" sz="1300" b="1">
                          <a:solidFill>
                            <a:srgbClr val="000000"/>
                          </a:solidFill>
                          <a:effectLst/>
                          <a:latin typeface="Helvetica" panose="020B0604020202020204" pitchFamily="34" charset="0"/>
                        </a:rPr>
                        <a:t>Postcondició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El client veu el progrés de l’enviament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097051851"/>
                  </a:ext>
                </a:extLst>
              </a:tr>
              <a:tr h="229924">
                <a:tc>
                  <a:txBody>
                    <a:bodyPr/>
                    <a:lstStyle/>
                    <a:p>
                      <a:pPr algn="r">
                        <a:buNone/>
                      </a:pPr>
                      <a:r>
                        <a:rPr lang="ca-ES" sz="1300" b="1">
                          <a:solidFill>
                            <a:srgbClr val="000000"/>
                          </a:solidFill>
                          <a:effectLst/>
                          <a:latin typeface="Helvetica" panose="020B0604020202020204" pitchFamily="34" charset="0"/>
                        </a:rPr>
                        <a:t>Requeriments no funcionals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a:rPr>
                        <a:t>RNF-03-01</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238344747"/>
                  </a:ext>
                </a:extLst>
              </a:tr>
              <a:tr h="229924">
                <a:tc>
                  <a:txBody>
                    <a:bodyPr/>
                    <a:lstStyle/>
                    <a:p>
                      <a:pPr algn="r">
                        <a:buNone/>
                      </a:pPr>
                      <a:r>
                        <a:rPr lang="ca-ES" sz="1300" b="1">
                          <a:solidFill>
                            <a:srgbClr val="000000"/>
                          </a:solidFill>
                          <a:effectLst/>
                          <a:latin typeface="Helvetica" panose="020B0604020202020204" pitchFamily="34" charset="0"/>
                        </a:rPr>
                        <a:t>Prioritat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Normal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600670824"/>
                  </a:ext>
                </a:extLst>
              </a:tr>
              <a:tr h="229924">
                <a:tc>
                  <a:txBody>
                    <a:bodyPr/>
                    <a:lstStyle/>
                    <a:p>
                      <a:pPr algn="r">
                        <a:buNone/>
                      </a:pPr>
                      <a:r>
                        <a:rPr lang="ca-ES" sz="1300" b="1">
                          <a:solidFill>
                            <a:srgbClr val="000000"/>
                          </a:solidFill>
                          <a:effectLst/>
                          <a:latin typeface="Helvetica" panose="020B0604020202020204" pitchFamily="34" charset="0"/>
                        </a:rPr>
                        <a:t>Comentaris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endParaRPr lang="ca-ES" sz="13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498028063"/>
                  </a:ext>
                </a:extLst>
              </a:tr>
            </a:tbl>
          </a:graphicData>
        </a:graphic>
      </p:graphicFrame>
    </p:spTree>
    <p:extLst>
      <p:ext uri="{BB962C8B-B14F-4D97-AF65-F5344CB8AC3E}">
        <p14:creationId xmlns:p14="http://schemas.microsoft.com/office/powerpoint/2010/main" val="1663114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B8B3CE8F-51D6-11C9-FCBF-5556E3E3E6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01249D1E-9F73-8F14-E7AB-9650D1EF071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8" name="Rectangle 1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046C5B35-A5BC-28F9-2141-906CEDB6DA1A}"/>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31</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C325C618-9E42-E4CB-F9CC-F1778BB70DC6}"/>
              </a:ext>
            </a:extLst>
          </p:cNvPr>
          <p:cNvGraphicFramePr>
            <a:graphicFrameLocks noGrp="1"/>
          </p:cNvGraphicFramePr>
          <p:nvPr>
            <p:extLst>
              <p:ext uri="{D42A27DB-BD31-4B8C-83A1-F6EECF244321}">
                <p14:modId xmlns:p14="http://schemas.microsoft.com/office/powerpoint/2010/main" val="2869182355"/>
              </p:ext>
            </p:extLst>
          </p:nvPr>
        </p:nvGraphicFramePr>
        <p:xfrm>
          <a:off x="1476619" y="2091095"/>
          <a:ext cx="9242228" cy="4206251"/>
        </p:xfrm>
        <a:graphic>
          <a:graphicData uri="http://schemas.openxmlformats.org/drawingml/2006/table">
            <a:tbl>
              <a:tblPr firstRow="1" bandRow="1">
                <a:tableStyleId>{5C22544A-7EE6-4342-B048-85BDC9FD1C3A}</a:tableStyleId>
              </a:tblPr>
              <a:tblGrid>
                <a:gridCol w="3604404">
                  <a:extLst>
                    <a:ext uri="{9D8B030D-6E8A-4147-A177-3AD203B41FA5}">
                      <a16:colId xmlns:a16="http://schemas.microsoft.com/office/drawing/2014/main" val="1838589953"/>
                    </a:ext>
                  </a:extLst>
                </a:gridCol>
                <a:gridCol w="1606462">
                  <a:extLst>
                    <a:ext uri="{9D8B030D-6E8A-4147-A177-3AD203B41FA5}">
                      <a16:colId xmlns:a16="http://schemas.microsoft.com/office/drawing/2014/main" val="4231685937"/>
                    </a:ext>
                  </a:extLst>
                </a:gridCol>
                <a:gridCol w="1619004">
                  <a:extLst>
                    <a:ext uri="{9D8B030D-6E8A-4147-A177-3AD203B41FA5}">
                      <a16:colId xmlns:a16="http://schemas.microsoft.com/office/drawing/2014/main" val="4018561526"/>
                    </a:ext>
                  </a:extLst>
                </a:gridCol>
                <a:gridCol w="2412358">
                  <a:extLst>
                    <a:ext uri="{9D8B030D-6E8A-4147-A177-3AD203B41FA5}">
                      <a16:colId xmlns:a16="http://schemas.microsoft.com/office/drawing/2014/main" val="3099476560"/>
                    </a:ext>
                  </a:extLst>
                </a:gridCol>
              </a:tblGrid>
              <a:tr h="229924">
                <a:tc>
                  <a:txBody>
                    <a:bodyPr/>
                    <a:lstStyle/>
                    <a:p>
                      <a:pPr algn="r">
                        <a:buNone/>
                      </a:pPr>
                      <a:r>
                        <a:rPr lang="ca-ES" sz="1300" b="1">
                          <a:solidFill>
                            <a:srgbClr val="FFFFFF"/>
                          </a:solidFill>
                          <a:effectLst/>
                          <a:latin typeface="Helvetica" panose="020B0604020202020204" pitchFamily="34" charset="0"/>
                        </a:rPr>
                        <a:t>CAS D’ÚS: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300" b="1">
                          <a:solidFill>
                            <a:srgbClr val="FFFFFF"/>
                          </a:solidFill>
                          <a:effectLst/>
                          <a:latin typeface="Helvetica"/>
                        </a:rPr>
                        <a:t>Usar punts i descomptes (si està subscrit)</a:t>
                      </a:r>
                      <a:endParaRPr lang="ca-ES" sz="13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864856221"/>
                  </a:ext>
                </a:extLst>
              </a:tr>
              <a:tr h="229924">
                <a:tc>
                  <a:txBody>
                    <a:bodyPr/>
                    <a:lstStyle/>
                    <a:p>
                      <a:pPr algn="r">
                        <a:buNone/>
                      </a:pPr>
                      <a:r>
                        <a:rPr lang="ca-ES" sz="1300" b="1">
                          <a:solidFill>
                            <a:srgbClr val="000000"/>
                          </a:solidFill>
                          <a:effectLst/>
                          <a:latin typeface="Helvetica" panose="020B0604020202020204" pitchFamily="34" charset="0"/>
                        </a:rPr>
                        <a:t>Versió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1.0</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300" b="1">
                          <a:solidFill>
                            <a:srgbClr val="000000"/>
                          </a:solidFill>
                          <a:effectLst/>
                          <a:latin typeface="Helvetica" panose="020B0604020202020204" pitchFamily="34" charset="0"/>
                        </a:rPr>
                        <a:t>Data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16/05/2026</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435531653"/>
                  </a:ext>
                </a:extLst>
              </a:tr>
              <a:tr h="229924">
                <a:tc>
                  <a:txBody>
                    <a:bodyPr/>
                    <a:lstStyle/>
                    <a:p>
                      <a:pPr algn="r">
                        <a:buNone/>
                      </a:pPr>
                      <a:r>
                        <a:rPr lang="ca-ES" sz="1300" b="1">
                          <a:solidFill>
                            <a:srgbClr val="000000"/>
                          </a:solidFill>
                          <a:effectLst/>
                          <a:latin typeface="Helvetica" panose="020B0604020202020204" pitchFamily="34" charset="0"/>
                        </a:rPr>
                        <a:t>Autors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lvl="0" algn="l">
                        <a:lnSpc>
                          <a:spcPct val="100000"/>
                        </a:lnSpc>
                        <a:spcBef>
                          <a:spcPts val="0"/>
                        </a:spcBef>
                        <a:spcAft>
                          <a:spcPts val="0"/>
                        </a:spcAft>
                        <a:buNone/>
                      </a:pPr>
                      <a:r>
                        <a:rPr lang="ca-ES" sz="1300" kern="1200" noProof="0">
                          <a:solidFill>
                            <a:srgbClr val="000000"/>
                          </a:solidFill>
                          <a:effectLst/>
                          <a:latin typeface="Helvetica" panose="020B0604020202020204" pitchFamily="34" charset="0"/>
                          <a:ea typeface="+mn-ea"/>
                          <a:cs typeface="+mn-cs"/>
                        </a:rPr>
                        <a:t>Enric, Blay, Maria i Neus</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260309913"/>
                  </a:ext>
                </a:extLst>
              </a:tr>
              <a:tr h="432797">
                <a:tc>
                  <a:txBody>
                    <a:bodyPr/>
                    <a:lstStyle/>
                    <a:p>
                      <a:pPr algn="r">
                        <a:buNone/>
                      </a:pPr>
                      <a:r>
                        <a:rPr lang="ca-ES" sz="1300" b="1">
                          <a:solidFill>
                            <a:srgbClr val="000000"/>
                          </a:solidFill>
                          <a:effectLst/>
                          <a:latin typeface="Helvetica" panose="020B0604020202020204" pitchFamily="34" charset="0"/>
                        </a:rPr>
                        <a:t>Descripció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El client subscrit pot guanyar punts per comanda I aplicar descomptes segons la seva puntuació.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11360096"/>
                  </a:ext>
                </a:extLst>
              </a:tr>
              <a:tr h="229924">
                <a:tc>
                  <a:txBody>
                    <a:bodyPr/>
                    <a:lstStyle/>
                    <a:p>
                      <a:pPr algn="r">
                        <a:buNone/>
                      </a:pPr>
                      <a:r>
                        <a:rPr lang="ca-ES" sz="1300" b="1">
                          <a:solidFill>
                            <a:srgbClr val="000000"/>
                          </a:solidFill>
                          <a:effectLst/>
                          <a:latin typeface="Helvetica" panose="020B0604020202020204" pitchFamily="34" charset="0"/>
                        </a:rPr>
                        <a:t>Actors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Client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158484349"/>
                  </a:ext>
                </a:extLst>
              </a:tr>
              <a:tr h="229924">
                <a:tc>
                  <a:txBody>
                    <a:bodyPr/>
                    <a:lstStyle/>
                    <a:p>
                      <a:pPr algn="r">
                        <a:buNone/>
                      </a:pPr>
                      <a:r>
                        <a:rPr lang="ca-ES" sz="1300" b="1">
                          <a:solidFill>
                            <a:srgbClr val="000000"/>
                          </a:solidFill>
                          <a:effectLst/>
                          <a:latin typeface="Helvetica" panose="020B0604020202020204" pitchFamily="34" charset="0"/>
                        </a:rPr>
                        <a:t>Precondició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El client està subscrit al pla mensuak i té punts disponibles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62727809"/>
                  </a:ext>
                </a:extLst>
              </a:tr>
              <a:tr h="1041417">
                <a:tc>
                  <a:txBody>
                    <a:bodyPr/>
                    <a:lstStyle/>
                    <a:p>
                      <a:pPr algn="r">
                        <a:buNone/>
                      </a:pPr>
                      <a:r>
                        <a:rPr lang="ca-ES" sz="1300" b="1">
                          <a:solidFill>
                            <a:srgbClr val="000000"/>
                          </a:solidFill>
                          <a:effectLst/>
                          <a:latin typeface="Helvetica" panose="020B0604020202020204" pitchFamily="34" charset="0"/>
                        </a:rPr>
                        <a:t>Flux principal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Font typeface="+mj-lt"/>
                        <a:buAutoNum type="arabicPeriod"/>
                      </a:pPr>
                      <a:r>
                        <a:rPr lang="ca-ES" sz="1300">
                          <a:solidFill>
                            <a:srgbClr val="000000"/>
                          </a:solidFill>
                          <a:effectLst/>
                          <a:latin typeface="Helvetica" panose="020B0604020202020204" pitchFamily="34" charset="0"/>
                        </a:rPr>
                        <a:t>El client inicia el procés de compra.</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mostra els punts disponibles.</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client decideix aplicar un descompte.</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recalcula l’import final.</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client continua amb el pagament.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066501586"/>
                  </a:ext>
                </a:extLst>
              </a:tr>
              <a:tr h="229924">
                <a:tc>
                  <a:txBody>
                    <a:bodyPr/>
                    <a:lstStyle/>
                    <a:p>
                      <a:pPr algn="r">
                        <a:buNone/>
                      </a:pPr>
                      <a:r>
                        <a:rPr lang="ca-ES" sz="1300" b="1">
                          <a:solidFill>
                            <a:srgbClr val="000000"/>
                          </a:solidFill>
                          <a:effectLst/>
                          <a:latin typeface="Helvetica" panose="020B0604020202020204" pitchFamily="34" charset="0"/>
                        </a:rPr>
                        <a:t>Subfluxos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endParaRPr lang="ca-ES" sz="13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574687158"/>
                  </a:ext>
                </a:extLst>
              </a:tr>
              <a:tr h="432797">
                <a:tc>
                  <a:txBody>
                    <a:bodyPr/>
                    <a:lstStyle/>
                    <a:p>
                      <a:pPr algn="r">
                        <a:buNone/>
                      </a:pPr>
                      <a:r>
                        <a:rPr lang="ca-ES" sz="1300" b="1">
                          <a:solidFill>
                            <a:srgbClr val="000000"/>
                          </a:solidFill>
                          <a:effectLst/>
                          <a:latin typeface="Helvetica" panose="020B0604020202020204" pitchFamily="34" charset="0"/>
                        </a:rPr>
                        <a:t>Fluxos alternatius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spcAft>
                          <a:spcPts val="375"/>
                        </a:spcAft>
                        <a:buNone/>
                      </a:pPr>
                      <a:r>
                        <a:rPr lang="ca-ES" sz="1300">
                          <a:solidFill>
                            <a:srgbClr val="000000"/>
                          </a:solidFill>
                          <a:effectLst/>
                          <a:latin typeface="Helvetica" panose="020B0604020202020204" pitchFamily="34" charset="0"/>
                        </a:rPr>
                        <a:t>El client no té punts suficients; el sistema informa que no es pot aplicar el descompte.</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083288340"/>
                  </a:ext>
                </a:extLst>
              </a:tr>
              <a:tr h="229924">
                <a:tc>
                  <a:txBody>
                    <a:bodyPr/>
                    <a:lstStyle/>
                    <a:p>
                      <a:pPr algn="r">
                        <a:buNone/>
                      </a:pPr>
                      <a:r>
                        <a:rPr lang="ca-ES" sz="1300" b="1">
                          <a:solidFill>
                            <a:srgbClr val="000000"/>
                          </a:solidFill>
                          <a:effectLst/>
                          <a:latin typeface="Helvetica" panose="020B0604020202020204" pitchFamily="34" charset="0"/>
                        </a:rPr>
                        <a:t>Postcondició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El descompte queda aplicativo a la comanda.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69638485"/>
                  </a:ext>
                </a:extLst>
              </a:tr>
              <a:tr h="229924">
                <a:tc>
                  <a:txBody>
                    <a:bodyPr/>
                    <a:lstStyle/>
                    <a:p>
                      <a:pPr algn="r">
                        <a:buNone/>
                      </a:pPr>
                      <a:r>
                        <a:rPr lang="ca-ES" sz="1300" b="1">
                          <a:solidFill>
                            <a:srgbClr val="000000"/>
                          </a:solidFill>
                          <a:effectLst/>
                          <a:latin typeface="Helvetica" panose="020B0604020202020204" pitchFamily="34" charset="0"/>
                        </a:rPr>
                        <a:t>Requeriments no funcionals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a:rPr>
                        <a:t>RNF-08-00</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54010852"/>
                  </a:ext>
                </a:extLst>
              </a:tr>
              <a:tr h="229924">
                <a:tc>
                  <a:txBody>
                    <a:bodyPr/>
                    <a:lstStyle/>
                    <a:p>
                      <a:pPr algn="r">
                        <a:buNone/>
                      </a:pPr>
                      <a:r>
                        <a:rPr lang="ca-ES" sz="1300" b="1">
                          <a:solidFill>
                            <a:srgbClr val="000000"/>
                          </a:solidFill>
                          <a:effectLst/>
                          <a:latin typeface="Helvetica" panose="020B0604020202020204" pitchFamily="34" charset="0"/>
                        </a:rPr>
                        <a:t>Prioritat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Normal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918962405"/>
                  </a:ext>
                </a:extLst>
              </a:tr>
              <a:tr h="229924">
                <a:tc>
                  <a:txBody>
                    <a:bodyPr/>
                    <a:lstStyle/>
                    <a:p>
                      <a:pPr algn="r">
                        <a:buNone/>
                      </a:pPr>
                      <a:r>
                        <a:rPr lang="ca-ES" sz="1300" b="1">
                          <a:solidFill>
                            <a:srgbClr val="000000"/>
                          </a:solidFill>
                          <a:effectLst/>
                          <a:latin typeface="Helvetica" panose="020B0604020202020204" pitchFamily="34" charset="0"/>
                        </a:rPr>
                        <a:t>Comentaris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És extend de pagar una comanda.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507434218"/>
                  </a:ext>
                </a:extLst>
              </a:tr>
            </a:tbl>
          </a:graphicData>
        </a:graphic>
      </p:graphicFrame>
    </p:spTree>
    <p:extLst>
      <p:ext uri="{BB962C8B-B14F-4D97-AF65-F5344CB8AC3E}">
        <p14:creationId xmlns:p14="http://schemas.microsoft.com/office/powerpoint/2010/main" val="3002288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F5DF401-853F-63B4-356D-5FFF729D1AC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9FAC0D4F-A0A5-A19B-249C-A75A78F61BE2}"/>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8" name="Rectangle 1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43DCD001-31DD-8BD1-5A22-648A8F09D63F}"/>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32</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683EADDF-CAA7-7DF1-A9AE-2ACC16F0A0A9}"/>
              </a:ext>
            </a:extLst>
          </p:cNvPr>
          <p:cNvGraphicFramePr>
            <a:graphicFrameLocks noGrp="1"/>
          </p:cNvGraphicFramePr>
          <p:nvPr>
            <p:extLst>
              <p:ext uri="{D42A27DB-BD31-4B8C-83A1-F6EECF244321}">
                <p14:modId xmlns:p14="http://schemas.microsoft.com/office/powerpoint/2010/main" val="3214246124"/>
              </p:ext>
            </p:extLst>
          </p:nvPr>
        </p:nvGraphicFramePr>
        <p:xfrm>
          <a:off x="858410" y="2091095"/>
          <a:ext cx="10478647" cy="4206252"/>
        </p:xfrm>
        <a:graphic>
          <a:graphicData uri="http://schemas.openxmlformats.org/drawingml/2006/table">
            <a:tbl>
              <a:tblPr firstRow="1" bandRow="1">
                <a:tableStyleId>{5C22544A-7EE6-4342-B048-85BDC9FD1C3A}</a:tableStyleId>
              </a:tblPr>
              <a:tblGrid>
                <a:gridCol w="4086598">
                  <a:extLst>
                    <a:ext uri="{9D8B030D-6E8A-4147-A177-3AD203B41FA5}">
                      <a16:colId xmlns:a16="http://schemas.microsoft.com/office/drawing/2014/main" val="3726048333"/>
                    </a:ext>
                  </a:extLst>
                </a:gridCol>
                <a:gridCol w="1821374">
                  <a:extLst>
                    <a:ext uri="{9D8B030D-6E8A-4147-A177-3AD203B41FA5}">
                      <a16:colId xmlns:a16="http://schemas.microsoft.com/office/drawing/2014/main" val="3580686700"/>
                    </a:ext>
                  </a:extLst>
                </a:gridCol>
                <a:gridCol w="1835593">
                  <a:extLst>
                    <a:ext uri="{9D8B030D-6E8A-4147-A177-3AD203B41FA5}">
                      <a16:colId xmlns:a16="http://schemas.microsoft.com/office/drawing/2014/main" val="2645206625"/>
                    </a:ext>
                  </a:extLst>
                </a:gridCol>
                <a:gridCol w="2735082">
                  <a:extLst>
                    <a:ext uri="{9D8B030D-6E8A-4147-A177-3AD203B41FA5}">
                      <a16:colId xmlns:a16="http://schemas.microsoft.com/office/drawing/2014/main" val="230049424"/>
                    </a:ext>
                  </a:extLst>
                </a:gridCol>
              </a:tblGrid>
              <a:tr h="254471">
                <a:tc>
                  <a:txBody>
                    <a:bodyPr/>
                    <a:lstStyle/>
                    <a:p>
                      <a:pPr algn="r">
                        <a:buNone/>
                      </a:pPr>
                      <a:r>
                        <a:rPr lang="ca-ES" sz="1500" b="1">
                          <a:solidFill>
                            <a:srgbClr val="FFFFFF"/>
                          </a:solidFill>
                          <a:effectLst/>
                          <a:latin typeface="Helvetica" panose="020B0604020202020204" pitchFamily="34" charset="0"/>
                        </a:rPr>
                        <a:t>CAS D’ÚS: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500" b="1">
                          <a:solidFill>
                            <a:srgbClr val="FFFFFF"/>
                          </a:solidFill>
                          <a:effectLst/>
                          <a:latin typeface="Helvetica" panose="020B0604020202020204" pitchFamily="34" charset="0"/>
                        </a:rPr>
                        <a:t>Xat amb el cuiner</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737427094"/>
                  </a:ext>
                </a:extLst>
              </a:tr>
              <a:tr h="254471">
                <a:tc>
                  <a:txBody>
                    <a:bodyPr/>
                    <a:lstStyle/>
                    <a:p>
                      <a:pPr algn="r">
                        <a:buNone/>
                      </a:pPr>
                      <a:r>
                        <a:rPr lang="ca-ES" sz="1500" b="1">
                          <a:solidFill>
                            <a:srgbClr val="000000"/>
                          </a:solidFill>
                          <a:effectLst/>
                          <a:latin typeface="Helvetica" panose="020B0604020202020204" pitchFamily="34" charset="0"/>
                        </a:rPr>
                        <a:t>Versió</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500">
                          <a:solidFill>
                            <a:srgbClr val="000000"/>
                          </a:solidFill>
                          <a:effectLst/>
                          <a:latin typeface="Helvetica" panose="020B0604020202020204" pitchFamily="34" charset="0"/>
                        </a:rPr>
                        <a:t>1.0</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500" b="1">
                          <a:solidFill>
                            <a:srgbClr val="000000"/>
                          </a:solidFill>
                          <a:effectLst/>
                          <a:latin typeface="Helvetica" panose="020B0604020202020204" pitchFamily="34" charset="0"/>
                        </a:rPr>
                        <a:t>Data</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500">
                          <a:solidFill>
                            <a:srgbClr val="000000"/>
                          </a:solidFill>
                          <a:effectLst/>
                          <a:latin typeface="Helvetica" panose="020B0604020202020204" pitchFamily="34" charset="0"/>
                        </a:rPr>
                        <a:t>16/05/2026</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947194825"/>
                  </a:ext>
                </a:extLst>
              </a:tr>
              <a:tr h="254471">
                <a:tc>
                  <a:txBody>
                    <a:bodyPr/>
                    <a:lstStyle/>
                    <a:p>
                      <a:pPr algn="r">
                        <a:buNone/>
                      </a:pPr>
                      <a:r>
                        <a:rPr lang="ca-ES" sz="1500" b="1">
                          <a:solidFill>
                            <a:srgbClr val="000000"/>
                          </a:solidFill>
                          <a:effectLst/>
                          <a:latin typeface="Helvetica" panose="020B0604020202020204" pitchFamily="34" charset="0"/>
                        </a:rPr>
                        <a:t>Autors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lvl="0">
                        <a:buNone/>
                      </a:pPr>
                      <a:r>
                        <a:rPr lang="ca-ES" sz="1500" kern="1200" noProof="0">
                          <a:solidFill>
                            <a:srgbClr val="000000"/>
                          </a:solidFill>
                          <a:effectLst/>
                          <a:latin typeface="Helvetica" panose="020B0604020202020204" pitchFamily="34" charset="0"/>
                          <a:ea typeface="+mn-ea"/>
                          <a:cs typeface="+mn-cs"/>
                        </a:rPr>
                        <a:t>Enric, Blay, Maria i Neus</a:t>
                      </a:r>
                      <a:endParaRPr lang="ca-ES" sz="1500" kern="1200">
                        <a:solidFill>
                          <a:srgbClr val="000000"/>
                        </a:solidFill>
                        <a:effectLst/>
                        <a:latin typeface="Helvetica" panose="020B0604020202020204" pitchFamily="34" charset="0"/>
                        <a:ea typeface="+mn-ea"/>
                        <a:cs typeface="+mn-cs"/>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66026227"/>
                  </a:ext>
                </a:extLst>
              </a:tr>
              <a:tr h="479003">
                <a:tc>
                  <a:txBody>
                    <a:bodyPr/>
                    <a:lstStyle/>
                    <a:p>
                      <a:pPr algn="r">
                        <a:buNone/>
                      </a:pPr>
                      <a:r>
                        <a:rPr lang="ca-ES" sz="1500" b="1">
                          <a:solidFill>
                            <a:srgbClr val="000000"/>
                          </a:solidFill>
                          <a:effectLst/>
                          <a:latin typeface="Helvetica" panose="020B0604020202020204" pitchFamily="34" charset="0"/>
                        </a:rPr>
                        <a:t>Descripció</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500">
                          <a:solidFill>
                            <a:srgbClr val="000000"/>
                          </a:solidFill>
                          <a:effectLst/>
                          <a:latin typeface="Helvetica" panose="020B0604020202020204" pitchFamily="34" charset="0"/>
                        </a:rPr>
                        <a:t>Quan el cuiner accepta una proposa de plat, el sistema permetrinas crear un xat privatizado entre el client i el cuiner.</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65996759"/>
                  </a:ext>
                </a:extLst>
              </a:tr>
              <a:tr h="254471">
                <a:tc>
                  <a:txBody>
                    <a:bodyPr/>
                    <a:lstStyle/>
                    <a:p>
                      <a:pPr algn="r">
                        <a:buNone/>
                      </a:pPr>
                      <a:r>
                        <a:rPr lang="ca-ES" sz="1500" b="1">
                          <a:solidFill>
                            <a:srgbClr val="000000"/>
                          </a:solidFill>
                          <a:effectLst/>
                          <a:latin typeface="Helvetica" panose="020B0604020202020204" pitchFamily="34" charset="0"/>
                        </a:rPr>
                        <a:t>Actors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500">
                          <a:solidFill>
                            <a:srgbClr val="000000"/>
                          </a:solidFill>
                          <a:effectLst/>
                          <a:latin typeface="Helvetica" panose="020B0604020202020204" pitchFamily="34" charset="0"/>
                        </a:rPr>
                        <a:t>Client, Cuiner</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47735482"/>
                  </a:ext>
                </a:extLst>
              </a:tr>
              <a:tr h="254471">
                <a:tc>
                  <a:txBody>
                    <a:bodyPr/>
                    <a:lstStyle/>
                    <a:p>
                      <a:pPr algn="r">
                        <a:buNone/>
                      </a:pPr>
                      <a:r>
                        <a:rPr lang="ca-ES" sz="1500" b="1">
                          <a:solidFill>
                            <a:srgbClr val="000000"/>
                          </a:solidFill>
                          <a:effectLst/>
                          <a:latin typeface="Helvetica" panose="020B0604020202020204" pitchFamily="34" charset="0"/>
                        </a:rPr>
                        <a:t>Precondició</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500">
                          <a:solidFill>
                            <a:srgbClr val="000000"/>
                          </a:solidFill>
                          <a:effectLst/>
                          <a:latin typeface="Helvetica" panose="020B0604020202020204" pitchFamily="34" charset="0"/>
                        </a:rPr>
                        <a:t> El cuiner ha acceptat una proposta de plat personalitzat.</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176687091"/>
                  </a:ext>
                </a:extLst>
              </a:tr>
              <a:tr h="928068">
                <a:tc>
                  <a:txBody>
                    <a:bodyPr/>
                    <a:lstStyle/>
                    <a:p>
                      <a:pPr algn="r">
                        <a:buNone/>
                      </a:pPr>
                      <a:r>
                        <a:rPr lang="ca-ES" sz="1500" b="1">
                          <a:solidFill>
                            <a:srgbClr val="000000"/>
                          </a:solidFill>
                          <a:effectLst/>
                          <a:latin typeface="Helvetica" panose="020B0604020202020204" pitchFamily="34" charset="0"/>
                        </a:rPr>
                        <a:t>Flux principal</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Font typeface="+mj-lt"/>
                        <a:buAutoNum type="arabicPeriod"/>
                      </a:pPr>
                      <a:r>
                        <a:rPr lang="ca-ES" sz="1500">
                          <a:solidFill>
                            <a:srgbClr val="000000"/>
                          </a:solidFill>
                          <a:effectLst/>
                          <a:latin typeface="Helvetica" panose="020B0604020202020204" pitchFamily="34" charset="0"/>
                        </a:rPr>
                        <a:t>El cuiner accepta la proposta del client.</a:t>
                      </a:r>
                      <a:endParaRPr lang="ca-ES" sz="1500">
                        <a:effectLst/>
                      </a:endParaRPr>
                    </a:p>
                    <a:p>
                      <a:pPr algn="just">
                        <a:buFont typeface="+mj-lt"/>
                        <a:buAutoNum type="arabicPeriod"/>
                      </a:pPr>
                      <a:r>
                        <a:rPr lang="ca-ES" sz="1500">
                          <a:solidFill>
                            <a:srgbClr val="000000"/>
                          </a:solidFill>
                          <a:effectLst/>
                          <a:latin typeface="Helvetica" panose="020B0604020202020204" pitchFamily="34" charset="0"/>
                        </a:rPr>
                        <a:t>El sistema crea un xat privatizado entre client i cuiner.</a:t>
                      </a:r>
                      <a:endParaRPr lang="ca-ES" sz="1500">
                        <a:effectLst/>
                      </a:endParaRPr>
                    </a:p>
                    <a:p>
                      <a:pPr algn="just">
                        <a:buFont typeface="+mj-lt"/>
                        <a:buAutoNum type="arabicPeriod"/>
                      </a:pPr>
                      <a:r>
                        <a:rPr lang="ca-ES" sz="1500">
                          <a:solidFill>
                            <a:srgbClr val="000000"/>
                          </a:solidFill>
                          <a:effectLst/>
                          <a:latin typeface="Helvetica" panose="020B0604020202020204" pitchFamily="34" charset="0"/>
                        </a:rPr>
                        <a:t>Rl client accedeix al xat.</a:t>
                      </a:r>
                      <a:endParaRPr lang="ca-ES" sz="1500">
                        <a:effectLst/>
                      </a:endParaRPr>
                    </a:p>
                    <a:p>
                      <a:pPr algn="just">
                        <a:buFont typeface="+mj-lt"/>
                        <a:buAutoNum type="arabicPeriod"/>
                      </a:pPr>
                      <a:r>
                        <a:rPr lang="ca-ES" sz="1500">
                          <a:solidFill>
                            <a:srgbClr val="000000"/>
                          </a:solidFill>
                          <a:effectLst/>
                          <a:latin typeface="Helvetica" panose="020B0604020202020204" pitchFamily="34" charset="0"/>
                        </a:rPr>
                        <a:t>El client i el cuiner poden comunicar-se sobre la comanda.</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846403862"/>
                  </a:ext>
                </a:extLst>
              </a:tr>
              <a:tr h="254471">
                <a:tc>
                  <a:txBody>
                    <a:bodyPr/>
                    <a:lstStyle/>
                    <a:p>
                      <a:pPr algn="r">
                        <a:buNone/>
                      </a:pPr>
                      <a:r>
                        <a:rPr lang="ca-ES" sz="1500" b="1">
                          <a:solidFill>
                            <a:srgbClr val="000000"/>
                          </a:solidFill>
                          <a:effectLst/>
                          <a:latin typeface="Helvetica" panose="020B0604020202020204" pitchFamily="34" charset="0"/>
                        </a:rPr>
                        <a:t>Subfluxos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endParaRPr lang="ca-ES" sz="15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106126692"/>
                  </a:ext>
                </a:extLst>
              </a:tr>
              <a:tr h="254471">
                <a:tc>
                  <a:txBody>
                    <a:bodyPr/>
                    <a:lstStyle/>
                    <a:p>
                      <a:pPr algn="r">
                        <a:buNone/>
                      </a:pPr>
                      <a:r>
                        <a:rPr lang="ca-ES" sz="1500" b="1">
                          <a:solidFill>
                            <a:srgbClr val="000000"/>
                          </a:solidFill>
                          <a:effectLst/>
                          <a:latin typeface="Helvetica" panose="020B0604020202020204" pitchFamily="34" charset="0"/>
                        </a:rPr>
                        <a:t>Fluxos alternatius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spcAft>
                          <a:spcPts val="375"/>
                        </a:spcAft>
                        <a:buNone/>
                      </a:pPr>
                      <a:r>
                        <a:rPr lang="ca-ES" sz="1500">
                          <a:solidFill>
                            <a:srgbClr val="000000"/>
                          </a:solidFill>
                          <a:effectLst/>
                          <a:latin typeface="Helvetica" panose="020B0604020202020204" pitchFamily="34" charset="0"/>
                        </a:rPr>
                        <a:t>La proposta no ha estat acceptada; el sistema no permet obrir el xat.</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916037733"/>
                  </a:ext>
                </a:extLst>
              </a:tr>
              <a:tr h="254471">
                <a:tc>
                  <a:txBody>
                    <a:bodyPr/>
                    <a:lstStyle/>
                    <a:p>
                      <a:pPr algn="r">
                        <a:buNone/>
                      </a:pPr>
                      <a:r>
                        <a:rPr lang="ca-ES" sz="1500" b="1">
                          <a:solidFill>
                            <a:srgbClr val="000000"/>
                          </a:solidFill>
                          <a:effectLst/>
                          <a:latin typeface="Helvetica" panose="020B0604020202020204" pitchFamily="34" charset="0"/>
                        </a:rPr>
                        <a:t>Postcondició</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500">
                          <a:solidFill>
                            <a:srgbClr val="000000"/>
                          </a:solidFill>
                          <a:effectLst/>
                          <a:latin typeface="Helvetica" panose="020B0604020202020204" pitchFamily="34" charset="0"/>
                        </a:rPr>
                        <a:t>El client i el cuiner poden comunicar-se pel xat privat.</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1388003"/>
                  </a:ext>
                </a:extLst>
              </a:tr>
              <a:tr h="254471">
                <a:tc>
                  <a:txBody>
                    <a:bodyPr/>
                    <a:lstStyle/>
                    <a:p>
                      <a:pPr algn="r">
                        <a:buNone/>
                      </a:pPr>
                      <a:r>
                        <a:rPr lang="ca-ES" sz="1500" b="1">
                          <a:solidFill>
                            <a:srgbClr val="000000"/>
                          </a:solidFill>
                          <a:effectLst/>
                          <a:latin typeface="Helvetica" panose="020B0604020202020204" pitchFamily="34" charset="0"/>
                        </a:rPr>
                        <a:t>Requeriments no funcionals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500">
                          <a:solidFill>
                            <a:srgbClr val="000000"/>
                          </a:solidFill>
                          <a:effectLst/>
                          <a:latin typeface="Helvetica"/>
                        </a:rPr>
                        <a:t>RNF-00-07</a:t>
                      </a:r>
                      <a:endParaRPr lang="ca-ES" sz="15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45293615"/>
                  </a:ext>
                </a:extLst>
              </a:tr>
              <a:tr h="254471">
                <a:tc>
                  <a:txBody>
                    <a:bodyPr/>
                    <a:lstStyle/>
                    <a:p>
                      <a:pPr algn="r">
                        <a:buNone/>
                      </a:pPr>
                      <a:r>
                        <a:rPr lang="ca-ES" sz="1500" b="1">
                          <a:solidFill>
                            <a:srgbClr val="000000"/>
                          </a:solidFill>
                          <a:effectLst/>
                          <a:latin typeface="Helvetica" panose="020B0604020202020204" pitchFamily="34" charset="0"/>
                        </a:rPr>
                        <a:t>Prioritat</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500">
                          <a:solidFill>
                            <a:srgbClr val="000000"/>
                          </a:solidFill>
                          <a:effectLst/>
                          <a:latin typeface="Helvetica" panose="020B0604020202020204" pitchFamily="34" charset="0"/>
                        </a:rPr>
                        <a:t>Normal</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143267096"/>
                  </a:ext>
                </a:extLst>
              </a:tr>
              <a:tr h="254471">
                <a:tc>
                  <a:txBody>
                    <a:bodyPr/>
                    <a:lstStyle/>
                    <a:p>
                      <a:pPr algn="r">
                        <a:buNone/>
                      </a:pPr>
                      <a:r>
                        <a:rPr lang="ca-ES" sz="1500" b="1">
                          <a:solidFill>
                            <a:srgbClr val="000000"/>
                          </a:solidFill>
                          <a:effectLst/>
                          <a:latin typeface="Helvetica" panose="020B0604020202020204" pitchFamily="34" charset="0"/>
                        </a:rPr>
                        <a:t>Comentaris</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500">
                          <a:solidFill>
                            <a:srgbClr val="000000"/>
                          </a:solidFill>
                          <a:effectLst/>
                          <a:latin typeface="Helvetica" panose="020B0604020202020204" pitchFamily="34" charset="0"/>
                        </a:rPr>
                        <a:t>És extend de proposar un plat personalitzat.</a:t>
                      </a:r>
                      <a:endParaRPr lang="ca-ES" sz="15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082807953"/>
                  </a:ext>
                </a:extLst>
              </a:tr>
            </a:tbl>
          </a:graphicData>
        </a:graphic>
      </p:graphicFrame>
    </p:spTree>
    <p:extLst>
      <p:ext uri="{BB962C8B-B14F-4D97-AF65-F5344CB8AC3E}">
        <p14:creationId xmlns:p14="http://schemas.microsoft.com/office/powerpoint/2010/main" val="3617719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C60DF6-CCEC-3936-5B38-37114484104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5ADB9749-52AE-C1F2-1806-BB95D0D6CDEE}"/>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8" name="Rectangle 1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A0B5E09E-726B-4DF0-CB61-B889DC4D5FFC}"/>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33</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6D4B3BFB-E69B-F9A8-C216-8C7393624376}"/>
              </a:ext>
            </a:extLst>
          </p:cNvPr>
          <p:cNvGraphicFramePr>
            <a:graphicFrameLocks noGrp="1"/>
          </p:cNvGraphicFramePr>
          <p:nvPr>
            <p:extLst>
              <p:ext uri="{D42A27DB-BD31-4B8C-83A1-F6EECF244321}">
                <p14:modId xmlns:p14="http://schemas.microsoft.com/office/powerpoint/2010/main" val="142868725"/>
              </p:ext>
            </p:extLst>
          </p:nvPr>
        </p:nvGraphicFramePr>
        <p:xfrm>
          <a:off x="1242441" y="2091095"/>
          <a:ext cx="8352400" cy="4206245"/>
        </p:xfrm>
        <a:graphic>
          <a:graphicData uri="http://schemas.openxmlformats.org/drawingml/2006/table">
            <a:tbl>
              <a:tblPr firstRow="1" bandRow="1">
                <a:tableStyleId>{5C22544A-7EE6-4342-B048-85BDC9FD1C3A}</a:tableStyleId>
              </a:tblPr>
              <a:tblGrid>
                <a:gridCol w="2428875">
                  <a:extLst>
                    <a:ext uri="{9D8B030D-6E8A-4147-A177-3AD203B41FA5}">
                      <a16:colId xmlns:a16="http://schemas.microsoft.com/office/drawing/2014/main" val="2132453416"/>
                    </a:ext>
                  </a:extLst>
                </a:gridCol>
                <a:gridCol w="1687871">
                  <a:extLst>
                    <a:ext uri="{9D8B030D-6E8A-4147-A177-3AD203B41FA5}">
                      <a16:colId xmlns:a16="http://schemas.microsoft.com/office/drawing/2014/main" val="3663521498"/>
                    </a:ext>
                  </a:extLst>
                </a:gridCol>
                <a:gridCol w="1701048">
                  <a:extLst>
                    <a:ext uri="{9D8B030D-6E8A-4147-A177-3AD203B41FA5}">
                      <a16:colId xmlns:a16="http://schemas.microsoft.com/office/drawing/2014/main" val="192179778"/>
                    </a:ext>
                  </a:extLst>
                </a:gridCol>
                <a:gridCol w="2534606">
                  <a:extLst>
                    <a:ext uri="{9D8B030D-6E8A-4147-A177-3AD203B41FA5}">
                      <a16:colId xmlns:a16="http://schemas.microsoft.com/office/drawing/2014/main" val="3995811034"/>
                    </a:ext>
                  </a:extLst>
                </a:gridCol>
              </a:tblGrid>
              <a:tr h="241575">
                <a:tc>
                  <a:txBody>
                    <a:bodyPr/>
                    <a:lstStyle/>
                    <a:p>
                      <a:pPr algn="r">
                        <a:buNone/>
                      </a:pPr>
                      <a:r>
                        <a:rPr lang="ca-ES" sz="1400" b="1">
                          <a:solidFill>
                            <a:srgbClr val="FFFFFF"/>
                          </a:solidFill>
                          <a:effectLst/>
                          <a:latin typeface="Helvetica" panose="020B0604020202020204" pitchFamily="34" charset="0"/>
                        </a:rPr>
                        <a:t>CAS D’ÚS: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400" b="1">
                          <a:solidFill>
                            <a:srgbClr val="FFFFFF"/>
                          </a:solidFill>
                          <a:effectLst/>
                          <a:latin typeface="Helvetica" panose="020B0604020202020204" pitchFamily="34" charset="0"/>
                        </a:rPr>
                        <a:t>Pagar una comanda</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420497836"/>
                  </a:ext>
                </a:extLst>
              </a:tr>
              <a:tr h="241575">
                <a:tc>
                  <a:txBody>
                    <a:bodyPr/>
                    <a:lstStyle/>
                    <a:p>
                      <a:pPr algn="r">
                        <a:buNone/>
                      </a:pPr>
                      <a:r>
                        <a:rPr lang="ca-ES" sz="1400" b="1">
                          <a:solidFill>
                            <a:srgbClr val="000000"/>
                          </a:solidFill>
                          <a:effectLst/>
                          <a:latin typeface="Helvetica" panose="020B0604020202020204" pitchFamily="34" charset="0"/>
                        </a:rPr>
                        <a:t>Versió</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400">
                          <a:solidFill>
                            <a:srgbClr val="000000"/>
                          </a:solidFill>
                          <a:effectLst/>
                          <a:latin typeface="Helvetica" panose="020B0604020202020204" pitchFamily="34" charset="0"/>
                        </a:rPr>
                        <a:t>1.0</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400" b="1">
                          <a:solidFill>
                            <a:srgbClr val="000000"/>
                          </a:solidFill>
                          <a:effectLst/>
                          <a:latin typeface="Helvetica" panose="020B0604020202020204" pitchFamily="34" charset="0"/>
                        </a:rPr>
                        <a:t>Data</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400">
                          <a:solidFill>
                            <a:srgbClr val="000000"/>
                          </a:solidFill>
                          <a:effectLst/>
                          <a:latin typeface="Helvetica" panose="020B0604020202020204" pitchFamily="34" charset="0"/>
                        </a:rPr>
                        <a:t>16/05/2026</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944367402"/>
                  </a:ext>
                </a:extLst>
              </a:tr>
              <a:tr h="241575">
                <a:tc>
                  <a:txBody>
                    <a:bodyPr/>
                    <a:lstStyle/>
                    <a:p>
                      <a:pPr algn="r">
                        <a:buNone/>
                      </a:pPr>
                      <a:r>
                        <a:rPr lang="ca-ES" sz="1400" b="1">
                          <a:solidFill>
                            <a:srgbClr val="000000"/>
                          </a:solidFill>
                          <a:effectLst/>
                          <a:latin typeface="Helvetica" panose="020B0604020202020204" pitchFamily="34" charset="0"/>
                        </a:rPr>
                        <a:t>Autors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400">
                          <a:solidFill>
                            <a:srgbClr val="000000"/>
                          </a:solidFill>
                          <a:effectLst/>
                          <a:latin typeface="Helvetica"/>
                        </a:rPr>
                        <a:t> </a:t>
                      </a:r>
                      <a:r>
                        <a:rPr lang="ca-ES" sz="1400" kern="1200" noProof="0">
                          <a:solidFill>
                            <a:srgbClr val="000000"/>
                          </a:solidFill>
                          <a:effectLst/>
                          <a:latin typeface="Helvetica"/>
                          <a:ea typeface="+mn-ea"/>
                          <a:cs typeface="+mn-cs"/>
                        </a:rPr>
                        <a:t>Enric, Blay, Maria i Neus</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537234779"/>
                  </a:ext>
                </a:extLst>
              </a:tr>
              <a:tr h="454729">
                <a:tc>
                  <a:txBody>
                    <a:bodyPr/>
                    <a:lstStyle/>
                    <a:p>
                      <a:pPr algn="r">
                        <a:buNone/>
                      </a:pPr>
                      <a:r>
                        <a:rPr lang="ca-ES" sz="1400" b="1">
                          <a:solidFill>
                            <a:srgbClr val="000000"/>
                          </a:solidFill>
                          <a:effectLst/>
                          <a:latin typeface="Helvetica" panose="020B0604020202020204" pitchFamily="34" charset="0"/>
                        </a:rPr>
                        <a:t>Descripció</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400">
                          <a:solidFill>
                            <a:srgbClr val="000000"/>
                          </a:solidFill>
                          <a:effectLst/>
                          <a:latin typeface="Helvetica" panose="020B0604020202020204" pitchFamily="34" charset="0"/>
                        </a:rPr>
                        <a:t> El client pot pagar una comanda mitjançant </a:t>
                      </a:r>
                      <a:r>
                        <a:rPr lang="ca-ES" sz="1400" err="1">
                          <a:solidFill>
                            <a:srgbClr val="000000"/>
                          </a:solidFill>
                          <a:effectLst/>
                          <a:latin typeface="Helvetica" panose="020B0604020202020204" pitchFamily="34" charset="0"/>
                        </a:rPr>
                        <a:t>tagreta</a:t>
                      </a:r>
                      <a:r>
                        <a:rPr lang="ca-ES" sz="1400">
                          <a:solidFill>
                            <a:srgbClr val="000000"/>
                          </a:solidFill>
                          <a:effectLst/>
                          <a:latin typeface="Helvetica" panose="020B0604020202020204" pitchFamily="34" charset="0"/>
                        </a:rPr>
                        <a:t> bancària, </a:t>
                      </a:r>
                      <a:r>
                        <a:rPr lang="ca-ES" sz="1400" err="1">
                          <a:solidFill>
                            <a:srgbClr val="000000"/>
                          </a:solidFill>
                          <a:effectLst/>
                          <a:latin typeface="Helvetica" panose="020B0604020202020204" pitchFamily="34" charset="0"/>
                        </a:rPr>
                        <a:t>PayPal</a:t>
                      </a:r>
                      <a:r>
                        <a:rPr lang="ca-ES" sz="1400">
                          <a:solidFill>
                            <a:srgbClr val="000000"/>
                          </a:solidFill>
                          <a:effectLst/>
                          <a:latin typeface="Helvetica" panose="020B0604020202020204" pitchFamily="34" charset="0"/>
                        </a:rPr>
                        <a:t> o    pagament dins de l’aplicació.</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101437305"/>
                  </a:ext>
                </a:extLst>
              </a:tr>
              <a:tr h="241575">
                <a:tc>
                  <a:txBody>
                    <a:bodyPr/>
                    <a:lstStyle/>
                    <a:p>
                      <a:pPr algn="r">
                        <a:buNone/>
                      </a:pPr>
                      <a:r>
                        <a:rPr lang="ca-ES" sz="1400" b="1">
                          <a:solidFill>
                            <a:srgbClr val="000000"/>
                          </a:solidFill>
                          <a:effectLst/>
                          <a:latin typeface="Helvetica" panose="020B0604020202020204" pitchFamily="34" charset="0"/>
                        </a:rPr>
                        <a:t>Actors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400">
                          <a:solidFill>
                            <a:srgbClr val="000000"/>
                          </a:solidFill>
                          <a:effectLst/>
                          <a:latin typeface="Helvetica" panose="020B0604020202020204" pitchFamily="34" charset="0"/>
                        </a:rPr>
                        <a:t> Client, Passarel·la de pagament.</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029531339"/>
                  </a:ext>
                </a:extLst>
              </a:tr>
              <a:tr h="241575">
                <a:tc>
                  <a:txBody>
                    <a:bodyPr/>
                    <a:lstStyle/>
                    <a:p>
                      <a:pPr algn="r">
                        <a:buNone/>
                      </a:pPr>
                      <a:r>
                        <a:rPr lang="ca-ES" sz="1400" b="1">
                          <a:solidFill>
                            <a:srgbClr val="000000"/>
                          </a:solidFill>
                          <a:effectLst/>
                          <a:latin typeface="Helvetica" panose="020B0604020202020204" pitchFamily="34" charset="0"/>
                        </a:rPr>
                        <a:t>Precondició</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400">
                          <a:solidFill>
                            <a:srgbClr val="000000"/>
                          </a:solidFill>
                          <a:effectLst/>
                          <a:latin typeface="Helvetica" panose="020B0604020202020204" pitchFamily="34" charset="0"/>
                        </a:rPr>
                        <a:t> El client té una comanda pendent de pagament.</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28432451"/>
                  </a:ext>
                </a:extLst>
              </a:tr>
              <a:tr h="881037">
                <a:tc>
                  <a:txBody>
                    <a:bodyPr/>
                    <a:lstStyle/>
                    <a:p>
                      <a:pPr algn="r">
                        <a:buNone/>
                      </a:pPr>
                      <a:r>
                        <a:rPr lang="ca-ES" sz="1400" b="1">
                          <a:solidFill>
                            <a:srgbClr val="000000"/>
                          </a:solidFill>
                          <a:effectLst/>
                          <a:latin typeface="Helvetica" panose="020B0604020202020204" pitchFamily="34" charset="0"/>
                        </a:rPr>
                        <a:t>Flux principal</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Font typeface="+mj-lt"/>
                        <a:buAutoNum type="arabicPeriod"/>
                      </a:pPr>
                      <a:r>
                        <a:rPr lang="ca-ES" sz="1400">
                          <a:solidFill>
                            <a:srgbClr val="000000"/>
                          </a:solidFill>
                          <a:effectLst/>
                          <a:latin typeface="Helvetica" panose="020B0604020202020204" pitchFamily="34" charset="0"/>
                        </a:rPr>
                        <a:t>El client confirma la comanda.</a:t>
                      </a:r>
                      <a:endParaRPr lang="ca-ES" sz="1400">
                        <a:effectLst/>
                      </a:endParaRPr>
                    </a:p>
                    <a:p>
                      <a:pPr algn="just">
                        <a:buFont typeface="+mj-lt"/>
                        <a:buAutoNum type="arabicPeriod"/>
                      </a:pPr>
                      <a:r>
                        <a:rPr lang="ca-ES" sz="1400">
                          <a:solidFill>
                            <a:srgbClr val="000000"/>
                          </a:solidFill>
                          <a:effectLst/>
                          <a:latin typeface="Helvetica" panose="020B0604020202020204" pitchFamily="34" charset="0"/>
                        </a:rPr>
                        <a:t>El sistema mostra les opcions de pagament disponibles.</a:t>
                      </a:r>
                      <a:endParaRPr lang="ca-ES" sz="1400">
                        <a:effectLst/>
                      </a:endParaRPr>
                    </a:p>
                    <a:p>
                      <a:pPr algn="just">
                        <a:buFont typeface="+mj-lt"/>
                        <a:buAutoNum type="arabicPeriod"/>
                      </a:pPr>
                      <a:r>
                        <a:rPr lang="ca-ES" sz="1400">
                          <a:solidFill>
                            <a:srgbClr val="000000"/>
                          </a:solidFill>
                          <a:effectLst/>
                          <a:latin typeface="Helvetica" panose="020B0604020202020204" pitchFamily="34" charset="0"/>
                        </a:rPr>
                        <a:t>El client selecciona un mètode de pagament.</a:t>
                      </a:r>
                      <a:endParaRPr lang="ca-ES" sz="1400">
                        <a:effectLst/>
                      </a:endParaRPr>
                    </a:p>
                    <a:p>
                      <a:pPr algn="just">
                        <a:buFont typeface="+mj-lt"/>
                        <a:buAutoNum type="arabicPeriod"/>
                      </a:pPr>
                      <a:r>
                        <a:rPr lang="ca-ES" sz="1400">
                          <a:solidFill>
                            <a:srgbClr val="000000"/>
                          </a:solidFill>
                          <a:effectLst/>
                          <a:latin typeface="Helvetica" panose="020B0604020202020204" pitchFamily="34" charset="0"/>
                        </a:rPr>
                        <a:t>El sistema confirma que el pagament s’ha realitzat correctament.</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605924212"/>
                  </a:ext>
                </a:extLst>
              </a:tr>
              <a:tr h="241575">
                <a:tc>
                  <a:txBody>
                    <a:bodyPr/>
                    <a:lstStyle/>
                    <a:p>
                      <a:pPr algn="r">
                        <a:buNone/>
                      </a:pPr>
                      <a:r>
                        <a:rPr lang="ca-ES" sz="1400" b="1">
                          <a:solidFill>
                            <a:srgbClr val="000000"/>
                          </a:solidFill>
                          <a:effectLst/>
                          <a:latin typeface="Helvetica" panose="020B0604020202020204" pitchFamily="34" charset="0"/>
                        </a:rPr>
                        <a:t>Subfluxos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400">
                          <a:effectLst/>
                          <a:latin typeface="Helvetica"/>
                        </a:rPr>
                        <a:t> ---</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869195952"/>
                  </a:ext>
                </a:extLst>
              </a:tr>
              <a:tr h="454729">
                <a:tc>
                  <a:txBody>
                    <a:bodyPr/>
                    <a:lstStyle/>
                    <a:p>
                      <a:pPr algn="r">
                        <a:buNone/>
                      </a:pPr>
                      <a:r>
                        <a:rPr lang="ca-ES" sz="1400" b="1">
                          <a:solidFill>
                            <a:srgbClr val="000000"/>
                          </a:solidFill>
                          <a:effectLst/>
                          <a:latin typeface="Helvetica" panose="020B0604020202020204" pitchFamily="34" charset="0"/>
                        </a:rPr>
                        <a:t>Fluxos alternatius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400">
                          <a:solidFill>
                            <a:srgbClr val="000000"/>
                          </a:solidFill>
                          <a:effectLst/>
                          <a:latin typeface="Helvetica"/>
                        </a:rPr>
                        <a:t>El pagament falla; el sistema mostra un missatge d’error i permet tornar-ho a intentar.</a:t>
                      </a:r>
                      <a:endParaRPr lang="ca-ES" sz="14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096859013"/>
                  </a:ext>
                </a:extLst>
              </a:tr>
              <a:tr h="241575">
                <a:tc>
                  <a:txBody>
                    <a:bodyPr/>
                    <a:lstStyle/>
                    <a:p>
                      <a:pPr algn="r">
                        <a:buNone/>
                      </a:pPr>
                      <a:r>
                        <a:rPr lang="ca-ES" sz="1400" b="1">
                          <a:solidFill>
                            <a:srgbClr val="000000"/>
                          </a:solidFill>
                          <a:effectLst/>
                          <a:latin typeface="Helvetica" panose="020B0604020202020204" pitchFamily="34" charset="0"/>
                        </a:rPr>
                        <a:t>Postcondició</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400">
                          <a:solidFill>
                            <a:srgbClr val="000000"/>
                          </a:solidFill>
                          <a:effectLst/>
                          <a:latin typeface="Helvetica" panose="020B0604020202020204" pitchFamily="34" charset="0"/>
                        </a:rPr>
                        <a:t>La comanda queda pagada.</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498047878"/>
                  </a:ext>
                </a:extLst>
              </a:tr>
              <a:tr h="241575">
                <a:tc>
                  <a:txBody>
                    <a:bodyPr/>
                    <a:lstStyle/>
                    <a:p>
                      <a:pPr algn="r">
                        <a:buNone/>
                      </a:pPr>
                      <a:r>
                        <a:rPr lang="ca-ES" sz="1400" b="1">
                          <a:solidFill>
                            <a:srgbClr val="000000"/>
                          </a:solidFill>
                          <a:effectLst/>
                          <a:latin typeface="Helvetica" panose="020B0604020202020204" pitchFamily="34" charset="0"/>
                        </a:rPr>
                        <a:t>Requeriments no funcionals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400">
                          <a:solidFill>
                            <a:srgbClr val="000000"/>
                          </a:solidFill>
                          <a:effectLst/>
                          <a:latin typeface="Helvetica"/>
                        </a:rPr>
                        <a:t>RNF-04-00, RNF-04-01 </a:t>
                      </a:r>
                      <a:endParaRPr lang="ca-ES" sz="14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994159864"/>
                  </a:ext>
                </a:extLst>
              </a:tr>
              <a:tr h="241575">
                <a:tc>
                  <a:txBody>
                    <a:bodyPr/>
                    <a:lstStyle/>
                    <a:p>
                      <a:pPr algn="r">
                        <a:buNone/>
                      </a:pPr>
                      <a:r>
                        <a:rPr lang="ca-ES" sz="1400" b="1">
                          <a:solidFill>
                            <a:srgbClr val="000000"/>
                          </a:solidFill>
                          <a:effectLst/>
                          <a:latin typeface="Helvetica" panose="020B0604020202020204" pitchFamily="34" charset="0"/>
                        </a:rPr>
                        <a:t>Prioritat</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400">
                          <a:solidFill>
                            <a:srgbClr val="000000"/>
                          </a:solidFill>
                          <a:effectLst/>
                          <a:latin typeface="Helvetica" panose="020B0604020202020204" pitchFamily="34" charset="0"/>
                        </a:rPr>
                        <a:t>Alta</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76196992"/>
                  </a:ext>
                </a:extLst>
              </a:tr>
              <a:tr h="241575">
                <a:tc>
                  <a:txBody>
                    <a:bodyPr/>
                    <a:lstStyle/>
                    <a:p>
                      <a:pPr algn="r">
                        <a:buNone/>
                      </a:pPr>
                      <a:r>
                        <a:rPr lang="ca-ES" sz="1400" b="1">
                          <a:solidFill>
                            <a:srgbClr val="000000"/>
                          </a:solidFill>
                          <a:effectLst/>
                          <a:latin typeface="Helvetica" panose="020B0604020202020204" pitchFamily="34" charset="0"/>
                        </a:rPr>
                        <a:t>Comentaris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400">
                          <a:solidFill>
                            <a:srgbClr val="000000"/>
                          </a:solidFill>
                          <a:effectLst/>
                          <a:latin typeface="Helvetica" panose="020B0604020202020204" pitchFamily="34" charset="0"/>
                        </a:rPr>
                        <a:t> Té com a </a:t>
                      </a:r>
                      <a:r>
                        <a:rPr lang="ca-ES" sz="1400" err="1">
                          <a:solidFill>
                            <a:srgbClr val="000000"/>
                          </a:solidFill>
                          <a:effectLst/>
                          <a:latin typeface="Helvetica" panose="020B0604020202020204" pitchFamily="34" charset="0"/>
                        </a:rPr>
                        <a:t>extend</a:t>
                      </a:r>
                      <a:r>
                        <a:rPr lang="ca-ES" sz="1400">
                          <a:solidFill>
                            <a:srgbClr val="000000"/>
                          </a:solidFill>
                          <a:effectLst/>
                          <a:latin typeface="Helvetica" panose="020B0604020202020204" pitchFamily="34" charset="0"/>
                        </a:rPr>
                        <a:t> usar punts I descomptes.</a:t>
                      </a:r>
                      <a:endParaRPr lang="ca-ES" sz="14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552155148"/>
                  </a:ext>
                </a:extLst>
              </a:tr>
            </a:tbl>
          </a:graphicData>
        </a:graphic>
      </p:graphicFrame>
    </p:spTree>
    <p:extLst>
      <p:ext uri="{BB962C8B-B14F-4D97-AF65-F5344CB8AC3E}">
        <p14:creationId xmlns:p14="http://schemas.microsoft.com/office/powerpoint/2010/main" val="1710161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4B8649F-816C-B6FA-05DB-54ABECC9390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471D3C29-CFCE-A784-7991-B0029774E5E3}"/>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8" name="Rectangle 1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0122DDA0-D3B3-2CF7-B726-58569859A937}"/>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34</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592A3AE6-5B7A-3845-E8E3-9659EC8F751F}"/>
              </a:ext>
            </a:extLst>
          </p:cNvPr>
          <p:cNvGraphicFramePr>
            <a:graphicFrameLocks noGrp="1"/>
          </p:cNvGraphicFramePr>
          <p:nvPr>
            <p:extLst>
              <p:ext uri="{D42A27DB-BD31-4B8C-83A1-F6EECF244321}">
                <p14:modId xmlns:p14="http://schemas.microsoft.com/office/powerpoint/2010/main" val="684698750"/>
              </p:ext>
            </p:extLst>
          </p:nvPr>
        </p:nvGraphicFramePr>
        <p:xfrm>
          <a:off x="1540467" y="2091095"/>
          <a:ext cx="9114534" cy="4206250"/>
        </p:xfrm>
        <a:graphic>
          <a:graphicData uri="http://schemas.openxmlformats.org/drawingml/2006/table">
            <a:tbl>
              <a:tblPr firstRow="1" bandRow="1">
                <a:tableStyleId>{5C22544A-7EE6-4342-B048-85BDC9FD1C3A}</a:tableStyleId>
              </a:tblPr>
              <a:tblGrid>
                <a:gridCol w="3554604">
                  <a:extLst>
                    <a:ext uri="{9D8B030D-6E8A-4147-A177-3AD203B41FA5}">
                      <a16:colId xmlns:a16="http://schemas.microsoft.com/office/drawing/2014/main" val="2967275502"/>
                    </a:ext>
                  </a:extLst>
                </a:gridCol>
                <a:gridCol w="1584267">
                  <a:extLst>
                    <a:ext uri="{9D8B030D-6E8A-4147-A177-3AD203B41FA5}">
                      <a16:colId xmlns:a16="http://schemas.microsoft.com/office/drawing/2014/main" val="1364613248"/>
                    </a:ext>
                  </a:extLst>
                </a:gridCol>
                <a:gridCol w="1596635">
                  <a:extLst>
                    <a:ext uri="{9D8B030D-6E8A-4147-A177-3AD203B41FA5}">
                      <a16:colId xmlns:a16="http://schemas.microsoft.com/office/drawing/2014/main" val="4051772965"/>
                    </a:ext>
                  </a:extLst>
                </a:gridCol>
                <a:gridCol w="2379028">
                  <a:extLst>
                    <a:ext uri="{9D8B030D-6E8A-4147-A177-3AD203B41FA5}">
                      <a16:colId xmlns:a16="http://schemas.microsoft.com/office/drawing/2014/main" val="4057641663"/>
                    </a:ext>
                  </a:extLst>
                </a:gridCol>
              </a:tblGrid>
              <a:tr h="229924">
                <a:tc>
                  <a:txBody>
                    <a:bodyPr/>
                    <a:lstStyle/>
                    <a:p>
                      <a:pPr algn="r">
                        <a:buNone/>
                      </a:pPr>
                      <a:r>
                        <a:rPr lang="ca-ES" sz="1300" b="1">
                          <a:solidFill>
                            <a:srgbClr val="FFFFFF"/>
                          </a:solidFill>
                          <a:effectLst/>
                          <a:latin typeface="Helvetica" panose="020B0604020202020204" pitchFamily="34" charset="0"/>
                        </a:rPr>
                        <a:t>CAS D’ÚS: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300" b="1">
                          <a:solidFill>
                            <a:srgbClr val="FFFFFF"/>
                          </a:solidFill>
                          <a:effectLst/>
                          <a:latin typeface="Helvetica" panose="020B0604020202020204" pitchFamily="34" charset="0"/>
                        </a:rPr>
                        <a:t>Subscriure’s a un pla mensual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688679682"/>
                  </a:ext>
                </a:extLst>
              </a:tr>
              <a:tr h="229924">
                <a:tc>
                  <a:txBody>
                    <a:bodyPr/>
                    <a:lstStyle/>
                    <a:p>
                      <a:pPr algn="r">
                        <a:buNone/>
                      </a:pPr>
                      <a:r>
                        <a:rPr lang="ca-ES" sz="1300" b="1">
                          <a:solidFill>
                            <a:srgbClr val="000000"/>
                          </a:solidFill>
                          <a:effectLst/>
                          <a:latin typeface="Helvetica" panose="020B0604020202020204" pitchFamily="34" charset="0"/>
                        </a:rPr>
                        <a:t>Versió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1.0</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300" b="1">
                          <a:solidFill>
                            <a:srgbClr val="000000"/>
                          </a:solidFill>
                          <a:effectLst/>
                          <a:latin typeface="Helvetica" panose="020B0604020202020204" pitchFamily="34" charset="0"/>
                        </a:rPr>
                        <a:t>Data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16/05/2026</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2751893573"/>
                  </a:ext>
                </a:extLst>
              </a:tr>
              <a:tr h="229924">
                <a:tc>
                  <a:txBody>
                    <a:bodyPr/>
                    <a:lstStyle/>
                    <a:p>
                      <a:pPr algn="r">
                        <a:buNone/>
                      </a:pPr>
                      <a:r>
                        <a:rPr lang="ca-ES" sz="1300" b="1">
                          <a:solidFill>
                            <a:srgbClr val="000000"/>
                          </a:solidFill>
                          <a:effectLst/>
                          <a:latin typeface="Helvetica" panose="020B0604020202020204" pitchFamily="34" charset="0"/>
                        </a:rPr>
                        <a:t>Autors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lvl="0">
                        <a:buNone/>
                      </a:pPr>
                      <a:r>
                        <a:rPr lang="ca-ES" sz="1300" kern="1200" noProof="0">
                          <a:solidFill>
                            <a:srgbClr val="000000"/>
                          </a:solidFill>
                          <a:effectLst/>
                          <a:latin typeface="Helvetica" panose="020B0604020202020204" pitchFamily="34" charset="0"/>
                          <a:ea typeface="+mn-ea"/>
                          <a:cs typeface="+mn-cs"/>
                        </a:rPr>
                        <a:t>Enric, Blay, Maria i Neus</a:t>
                      </a:r>
                      <a:endParaRPr lang="ca-ES" sz="1300" kern="1200">
                        <a:solidFill>
                          <a:srgbClr val="000000"/>
                        </a:solidFill>
                        <a:effectLst/>
                        <a:latin typeface="Helvetica" panose="020B0604020202020204" pitchFamily="34" charset="0"/>
                        <a:ea typeface="+mn-ea"/>
                        <a:cs typeface="+mn-cs"/>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632159317"/>
                  </a:ext>
                </a:extLst>
              </a:tr>
              <a:tr h="432797">
                <a:tc>
                  <a:txBody>
                    <a:bodyPr/>
                    <a:lstStyle/>
                    <a:p>
                      <a:pPr algn="r">
                        <a:buNone/>
                      </a:pPr>
                      <a:r>
                        <a:rPr lang="ca-ES" sz="1300" b="1">
                          <a:solidFill>
                            <a:srgbClr val="000000"/>
                          </a:solidFill>
                          <a:effectLst/>
                          <a:latin typeface="Helvetica" panose="020B0604020202020204" pitchFamily="34" charset="0"/>
                        </a:rPr>
                        <a:t>Descripció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El client pot subscriure’s a un pla mensual per obtenir avantatges com enviaments gratuïts o descomptes.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142467279"/>
                  </a:ext>
                </a:extLst>
              </a:tr>
              <a:tr h="229924">
                <a:tc>
                  <a:txBody>
                    <a:bodyPr/>
                    <a:lstStyle/>
                    <a:p>
                      <a:pPr algn="r">
                        <a:buNone/>
                      </a:pPr>
                      <a:r>
                        <a:rPr lang="ca-ES" sz="1300" b="1">
                          <a:solidFill>
                            <a:srgbClr val="000000"/>
                          </a:solidFill>
                          <a:effectLst/>
                          <a:latin typeface="Helvetica" panose="020B0604020202020204" pitchFamily="34" charset="0"/>
                        </a:rPr>
                        <a:t>Actors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a:rPr>
                        <a:t>Client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48650668"/>
                  </a:ext>
                </a:extLst>
              </a:tr>
              <a:tr h="229924">
                <a:tc>
                  <a:txBody>
                    <a:bodyPr/>
                    <a:lstStyle/>
                    <a:p>
                      <a:pPr algn="r">
                        <a:buNone/>
                      </a:pPr>
                      <a:r>
                        <a:rPr lang="ca-ES" sz="1300" b="1">
                          <a:solidFill>
                            <a:srgbClr val="000000"/>
                          </a:solidFill>
                          <a:effectLst/>
                          <a:latin typeface="Helvetica" panose="020B0604020202020204" pitchFamily="34" charset="0"/>
                        </a:rPr>
                        <a:t>Precondició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Al client està registrat.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194850543"/>
                  </a:ext>
                </a:extLst>
              </a:tr>
              <a:tr h="838543">
                <a:tc>
                  <a:txBody>
                    <a:bodyPr/>
                    <a:lstStyle/>
                    <a:p>
                      <a:pPr algn="r">
                        <a:buNone/>
                      </a:pPr>
                      <a:r>
                        <a:rPr lang="ca-ES" sz="1300" b="1">
                          <a:solidFill>
                            <a:srgbClr val="000000"/>
                          </a:solidFill>
                          <a:effectLst/>
                          <a:latin typeface="Helvetica" panose="020B0604020202020204" pitchFamily="34" charset="0"/>
                        </a:rPr>
                        <a:t>Flux principal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Font typeface="+mj-lt"/>
                        <a:buAutoNum type="arabicPeriod"/>
                      </a:pPr>
                      <a:r>
                        <a:rPr lang="ca-ES" sz="1300">
                          <a:solidFill>
                            <a:srgbClr val="000000"/>
                          </a:solidFill>
                          <a:effectLst/>
                          <a:latin typeface="Helvetica" panose="020B0604020202020204" pitchFamily="34" charset="0"/>
                        </a:rPr>
                        <a:t>El client accedeix a l’opció de subscripció.</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mostra el pla mensual disponible.</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client confirma la subscripció.</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registration la subscripció del client.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42387414"/>
                  </a:ext>
                </a:extLst>
              </a:tr>
              <a:tr h="229924">
                <a:tc>
                  <a:txBody>
                    <a:bodyPr/>
                    <a:lstStyle/>
                    <a:p>
                      <a:pPr algn="r">
                        <a:buNone/>
                      </a:pPr>
                      <a:r>
                        <a:rPr lang="ca-ES" sz="1300" b="1">
                          <a:solidFill>
                            <a:srgbClr val="000000"/>
                          </a:solidFill>
                          <a:effectLst/>
                          <a:latin typeface="Helvetica" panose="020B0604020202020204" pitchFamily="34" charset="0"/>
                        </a:rPr>
                        <a:t>Subfluxos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 </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625641483"/>
                  </a:ext>
                </a:extLst>
              </a:tr>
              <a:tr h="432797">
                <a:tc>
                  <a:txBody>
                    <a:bodyPr/>
                    <a:lstStyle/>
                    <a:p>
                      <a:pPr algn="r">
                        <a:buNone/>
                      </a:pPr>
                      <a:r>
                        <a:rPr lang="ca-ES" sz="1300" b="1">
                          <a:solidFill>
                            <a:srgbClr val="000000"/>
                          </a:solidFill>
                          <a:effectLst/>
                          <a:latin typeface="Helvetica" panose="020B0604020202020204" pitchFamily="34" charset="0"/>
                        </a:rPr>
                        <a:t>Fluxos alternatius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La subscripció no es pot completar; el sistema mostra un missatge d’error.</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290209401"/>
                  </a:ext>
                </a:extLst>
              </a:tr>
              <a:tr h="229924">
                <a:tc>
                  <a:txBody>
                    <a:bodyPr/>
                    <a:lstStyle/>
                    <a:p>
                      <a:pPr algn="r">
                        <a:buNone/>
                      </a:pPr>
                      <a:r>
                        <a:rPr lang="ca-ES" sz="1300" b="1">
                          <a:solidFill>
                            <a:srgbClr val="000000"/>
                          </a:solidFill>
                          <a:effectLst/>
                          <a:latin typeface="Helvetica" panose="020B0604020202020204" pitchFamily="34" charset="0"/>
                        </a:rPr>
                        <a:t>Postcondició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El client queda suscrito al pla mensual.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249750934"/>
                  </a:ext>
                </a:extLst>
              </a:tr>
              <a:tr h="432797">
                <a:tc>
                  <a:txBody>
                    <a:bodyPr/>
                    <a:lstStyle/>
                    <a:p>
                      <a:pPr algn="r">
                        <a:buNone/>
                      </a:pPr>
                      <a:r>
                        <a:rPr lang="ca-ES" sz="1300" b="1">
                          <a:solidFill>
                            <a:srgbClr val="000000"/>
                          </a:solidFill>
                          <a:effectLst/>
                          <a:latin typeface="Helvetica" panose="020B0604020202020204" pitchFamily="34" charset="0"/>
                        </a:rPr>
                        <a:t>Requeriments no funcionals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a:rPr>
                        <a:t>RNF-08-00 </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546572063"/>
                  </a:ext>
                </a:extLst>
              </a:tr>
              <a:tr h="229924">
                <a:tc>
                  <a:txBody>
                    <a:bodyPr/>
                    <a:lstStyle/>
                    <a:p>
                      <a:pPr algn="r">
                        <a:buNone/>
                      </a:pPr>
                      <a:r>
                        <a:rPr lang="ca-ES" sz="1300" b="1">
                          <a:solidFill>
                            <a:srgbClr val="000000"/>
                          </a:solidFill>
                          <a:effectLst/>
                          <a:latin typeface="Helvetica" panose="020B0604020202020204" pitchFamily="34" charset="0"/>
                        </a:rPr>
                        <a:t>Prioritat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Normal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345419280"/>
                  </a:ext>
                </a:extLst>
              </a:tr>
              <a:tr h="229924">
                <a:tc>
                  <a:txBody>
                    <a:bodyPr/>
                    <a:lstStyle/>
                    <a:p>
                      <a:pPr algn="r">
                        <a:buNone/>
                      </a:pPr>
                      <a:r>
                        <a:rPr lang="ca-ES" sz="1300" b="1">
                          <a:solidFill>
                            <a:srgbClr val="000000"/>
                          </a:solidFill>
                          <a:effectLst/>
                          <a:latin typeface="Helvetica" panose="020B0604020202020204" pitchFamily="34" charset="0"/>
                        </a:rPr>
                        <a:t>Comentaris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Té com a extend la gestió de perfil.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284189126"/>
                  </a:ext>
                </a:extLst>
              </a:tr>
            </a:tbl>
          </a:graphicData>
        </a:graphic>
      </p:graphicFrame>
    </p:spTree>
    <p:extLst>
      <p:ext uri="{BB962C8B-B14F-4D97-AF65-F5344CB8AC3E}">
        <p14:creationId xmlns:p14="http://schemas.microsoft.com/office/powerpoint/2010/main" val="2055244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C19EBE5-CCCC-4809-8417-9B5D9FBFED8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109ADAD0-E2DD-DFC2-5CE4-0C79FDC227E3}"/>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18" name="Rectangle 1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C2B97870-8408-FC0E-0864-FB27745568DB}"/>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35</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A93D408D-4645-F91D-8FDC-E0F4167D6562}"/>
              </a:ext>
            </a:extLst>
          </p:cNvPr>
          <p:cNvGraphicFramePr>
            <a:graphicFrameLocks noGrp="1"/>
          </p:cNvGraphicFramePr>
          <p:nvPr>
            <p:extLst>
              <p:ext uri="{D42A27DB-BD31-4B8C-83A1-F6EECF244321}">
                <p14:modId xmlns:p14="http://schemas.microsoft.com/office/powerpoint/2010/main" val="2417324806"/>
              </p:ext>
            </p:extLst>
          </p:nvPr>
        </p:nvGraphicFramePr>
        <p:xfrm>
          <a:off x="1417935" y="2091095"/>
          <a:ext cx="9359597" cy="4206250"/>
        </p:xfrm>
        <a:graphic>
          <a:graphicData uri="http://schemas.openxmlformats.org/drawingml/2006/table">
            <a:tbl>
              <a:tblPr firstRow="1" bandRow="1">
                <a:tableStyleId>{5C22544A-7EE6-4342-B048-85BDC9FD1C3A}</a:tableStyleId>
              </a:tblPr>
              <a:tblGrid>
                <a:gridCol w="3650176">
                  <a:extLst>
                    <a:ext uri="{9D8B030D-6E8A-4147-A177-3AD203B41FA5}">
                      <a16:colId xmlns:a16="http://schemas.microsoft.com/office/drawing/2014/main" val="1202239598"/>
                    </a:ext>
                  </a:extLst>
                </a:gridCol>
                <a:gridCol w="1626864">
                  <a:extLst>
                    <a:ext uri="{9D8B030D-6E8A-4147-A177-3AD203B41FA5}">
                      <a16:colId xmlns:a16="http://schemas.microsoft.com/office/drawing/2014/main" val="3425764490"/>
                    </a:ext>
                  </a:extLst>
                </a:gridCol>
                <a:gridCol w="1639564">
                  <a:extLst>
                    <a:ext uri="{9D8B030D-6E8A-4147-A177-3AD203B41FA5}">
                      <a16:colId xmlns:a16="http://schemas.microsoft.com/office/drawing/2014/main" val="3765870389"/>
                    </a:ext>
                  </a:extLst>
                </a:gridCol>
                <a:gridCol w="2442993">
                  <a:extLst>
                    <a:ext uri="{9D8B030D-6E8A-4147-A177-3AD203B41FA5}">
                      <a16:colId xmlns:a16="http://schemas.microsoft.com/office/drawing/2014/main" val="1817218639"/>
                    </a:ext>
                  </a:extLst>
                </a:gridCol>
              </a:tblGrid>
              <a:tr h="229924">
                <a:tc>
                  <a:txBody>
                    <a:bodyPr/>
                    <a:lstStyle/>
                    <a:p>
                      <a:pPr algn="r">
                        <a:buNone/>
                      </a:pPr>
                      <a:r>
                        <a:rPr lang="ca-ES" sz="1300" b="1">
                          <a:solidFill>
                            <a:srgbClr val="FFFFFF"/>
                          </a:solidFill>
                          <a:effectLst/>
                          <a:latin typeface="Helvetica" panose="020B0604020202020204" pitchFamily="34" charset="0"/>
                        </a:rPr>
                        <a:t>CAS D’ÚS: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300" b="1">
                          <a:solidFill>
                            <a:srgbClr val="FFFFFF"/>
                          </a:solidFill>
                          <a:effectLst/>
                          <a:latin typeface="Helvetica" panose="020B0604020202020204" pitchFamily="34" charset="0"/>
                        </a:rPr>
                        <a:t>Proposar un plat personalitzat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73729208"/>
                  </a:ext>
                </a:extLst>
              </a:tr>
              <a:tr h="229923">
                <a:tc>
                  <a:txBody>
                    <a:bodyPr/>
                    <a:lstStyle/>
                    <a:p>
                      <a:pPr algn="r">
                        <a:buNone/>
                      </a:pPr>
                      <a:r>
                        <a:rPr lang="ca-ES" sz="1300" b="1">
                          <a:solidFill>
                            <a:srgbClr val="000000"/>
                          </a:solidFill>
                          <a:effectLst/>
                          <a:latin typeface="Helvetica" panose="020B0604020202020204" pitchFamily="34" charset="0"/>
                        </a:rPr>
                        <a:t>Versió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1.0</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300" b="1">
                          <a:solidFill>
                            <a:srgbClr val="000000"/>
                          </a:solidFill>
                          <a:effectLst/>
                          <a:latin typeface="Helvetica" panose="020B0604020202020204" pitchFamily="34" charset="0"/>
                        </a:rPr>
                        <a:t>Data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300">
                          <a:solidFill>
                            <a:srgbClr val="000000"/>
                          </a:solidFill>
                          <a:effectLst/>
                          <a:latin typeface="Helvetica" panose="020B0604020202020204" pitchFamily="34" charset="0"/>
                        </a:rPr>
                        <a:t>16/05/2026</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3740692596"/>
                  </a:ext>
                </a:extLst>
              </a:tr>
              <a:tr h="229924">
                <a:tc>
                  <a:txBody>
                    <a:bodyPr/>
                    <a:lstStyle/>
                    <a:p>
                      <a:pPr algn="r">
                        <a:buNone/>
                      </a:pPr>
                      <a:r>
                        <a:rPr lang="ca-ES" sz="1300" b="1">
                          <a:solidFill>
                            <a:srgbClr val="000000"/>
                          </a:solidFill>
                          <a:effectLst/>
                          <a:latin typeface="Helvetica" panose="020B0604020202020204" pitchFamily="34" charset="0"/>
                        </a:rPr>
                        <a:t>Autors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lvl="0">
                        <a:buNone/>
                      </a:pPr>
                      <a:r>
                        <a:rPr lang="ca-ES" sz="1300" kern="1200" noProof="0">
                          <a:solidFill>
                            <a:srgbClr val="000000"/>
                          </a:solidFill>
                          <a:effectLst/>
                          <a:latin typeface="Helvetica" panose="020B0604020202020204" pitchFamily="34" charset="0"/>
                          <a:ea typeface="+mn-ea"/>
                          <a:cs typeface="+mn-cs"/>
                        </a:rPr>
                        <a:t>Enric, Blay, Maria i Neus</a:t>
                      </a:r>
                      <a:endParaRPr lang="ca-ES" sz="1300" kern="1200">
                        <a:solidFill>
                          <a:srgbClr val="000000"/>
                        </a:solidFill>
                        <a:effectLst/>
                        <a:latin typeface="Helvetica" panose="020B0604020202020204" pitchFamily="34" charset="0"/>
                        <a:ea typeface="+mn-ea"/>
                        <a:cs typeface="+mn-cs"/>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956450663"/>
                  </a:ext>
                </a:extLst>
              </a:tr>
              <a:tr h="432797">
                <a:tc>
                  <a:txBody>
                    <a:bodyPr/>
                    <a:lstStyle/>
                    <a:p>
                      <a:pPr algn="r">
                        <a:buNone/>
                      </a:pPr>
                      <a:r>
                        <a:rPr lang="ca-ES" sz="1300" b="1">
                          <a:solidFill>
                            <a:srgbClr val="000000"/>
                          </a:solidFill>
                          <a:effectLst/>
                          <a:latin typeface="Helvetica" panose="020B0604020202020204" pitchFamily="34" charset="0"/>
                        </a:rPr>
                        <a:t>Descripció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El client pot proposar un plat personalitzat indicant ingredients o canvis respecte a una recepta existent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044992659"/>
                  </a:ext>
                </a:extLst>
              </a:tr>
              <a:tr h="229924">
                <a:tc>
                  <a:txBody>
                    <a:bodyPr/>
                    <a:lstStyle/>
                    <a:p>
                      <a:pPr algn="r">
                        <a:buNone/>
                      </a:pPr>
                      <a:r>
                        <a:rPr lang="ca-ES" sz="1300" b="1">
                          <a:solidFill>
                            <a:srgbClr val="000000"/>
                          </a:solidFill>
                          <a:effectLst/>
                          <a:latin typeface="Helvetica" panose="020B0604020202020204" pitchFamily="34" charset="0"/>
                        </a:rPr>
                        <a:t>Actors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a:rPr>
                        <a:t>Client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713965993"/>
                  </a:ext>
                </a:extLst>
              </a:tr>
              <a:tr h="229924">
                <a:tc>
                  <a:txBody>
                    <a:bodyPr/>
                    <a:lstStyle/>
                    <a:p>
                      <a:pPr algn="r">
                        <a:buNone/>
                      </a:pPr>
                      <a:r>
                        <a:rPr lang="ca-ES" sz="1300" b="1">
                          <a:solidFill>
                            <a:srgbClr val="000000"/>
                          </a:solidFill>
                          <a:effectLst/>
                          <a:latin typeface="Helvetica" panose="020B0604020202020204" pitchFamily="34" charset="0"/>
                        </a:rPr>
                        <a:t>Precondició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300">
                          <a:solidFill>
                            <a:srgbClr val="000000"/>
                          </a:solidFill>
                          <a:effectLst/>
                          <a:latin typeface="Helvetica" panose="020B0604020202020204" pitchFamily="34" charset="0"/>
                        </a:rPr>
                        <a:t>El client està registrat.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102476782"/>
                  </a:ext>
                </a:extLst>
              </a:tr>
              <a:tr h="1041417">
                <a:tc>
                  <a:txBody>
                    <a:bodyPr/>
                    <a:lstStyle/>
                    <a:p>
                      <a:pPr algn="r">
                        <a:buNone/>
                      </a:pPr>
                      <a:r>
                        <a:rPr lang="ca-ES" sz="1300" b="1">
                          <a:solidFill>
                            <a:srgbClr val="000000"/>
                          </a:solidFill>
                          <a:effectLst/>
                          <a:latin typeface="Helvetica" panose="020B0604020202020204" pitchFamily="34" charset="0"/>
                        </a:rPr>
                        <a:t>Flux principal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Font typeface="+mj-lt"/>
                        <a:buAutoNum type="arabicPeriod"/>
                      </a:pPr>
                      <a:r>
                        <a:rPr lang="ca-ES" sz="1300">
                          <a:solidFill>
                            <a:srgbClr val="000000"/>
                          </a:solidFill>
                          <a:effectLst/>
                          <a:latin typeface="Helvetica" panose="020B0604020202020204" pitchFamily="34" charset="0"/>
                        </a:rPr>
                        <a:t>El client accedeix a l’opció de proposta de plat.</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client indica el plat o els ingredients desitjats.</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envia la proposta al cuiner.</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cuiner revisa la proposta.</a:t>
                      </a:r>
                      <a:endParaRPr lang="ca-ES" sz="1300">
                        <a:effectLst/>
                      </a:endParaRPr>
                    </a:p>
                    <a:p>
                      <a:pPr algn="just">
                        <a:buFont typeface="+mj-lt"/>
                        <a:buAutoNum type="arabicPeriod"/>
                      </a:pPr>
                      <a:r>
                        <a:rPr lang="ca-ES" sz="1300">
                          <a:solidFill>
                            <a:srgbClr val="000000"/>
                          </a:solidFill>
                          <a:effectLst/>
                          <a:latin typeface="Helvetica" panose="020B0604020202020204" pitchFamily="34" charset="0"/>
                        </a:rPr>
                        <a:t>El sistema mostra l’estat de la proposta al client.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727015276"/>
                  </a:ext>
                </a:extLst>
              </a:tr>
              <a:tr h="229924">
                <a:tc>
                  <a:txBody>
                    <a:bodyPr/>
                    <a:lstStyle/>
                    <a:p>
                      <a:pPr algn="r">
                        <a:buNone/>
                      </a:pPr>
                      <a:r>
                        <a:rPr lang="ca-ES" sz="1300" b="1">
                          <a:solidFill>
                            <a:srgbClr val="000000"/>
                          </a:solidFill>
                          <a:effectLst/>
                          <a:latin typeface="Helvetica" panose="020B0604020202020204" pitchFamily="34" charset="0"/>
                        </a:rPr>
                        <a:t>Subfluxos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endParaRPr lang="ca-ES" sz="13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720317234"/>
                  </a:ext>
                </a:extLst>
              </a:tr>
              <a:tr h="432797">
                <a:tc>
                  <a:txBody>
                    <a:bodyPr/>
                    <a:lstStyle/>
                    <a:p>
                      <a:pPr algn="r">
                        <a:buNone/>
                      </a:pPr>
                      <a:r>
                        <a:rPr lang="ca-ES" sz="1300" b="1">
                          <a:solidFill>
                            <a:srgbClr val="000000"/>
                          </a:solidFill>
                          <a:effectLst/>
                          <a:latin typeface="Helvetica" panose="020B0604020202020204" pitchFamily="34" charset="0"/>
                        </a:rPr>
                        <a:t>Fluxos alternatius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spcAft>
                          <a:spcPts val="375"/>
                        </a:spcAft>
                        <a:buNone/>
                      </a:pPr>
                      <a:r>
                        <a:rPr lang="ca-ES" sz="1300">
                          <a:solidFill>
                            <a:srgbClr val="000000"/>
                          </a:solidFill>
                          <a:effectLst/>
                          <a:latin typeface="Helvetica" panose="020B0604020202020204" pitchFamily="34" charset="0"/>
                        </a:rPr>
                        <a:t>El client elimina una proposta no acceptada; el sistema elimina la proposta de comanda.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979767952"/>
                  </a:ext>
                </a:extLst>
              </a:tr>
              <a:tr h="229924">
                <a:tc>
                  <a:txBody>
                    <a:bodyPr/>
                    <a:lstStyle/>
                    <a:p>
                      <a:pPr algn="r">
                        <a:buNone/>
                      </a:pPr>
                      <a:r>
                        <a:rPr lang="ca-ES" sz="1300" b="1">
                          <a:solidFill>
                            <a:srgbClr val="000000"/>
                          </a:solidFill>
                          <a:effectLst/>
                          <a:latin typeface="Helvetica" panose="020B0604020202020204" pitchFamily="34" charset="0"/>
                        </a:rPr>
                        <a:t>Postcondició</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La proposta queda registrada o eliminada.</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519332817"/>
                  </a:ext>
                </a:extLst>
              </a:tr>
              <a:tr h="229924">
                <a:tc>
                  <a:txBody>
                    <a:bodyPr/>
                    <a:lstStyle/>
                    <a:p>
                      <a:pPr algn="r">
                        <a:buNone/>
                      </a:pPr>
                      <a:r>
                        <a:rPr lang="ca-ES" sz="1300" b="1">
                          <a:solidFill>
                            <a:srgbClr val="000000"/>
                          </a:solidFill>
                          <a:effectLst/>
                          <a:latin typeface="Helvetica" panose="020B0604020202020204" pitchFamily="34" charset="0"/>
                        </a:rPr>
                        <a:t>Requeriments no funcionals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a:rPr>
                        <a:t>RNF-02-00, RNF-00-07 </a:t>
                      </a:r>
                      <a:endParaRPr lang="ca-ES" sz="1300">
                        <a:effectLst/>
                        <a:latin typeface="Helvetica"/>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910385944"/>
                  </a:ext>
                </a:extLst>
              </a:tr>
              <a:tr h="229924">
                <a:tc>
                  <a:txBody>
                    <a:bodyPr/>
                    <a:lstStyle/>
                    <a:p>
                      <a:pPr algn="r">
                        <a:buNone/>
                      </a:pPr>
                      <a:r>
                        <a:rPr lang="ca-ES" sz="1300" b="1">
                          <a:solidFill>
                            <a:srgbClr val="000000"/>
                          </a:solidFill>
                          <a:effectLst/>
                          <a:latin typeface="Helvetica" panose="020B0604020202020204" pitchFamily="34" charset="0"/>
                        </a:rPr>
                        <a:t>Prioritat</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Normal</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86120435"/>
                  </a:ext>
                </a:extLst>
              </a:tr>
              <a:tr h="229924">
                <a:tc>
                  <a:txBody>
                    <a:bodyPr/>
                    <a:lstStyle/>
                    <a:p>
                      <a:pPr algn="r">
                        <a:buNone/>
                      </a:pPr>
                      <a:r>
                        <a:rPr lang="ca-ES" sz="1300" b="1">
                          <a:solidFill>
                            <a:srgbClr val="000000"/>
                          </a:solidFill>
                          <a:effectLst/>
                          <a:latin typeface="Helvetica" panose="020B0604020202020204" pitchFamily="34" charset="0"/>
                        </a:rPr>
                        <a:t>Comentaris</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300">
                          <a:solidFill>
                            <a:srgbClr val="000000"/>
                          </a:solidFill>
                          <a:effectLst/>
                          <a:latin typeface="Helvetica" panose="020B0604020202020204" pitchFamily="34" charset="0"/>
                        </a:rPr>
                        <a:t>Té com a extend el xat amb el cuiner</a:t>
                      </a:r>
                      <a:endParaRPr lang="ca-ES" sz="13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901787298"/>
                  </a:ext>
                </a:extLst>
              </a:tr>
            </a:tbl>
          </a:graphicData>
        </a:graphic>
      </p:graphicFrame>
    </p:spTree>
    <p:extLst>
      <p:ext uri="{BB962C8B-B14F-4D97-AF65-F5344CB8AC3E}">
        <p14:creationId xmlns:p14="http://schemas.microsoft.com/office/powerpoint/2010/main" val="118772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35224DD-72E4-5CB4-B21D-C02CA46C668B}"/>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2B2C83A2-42F3-AE17-67BA-1839958235EB}"/>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a:t>Especificacions Client</a:t>
            </a:r>
          </a:p>
        </p:txBody>
      </p:sp>
      <p:sp>
        <p:nvSpPr>
          <p:cNvPr id="33" name="Rectangle 3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87C7A0DD-B762-3811-1136-3BF5E7105452}"/>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36</a:t>
            </a:fld>
            <a:endParaRPr lang="en-US">
              <a:solidFill>
                <a:schemeClr val="tx2">
                  <a:lumMod val="50000"/>
                  <a:lumOff val="50000"/>
                </a:schemeClr>
              </a:solidFill>
            </a:endParaRPr>
          </a:p>
        </p:txBody>
      </p:sp>
      <p:graphicFrame>
        <p:nvGraphicFramePr>
          <p:cNvPr id="3" name="Taula 2">
            <a:extLst>
              <a:ext uri="{FF2B5EF4-FFF2-40B4-BE49-F238E27FC236}">
                <a16:creationId xmlns:a16="http://schemas.microsoft.com/office/drawing/2014/main" id="{F238B6AA-9674-68AA-FA1D-B5C83CB09649}"/>
              </a:ext>
            </a:extLst>
          </p:cNvPr>
          <p:cNvGraphicFramePr>
            <a:graphicFrameLocks noGrp="1"/>
          </p:cNvGraphicFramePr>
          <p:nvPr>
            <p:extLst>
              <p:ext uri="{D42A27DB-BD31-4B8C-83A1-F6EECF244321}">
                <p14:modId xmlns:p14="http://schemas.microsoft.com/office/powerpoint/2010/main" val="758666291"/>
              </p:ext>
            </p:extLst>
          </p:nvPr>
        </p:nvGraphicFramePr>
        <p:xfrm>
          <a:off x="1563504" y="2091095"/>
          <a:ext cx="9068460" cy="4203421"/>
        </p:xfrm>
        <a:graphic>
          <a:graphicData uri="http://schemas.openxmlformats.org/drawingml/2006/table">
            <a:tbl>
              <a:tblPr firstRow="1" bandRow="1">
                <a:tableStyleId>{5C22544A-7EE6-4342-B048-85BDC9FD1C3A}</a:tableStyleId>
              </a:tblPr>
              <a:tblGrid>
                <a:gridCol w="3437899">
                  <a:extLst>
                    <a:ext uri="{9D8B030D-6E8A-4147-A177-3AD203B41FA5}">
                      <a16:colId xmlns:a16="http://schemas.microsoft.com/office/drawing/2014/main" val="3584800668"/>
                    </a:ext>
                  </a:extLst>
                </a:gridCol>
                <a:gridCol w="1521070">
                  <a:extLst>
                    <a:ext uri="{9D8B030D-6E8A-4147-A177-3AD203B41FA5}">
                      <a16:colId xmlns:a16="http://schemas.microsoft.com/office/drawing/2014/main" val="1562010831"/>
                    </a:ext>
                  </a:extLst>
                </a:gridCol>
                <a:gridCol w="1709837">
                  <a:extLst>
                    <a:ext uri="{9D8B030D-6E8A-4147-A177-3AD203B41FA5}">
                      <a16:colId xmlns:a16="http://schemas.microsoft.com/office/drawing/2014/main" val="426542472"/>
                    </a:ext>
                  </a:extLst>
                </a:gridCol>
                <a:gridCol w="2399654">
                  <a:extLst>
                    <a:ext uri="{9D8B030D-6E8A-4147-A177-3AD203B41FA5}">
                      <a16:colId xmlns:a16="http://schemas.microsoft.com/office/drawing/2014/main" val="350753535"/>
                    </a:ext>
                  </a:extLst>
                </a:gridCol>
              </a:tblGrid>
              <a:tr h="212940">
                <a:tc>
                  <a:txBody>
                    <a:bodyPr/>
                    <a:lstStyle/>
                    <a:p>
                      <a:pPr algn="r">
                        <a:buNone/>
                      </a:pPr>
                      <a:r>
                        <a:rPr lang="ca-ES" sz="1200" b="1">
                          <a:solidFill>
                            <a:srgbClr val="FFFFFF"/>
                          </a:solidFill>
                          <a:effectLst/>
                          <a:latin typeface="Helvetica" panose="020B0604020202020204" pitchFamily="34" charset="0"/>
                        </a:rPr>
                        <a:t>CAS D’ÚS: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gridSpan="3">
                  <a:txBody>
                    <a:bodyPr/>
                    <a:lstStyle/>
                    <a:p>
                      <a:pPr>
                        <a:buNone/>
                      </a:pPr>
                      <a:r>
                        <a:rPr lang="ca-ES" sz="1200" b="1">
                          <a:solidFill>
                            <a:srgbClr val="FFFFFF"/>
                          </a:solidFill>
                          <a:effectLst/>
                          <a:latin typeface="Helvetica" panose="020B0604020202020204" pitchFamily="34" charset="0"/>
                        </a:rPr>
                        <a:t>Gestió de perfil</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solidFill>
                      <a:srgbClr val="B4384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812182628"/>
                  </a:ext>
                </a:extLst>
              </a:tr>
              <a:tr h="210110">
                <a:tc>
                  <a:txBody>
                    <a:bodyPr/>
                    <a:lstStyle/>
                    <a:p>
                      <a:pPr algn="r">
                        <a:buNone/>
                      </a:pPr>
                      <a:r>
                        <a:rPr lang="ca-ES" sz="1200" b="1">
                          <a:solidFill>
                            <a:srgbClr val="000000"/>
                          </a:solidFill>
                          <a:effectLst/>
                          <a:latin typeface="Helvetica" panose="020B0604020202020204" pitchFamily="34" charset="0"/>
                        </a:rPr>
                        <a:t>Versió</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200">
                          <a:solidFill>
                            <a:srgbClr val="000000"/>
                          </a:solidFill>
                          <a:effectLst/>
                          <a:latin typeface="Helvetica" panose="020B0604020202020204" pitchFamily="34" charset="0"/>
                        </a:rPr>
                        <a:t>1.0</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lgn="r">
                        <a:buNone/>
                      </a:pPr>
                      <a:r>
                        <a:rPr lang="ca-ES" sz="1200" b="1">
                          <a:solidFill>
                            <a:srgbClr val="000000"/>
                          </a:solidFill>
                          <a:effectLst/>
                          <a:latin typeface="Helvetica" panose="020B0604020202020204" pitchFamily="34" charset="0"/>
                        </a:rPr>
                        <a:t>Data</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a:txBody>
                    <a:bodyPr/>
                    <a:lstStyle/>
                    <a:p>
                      <a:pPr>
                        <a:buNone/>
                      </a:pPr>
                      <a:r>
                        <a:rPr lang="ca-ES" sz="1200">
                          <a:solidFill>
                            <a:srgbClr val="000000"/>
                          </a:solidFill>
                          <a:effectLst/>
                          <a:latin typeface="Helvetica" panose="020B0604020202020204" pitchFamily="34" charset="0"/>
                        </a:rPr>
                        <a:t>16/05/2026</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extLst>
                  <a:ext uri="{0D108BD9-81ED-4DB2-BD59-A6C34878D82A}">
                    <a16:rowId xmlns:a16="http://schemas.microsoft.com/office/drawing/2014/main" val="3788272958"/>
                  </a:ext>
                </a:extLst>
              </a:tr>
              <a:tr h="212940">
                <a:tc>
                  <a:txBody>
                    <a:bodyPr/>
                    <a:lstStyle/>
                    <a:p>
                      <a:pPr algn="r">
                        <a:buNone/>
                      </a:pPr>
                      <a:r>
                        <a:rPr lang="ca-ES" sz="1200" b="1">
                          <a:solidFill>
                            <a:srgbClr val="000000"/>
                          </a:solidFill>
                          <a:effectLst/>
                          <a:latin typeface="Helvetica" panose="020B0604020202020204" pitchFamily="34" charset="0"/>
                        </a:rPr>
                        <a:t>Autors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lvl="0">
                        <a:buNone/>
                      </a:pPr>
                      <a:r>
                        <a:rPr lang="ca-ES" sz="1200" kern="1200" noProof="0">
                          <a:solidFill>
                            <a:srgbClr val="000000"/>
                          </a:solidFill>
                          <a:effectLst/>
                          <a:latin typeface="Helvetica"/>
                          <a:ea typeface="+mn-ea"/>
                          <a:cs typeface="+mn-cs"/>
                        </a:rPr>
                        <a:t>Enric, Blay, Maria i Neus</a:t>
                      </a:r>
                      <a:endParaRPr lang="ca-ES" sz="1200" kern="1200">
                        <a:solidFill>
                          <a:srgbClr val="000000"/>
                        </a:solidFill>
                        <a:effectLst/>
                        <a:latin typeface="Helvetica"/>
                        <a:ea typeface="+mn-ea"/>
                        <a:cs typeface="+mn-cs"/>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251829476"/>
                  </a:ext>
                </a:extLst>
              </a:tr>
              <a:tr h="392694">
                <a:tc>
                  <a:txBody>
                    <a:bodyPr/>
                    <a:lstStyle/>
                    <a:p>
                      <a:pPr algn="r">
                        <a:buNone/>
                      </a:pPr>
                      <a:r>
                        <a:rPr lang="ca-ES" sz="1200" b="1">
                          <a:solidFill>
                            <a:srgbClr val="000000"/>
                          </a:solidFill>
                          <a:effectLst/>
                          <a:latin typeface="Helvetica" panose="020B0604020202020204" pitchFamily="34" charset="0"/>
                        </a:rPr>
                        <a:t>Descripció</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200">
                          <a:solidFill>
                            <a:srgbClr val="000000"/>
                          </a:solidFill>
                          <a:effectLst/>
                          <a:latin typeface="Helvetica"/>
                        </a:rPr>
                        <a:t>Aquest cas d’ús descriu com el client pot gestionar les dades bàsiques del compte, com la informació personal i les dades necessàries per utilitzar l'aplicació.</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44421157"/>
                  </a:ext>
                </a:extLst>
              </a:tr>
              <a:tr h="212940">
                <a:tc>
                  <a:txBody>
                    <a:bodyPr/>
                    <a:lstStyle/>
                    <a:p>
                      <a:pPr algn="r">
                        <a:buNone/>
                      </a:pPr>
                      <a:r>
                        <a:rPr lang="ca-ES" sz="1200" b="1">
                          <a:solidFill>
                            <a:srgbClr val="000000"/>
                          </a:solidFill>
                          <a:effectLst/>
                          <a:latin typeface="Helvetica" panose="020B0604020202020204" pitchFamily="34" charset="0"/>
                        </a:rPr>
                        <a:t>Actors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200">
                          <a:solidFill>
                            <a:srgbClr val="000000"/>
                          </a:solidFill>
                          <a:effectLst/>
                          <a:latin typeface="Helvetica"/>
                        </a:rPr>
                        <a:t>Client</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799636276"/>
                  </a:ext>
                </a:extLst>
              </a:tr>
              <a:tr h="212940">
                <a:tc>
                  <a:txBody>
                    <a:bodyPr/>
                    <a:lstStyle/>
                    <a:p>
                      <a:pPr algn="r">
                        <a:buNone/>
                      </a:pPr>
                      <a:r>
                        <a:rPr lang="ca-ES" sz="1200" b="1">
                          <a:solidFill>
                            <a:srgbClr val="000000"/>
                          </a:solidFill>
                          <a:effectLst/>
                          <a:latin typeface="Helvetica" panose="020B0604020202020204" pitchFamily="34" charset="0"/>
                        </a:rPr>
                        <a:t>Precondició</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200">
                          <a:solidFill>
                            <a:srgbClr val="000000"/>
                          </a:solidFill>
                          <a:effectLst/>
                          <a:latin typeface="Helvetica"/>
                        </a:rPr>
                        <a:t> El client està registrat i ha iniciat sessió.</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62962325"/>
                  </a:ext>
                </a:extLst>
              </a:tr>
              <a:tr h="1111709">
                <a:tc>
                  <a:txBody>
                    <a:bodyPr/>
                    <a:lstStyle/>
                    <a:p>
                      <a:pPr algn="r">
                        <a:buNone/>
                      </a:pPr>
                      <a:r>
                        <a:rPr lang="ca-ES" sz="1200" b="1">
                          <a:solidFill>
                            <a:srgbClr val="000000"/>
                          </a:solidFill>
                          <a:effectLst/>
                          <a:latin typeface="Helvetica" panose="020B0604020202020204" pitchFamily="34" charset="0"/>
                        </a:rPr>
                        <a:t>Flux principal</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AutoNum type="arabicPeriod"/>
                      </a:pPr>
                      <a:r>
                        <a:rPr lang="ca-ES" sz="1200">
                          <a:solidFill>
                            <a:srgbClr val="000000"/>
                          </a:solidFill>
                          <a:effectLst/>
                          <a:latin typeface="Helvetica"/>
                        </a:rPr>
                        <a:t>El client accedeix a la secció de perfil.</a:t>
                      </a:r>
                    </a:p>
                    <a:p>
                      <a:pPr lvl="0" algn="just">
                        <a:buAutoNum type="arabicPeriod"/>
                      </a:pPr>
                      <a:r>
                        <a:rPr lang="ca-ES" sz="1200">
                          <a:solidFill>
                            <a:srgbClr val="000000"/>
                          </a:solidFill>
                          <a:effectLst/>
                          <a:latin typeface="Helvetica"/>
                        </a:rPr>
                        <a:t>El sistema mostra les dades sel compte del client.</a:t>
                      </a:r>
                    </a:p>
                    <a:p>
                      <a:pPr lvl="0" algn="just">
                        <a:buAutoNum type="arabicPeriod"/>
                      </a:pPr>
                      <a:r>
                        <a:rPr lang="ca-ES" sz="1200">
                          <a:solidFill>
                            <a:srgbClr val="000000"/>
                          </a:solidFill>
                          <a:effectLst/>
                          <a:latin typeface="Helvetica"/>
                        </a:rPr>
                        <a:t>El client modifica les dades que vol actualitzar.</a:t>
                      </a:r>
                    </a:p>
                    <a:p>
                      <a:pPr lvl="0" algn="just">
                        <a:buAutoNum type="arabicPeriod"/>
                      </a:pPr>
                      <a:r>
                        <a:rPr lang="ca-ES" sz="1200">
                          <a:solidFill>
                            <a:srgbClr val="000000"/>
                          </a:solidFill>
                          <a:effectLst/>
                          <a:latin typeface="Helvetica"/>
                        </a:rPr>
                        <a:t>El client guarda els canvis.</a:t>
                      </a:r>
                    </a:p>
                    <a:p>
                      <a:pPr lvl="0" algn="just">
                        <a:buAutoNum type="arabicPeriod"/>
                      </a:pPr>
                      <a:r>
                        <a:rPr lang="ca-ES" sz="1200">
                          <a:solidFill>
                            <a:srgbClr val="000000"/>
                          </a:solidFill>
                          <a:effectLst/>
                          <a:latin typeface="Helvetica"/>
                        </a:rPr>
                        <a:t>El sistema valida les dades introduïdes.</a:t>
                      </a:r>
                    </a:p>
                    <a:p>
                      <a:pPr lvl="0" algn="just">
                        <a:buAutoNum type="arabicPeriod"/>
                      </a:pPr>
                      <a:r>
                        <a:rPr lang="ca-ES" sz="1200">
                          <a:solidFill>
                            <a:srgbClr val="000000"/>
                          </a:solidFill>
                          <a:effectLst/>
                          <a:latin typeface="Helvetica"/>
                        </a:rPr>
                        <a:t>El sistema actualitza la informació del perfil.</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761912680"/>
                  </a:ext>
                </a:extLst>
              </a:tr>
              <a:tr h="392694">
                <a:tc>
                  <a:txBody>
                    <a:bodyPr/>
                    <a:lstStyle/>
                    <a:p>
                      <a:pPr algn="r">
                        <a:buNone/>
                      </a:pPr>
                      <a:r>
                        <a:rPr lang="ca-ES" sz="1200" b="1">
                          <a:solidFill>
                            <a:srgbClr val="000000"/>
                          </a:solidFill>
                          <a:effectLst/>
                          <a:latin typeface="Helvetica" panose="020B0604020202020204" pitchFamily="34" charset="0"/>
                        </a:rPr>
                        <a:t>Subfluxos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lgn="just">
                        <a:buNone/>
                      </a:pPr>
                      <a:r>
                        <a:rPr lang="ca-ES" sz="1200">
                          <a:solidFill>
                            <a:srgbClr val="000000"/>
                          </a:solidFill>
                          <a:effectLst/>
                          <a:latin typeface="Helvetica"/>
                        </a:rPr>
                        <a:t> El client pot modificar informació relacionada amb el seu  compte, com dades personals o dades de contacte.</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1981234780"/>
                  </a:ext>
                </a:extLst>
              </a:tr>
              <a:tr h="392694">
                <a:tc>
                  <a:txBody>
                    <a:bodyPr/>
                    <a:lstStyle/>
                    <a:p>
                      <a:pPr algn="r">
                        <a:buNone/>
                      </a:pPr>
                      <a:r>
                        <a:rPr lang="ca-ES" sz="1200" b="1">
                          <a:solidFill>
                            <a:srgbClr val="000000"/>
                          </a:solidFill>
                          <a:effectLst/>
                          <a:latin typeface="Helvetica" panose="020B0604020202020204" pitchFamily="34" charset="0"/>
                        </a:rPr>
                        <a:t>Fluxos alternatius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spcAft>
                          <a:spcPts val="375"/>
                        </a:spcAft>
                        <a:buNone/>
                      </a:pPr>
                      <a:r>
                        <a:rPr lang="ca-ES" sz="1200" u="none">
                          <a:solidFill>
                            <a:srgbClr val="000000"/>
                          </a:solidFill>
                          <a:effectLst/>
                          <a:latin typeface="Helvetica"/>
                        </a:rPr>
                        <a:t>Les dades introduïdes no són vàlides; el sistema mostra un missatge d'error i demana corregir les dades.</a:t>
                      </a: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4014969622"/>
                  </a:ext>
                </a:extLst>
              </a:tr>
              <a:tr h="212940">
                <a:tc>
                  <a:txBody>
                    <a:bodyPr/>
                    <a:lstStyle/>
                    <a:p>
                      <a:pPr algn="r">
                        <a:buNone/>
                      </a:pPr>
                      <a:r>
                        <a:rPr lang="ca-ES" sz="1200" b="1">
                          <a:solidFill>
                            <a:srgbClr val="000000"/>
                          </a:solidFill>
                          <a:effectLst/>
                          <a:latin typeface="Helvetica" panose="020B0604020202020204" pitchFamily="34" charset="0"/>
                        </a:rPr>
                        <a:t>Postcondició</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200">
                          <a:solidFill>
                            <a:srgbClr val="000000"/>
                          </a:solidFill>
                          <a:effectLst/>
                          <a:latin typeface="Helvetica"/>
                        </a:rPr>
                        <a:t> Les dades del perfil del client queden actualitzades.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504875738"/>
                  </a:ext>
                </a:extLst>
              </a:tr>
              <a:tr h="212940">
                <a:tc>
                  <a:txBody>
                    <a:bodyPr/>
                    <a:lstStyle/>
                    <a:p>
                      <a:pPr algn="r">
                        <a:buNone/>
                      </a:pPr>
                      <a:r>
                        <a:rPr lang="ca-ES" sz="1200" b="1">
                          <a:solidFill>
                            <a:srgbClr val="000000"/>
                          </a:solidFill>
                          <a:effectLst/>
                          <a:latin typeface="Helvetica" panose="020B0604020202020204" pitchFamily="34" charset="0"/>
                        </a:rPr>
                        <a:t>Requeriments no funcionals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200">
                          <a:solidFill>
                            <a:srgbClr val="000000"/>
                          </a:solidFill>
                          <a:effectLst/>
                          <a:latin typeface="Helvetica"/>
                        </a:rPr>
                        <a:t> RNF-00-07, RNF-01-02</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420616711"/>
                  </a:ext>
                </a:extLst>
              </a:tr>
              <a:tr h="212940">
                <a:tc>
                  <a:txBody>
                    <a:bodyPr/>
                    <a:lstStyle/>
                    <a:p>
                      <a:pPr algn="r">
                        <a:buNone/>
                      </a:pPr>
                      <a:r>
                        <a:rPr lang="ca-ES" sz="1200" b="1">
                          <a:solidFill>
                            <a:srgbClr val="000000"/>
                          </a:solidFill>
                          <a:effectLst/>
                          <a:latin typeface="Helvetica" panose="020B0604020202020204" pitchFamily="34" charset="0"/>
                        </a:rPr>
                        <a:t>Prioritat</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200">
                          <a:solidFill>
                            <a:srgbClr val="000000"/>
                          </a:solidFill>
                          <a:effectLst/>
                          <a:latin typeface="Helvetica"/>
                        </a:rPr>
                        <a:t>Alta</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2315844556"/>
                  </a:ext>
                </a:extLst>
              </a:tr>
              <a:tr h="212940">
                <a:tc>
                  <a:txBody>
                    <a:bodyPr/>
                    <a:lstStyle/>
                    <a:p>
                      <a:pPr algn="r">
                        <a:buNone/>
                      </a:pPr>
                      <a:r>
                        <a:rPr lang="ca-ES" sz="1200" b="1">
                          <a:solidFill>
                            <a:srgbClr val="000000"/>
                          </a:solidFill>
                          <a:effectLst/>
                          <a:latin typeface="Helvetica" panose="020B0604020202020204" pitchFamily="34" charset="0"/>
                        </a:rPr>
                        <a:t>Comentaris</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gridSpan="3">
                  <a:txBody>
                    <a:bodyPr/>
                    <a:lstStyle/>
                    <a:p>
                      <a:pPr>
                        <a:buNone/>
                      </a:pPr>
                      <a:r>
                        <a:rPr lang="ca-ES" sz="1200">
                          <a:solidFill>
                            <a:srgbClr val="000000"/>
                          </a:solidFill>
                          <a:effectLst/>
                          <a:latin typeface="Helvetica"/>
                        </a:rPr>
                        <a:t> Relacionat amb la gestió del compte d'usuari.</a:t>
                      </a:r>
                      <a:endParaRPr lang="ca-ES" sz="1200">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E2E3"/>
                    </a:solidFill>
                  </a:tcPr>
                </a:tc>
                <a:tc hMerge="1">
                  <a:txBody>
                    <a:bodyPr/>
                    <a:lstStyle/>
                    <a:p>
                      <a:endParaRPr lang="ca-ES"/>
                    </a:p>
                  </a:txBody>
                  <a:tcPr/>
                </a:tc>
                <a:tc hMerge="1">
                  <a:txBody>
                    <a:bodyPr/>
                    <a:lstStyle/>
                    <a:p>
                      <a:endParaRPr lang="ca-ES"/>
                    </a:p>
                  </a:txBody>
                  <a:tcPr/>
                </a:tc>
                <a:extLst>
                  <a:ext uri="{0D108BD9-81ED-4DB2-BD59-A6C34878D82A}">
                    <a16:rowId xmlns:a16="http://schemas.microsoft.com/office/drawing/2014/main" val="3652094068"/>
                  </a:ext>
                </a:extLst>
              </a:tr>
            </a:tbl>
          </a:graphicData>
        </a:graphic>
      </p:graphicFrame>
    </p:spTree>
    <p:extLst>
      <p:ext uri="{BB962C8B-B14F-4D97-AF65-F5344CB8AC3E}">
        <p14:creationId xmlns:p14="http://schemas.microsoft.com/office/powerpoint/2010/main" val="2260605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F5341F-C123-06EB-813C-B80CDC929FF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446E33-E11D-9CE5-7D89-99B4A949B993}"/>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Diagrama Classes inicial</a:t>
            </a:r>
          </a:p>
        </p:txBody>
      </p:sp>
      <p:sp>
        <p:nvSpPr>
          <p:cNvPr id="28" name="Rectangle 2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9868C092-4863-FCA1-EA54-BD32E080C9F4}"/>
              </a:ext>
            </a:extLst>
          </p:cNvPr>
          <p:cNvPicPr>
            <a:picLocks noChangeAspect="1"/>
          </p:cNvPicPr>
          <p:nvPr/>
        </p:nvPicPr>
        <p:blipFill>
          <a:blip r:embed="rId2"/>
          <a:stretch>
            <a:fillRect/>
          </a:stretch>
        </p:blipFill>
        <p:spPr>
          <a:xfrm>
            <a:off x="5079993" y="235358"/>
            <a:ext cx="6428384" cy="6120992"/>
          </a:xfrm>
          <a:prstGeom prst="rect">
            <a:avLst/>
          </a:prstGeom>
        </p:spPr>
      </p:pic>
      <p:sp>
        <p:nvSpPr>
          <p:cNvPr id="4" name="Marcador de número de diapositiva 3">
            <a:extLst>
              <a:ext uri="{FF2B5EF4-FFF2-40B4-BE49-F238E27FC236}">
                <a16:creationId xmlns:a16="http://schemas.microsoft.com/office/drawing/2014/main" id="{A65ECA96-56BD-9234-DB2F-9A3786F3892B}"/>
              </a:ext>
            </a:extLst>
          </p:cNvPr>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37</a:t>
            </a:fld>
            <a:endParaRPr lang="en-US">
              <a:solidFill>
                <a:schemeClr val="tx2">
                  <a:lumMod val="50000"/>
                  <a:lumOff val="50000"/>
                </a:schemeClr>
              </a:solidFill>
            </a:endParaRPr>
          </a:p>
        </p:txBody>
      </p:sp>
    </p:spTree>
    <p:extLst>
      <p:ext uri="{BB962C8B-B14F-4D97-AF65-F5344CB8AC3E}">
        <p14:creationId xmlns:p14="http://schemas.microsoft.com/office/powerpoint/2010/main" val="80920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D38EA2-7393-3EEA-342C-2A0E49400E9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994DF30-96E6-D413-77EB-9C52FFF97359}"/>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a:t>Burn-down chart</a:t>
            </a:r>
          </a:p>
        </p:txBody>
      </p:sp>
      <p:sp>
        <p:nvSpPr>
          <p:cNvPr id="30" name="Rectangle 29">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E55921DF-C043-EC45-A49E-9157E0241420}"/>
              </a:ext>
            </a:extLst>
          </p:cNvPr>
          <p:cNvPicPr>
            <a:picLocks noChangeAspect="1"/>
          </p:cNvPicPr>
          <p:nvPr/>
        </p:nvPicPr>
        <p:blipFill>
          <a:blip r:embed="rId2"/>
          <a:stretch>
            <a:fillRect/>
          </a:stretch>
        </p:blipFill>
        <p:spPr>
          <a:xfrm>
            <a:off x="1592846" y="2091095"/>
            <a:ext cx="3343960" cy="4206240"/>
          </a:xfrm>
          <a:prstGeom prst="rect">
            <a:avLst/>
          </a:prstGeom>
        </p:spPr>
      </p:pic>
      <p:pic>
        <p:nvPicPr>
          <p:cNvPr id="3" name="Imatge 2" descr="Imatge que conté text, captura de pantalla, Trama, línia&#10;&#10;Pot ser que el contingut generat per IA no sigui correcte.">
            <a:extLst>
              <a:ext uri="{FF2B5EF4-FFF2-40B4-BE49-F238E27FC236}">
                <a16:creationId xmlns:a16="http://schemas.microsoft.com/office/drawing/2014/main" id="{2CAD36AE-8614-908D-1E75-08DC98203A96}"/>
              </a:ext>
            </a:extLst>
          </p:cNvPr>
          <p:cNvPicPr>
            <a:picLocks noChangeAspect="1"/>
          </p:cNvPicPr>
          <p:nvPr/>
        </p:nvPicPr>
        <p:blipFill>
          <a:blip r:embed="rId3"/>
          <a:stretch>
            <a:fillRect/>
          </a:stretch>
        </p:blipFill>
        <p:spPr>
          <a:xfrm>
            <a:off x="7113235" y="2086081"/>
            <a:ext cx="3627882" cy="4206240"/>
          </a:xfrm>
          <a:prstGeom prst="rect">
            <a:avLst/>
          </a:prstGeom>
        </p:spPr>
      </p:pic>
      <p:sp>
        <p:nvSpPr>
          <p:cNvPr id="4" name="Marcador de número de diapositiva 3">
            <a:extLst>
              <a:ext uri="{FF2B5EF4-FFF2-40B4-BE49-F238E27FC236}">
                <a16:creationId xmlns:a16="http://schemas.microsoft.com/office/drawing/2014/main" id="{7324E472-EEEA-047A-652F-39B76DADE16B}"/>
              </a:ext>
            </a:extLst>
          </p:cNvPr>
          <p:cNvSpPr>
            <a:spLocks noGrp="1"/>
          </p:cNvSpPr>
          <p:nvPr>
            <p:ph type="sldNum" sz="quarter" idx="12"/>
          </p:nvPr>
        </p:nvSpPr>
        <p:spPr>
          <a:xfrm>
            <a:off x="8610600" y="6356350"/>
            <a:ext cx="271272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38</a:t>
            </a:fld>
            <a:endParaRPr lang="en-US">
              <a:solidFill>
                <a:schemeClr val="tx2">
                  <a:lumMod val="50000"/>
                  <a:lumOff val="50000"/>
                </a:schemeClr>
              </a:solidFill>
            </a:endParaRPr>
          </a:p>
        </p:txBody>
      </p:sp>
    </p:spTree>
    <p:extLst>
      <p:ext uri="{BB962C8B-B14F-4D97-AF65-F5344CB8AC3E}">
        <p14:creationId xmlns:p14="http://schemas.microsoft.com/office/powerpoint/2010/main" val="220859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idor de número de diapositiva 3">
            <a:extLst>
              <a:ext uri="{FF2B5EF4-FFF2-40B4-BE49-F238E27FC236}">
                <a16:creationId xmlns:a16="http://schemas.microsoft.com/office/drawing/2014/main" id="{08A2B47C-E0DD-AE42-3D10-3EEA8967B54C}"/>
              </a:ext>
            </a:extLst>
          </p:cNvPr>
          <p:cNvSpPr>
            <a:spLocks noGrp="1"/>
          </p:cNvSpPr>
          <p:nvPr>
            <p:ph type="sldNum" sz="quarter" idx="12"/>
          </p:nvPr>
        </p:nvSpPr>
        <p:spPr/>
        <p:txBody>
          <a:bodyPr/>
          <a:lstStyle/>
          <a:p>
            <a:fld id="{B2DC25EE-239B-4C5F-AAD1-255A7D5F1EE2}" type="slidenum">
              <a:rPr lang="en-US" smtClean="0"/>
              <a:t>39</a:t>
            </a:fld>
            <a:endParaRPr lang="en-US"/>
          </a:p>
        </p:txBody>
      </p:sp>
      <p:pic>
        <p:nvPicPr>
          <p:cNvPr id="9" name="Imatge 8">
            <a:extLst>
              <a:ext uri="{FF2B5EF4-FFF2-40B4-BE49-F238E27FC236}">
                <a16:creationId xmlns:a16="http://schemas.microsoft.com/office/drawing/2014/main" id="{8ECF7CF2-9595-F547-F2E4-77F1F1145B52}"/>
              </a:ext>
            </a:extLst>
          </p:cNvPr>
          <p:cNvPicPr>
            <a:picLocks noChangeAspect="1"/>
          </p:cNvPicPr>
          <p:nvPr/>
        </p:nvPicPr>
        <p:blipFill>
          <a:blip r:embed="rId2"/>
          <a:stretch>
            <a:fillRect/>
          </a:stretch>
        </p:blipFill>
        <p:spPr>
          <a:xfrm>
            <a:off x="0" y="1"/>
            <a:ext cx="3610187" cy="1525268"/>
          </a:xfrm>
          <a:prstGeom prst="rect">
            <a:avLst/>
          </a:prstGeom>
        </p:spPr>
      </p:pic>
      <p:sp>
        <p:nvSpPr>
          <p:cNvPr id="13" name="Rectangle 12">
            <a:extLst>
              <a:ext uri="{FF2B5EF4-FFF2-40B4-BE49-F238E27FC236}">
                <a16:creationId xmlns:a16="http://schemas.microsoft.com/office/drawing/2014/main" id="{145C2396-732B-0601-F52F-3369816CE778}"/>
              </a:ext>
            </a:extLst>
          </p:cNvPr>
          <p:cNvSpPr/>
          <p:nvPr/>
        </p:nvSpPr>
        <p:spPr>
          <a:xfrm>
            <a:off x="85937" y="0"/>
            <a:ext cx="6708987" cy="15938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tge 16">
            <a:extLst>
              <a:ext uri="{FF2B5EF4-FFF2-40B4-BE49-F238E27FC236}">
                <a16:creationId xmlns:a16="http://schemas.microsoft.com/office/drawing/2014/main" id="{D63AB146-121D-A0F6-3424-6614012AF80A}"/>
              </a:ext>
            </a:extLst>
          </p:cNvPr>
          <p:cNvPicPr>
            <a:picLocks noChangeAspect="1"/>
          </p:cNvPicPr>
          <p:nvPr/>
        </p:nvPicPr>
        <p:blipFill>
          <a:blip r:embed="rId3"/>
          <a:stretch>
            <a:fillRect/>
          </a:stretch>
        </p:blipFill>
        <p:spPr>
          <a:xfrm>
            <a:off x="6839374" y="0"/>
            <a:ext cx="3579064" cy="1298877"/>
          </a:xfrm>
          <a:prstGeom prst="rect">
            <a:avLst/>
          </a:prstGeom>
        </p:spPr>
      </p:pic>
      <p:pic>
        <p:nvPicPr>
          <p:cNvPr id="21" name="Imatge 20">
            <a:extLst>
              <a:ext uri="{FF2B5EF4-FFF2-40B4-BE49-F238E27FC236}">
                <a16:creationId xmlns:a16="http://schemas.microsoft.com/office/drawing/2014/main" id="{FB1ACDEA-7D39-A74E-E0DE-70EE5CFC5D3D}"/>
              </a:ext>
            </a:extLst>
          </p:cNvPr>
          <p:cNvPicPr>
            <a:picLocks noChangeAspect="1"/>
          </p:cNvPicPr>
          <p:nvPr/>
        </p:nvPicPr>
        <p:blipFill>
          <a:blip r:embed="rId4"/>
          <a:stretch>
            <a:fillRect/>
          </a:stretch>
        </p:blipFill>
        <p:spPr>
          <a:xfrm>
            <a:off x="3722470" y="1641675"/>
            <a:ext cx="3579064" cy="1457292"/>
          </a:xfrm>
          <a:prstGeom prst="rect">
            <a:avLst/>
          </a:prstGeom>
        </p:spPr>
      </p:pic>
      <p:pic>
        <p:nvPicPr>
          <p:cNvPr id="23" name="Imatge 22">
            <a:extLst>
              <a:ext uri="{FF2B5EF4-FFF2-40B4-BE49-F238E27FC236}">
                <a16:creationId xmlns:a16="http://schemas.microsoft.com/office/drawing/2014/main" id="{8B470A49-C4E8-B042-C48C-3198915830D9}"/>
              </a:ext>
            </a:extLst>
          </p:cNvPr>
          <p:cNvPicPr>
            <a:picLocks noChangeAspect="1"/>
          </p:cNvPicPr>
          <p:nvPr/>
        </p:nvPicPr>
        <p:blipFill>
          <a:blip r:embed="rId5"/>
          <a:stretch>
            <a:fillRect/>
          </a:stretch>
        </p:blipFill>
        <p:spPr>
          <a:xfrm>
            <a:off x="85937" y="1641675"/>
            <a:ext cx="3579065" cy="1300441"/>
          </a:xfrm>
          <a:prstGeom prst="rect">
            <a:avLst/>
          </a:prstGeom>
        </p:spPr>
      </p:pic>
      <p:cxnSp>
        <p:nvCxnSpPr>
          <p:cNvPr id="26" name="Connector recte 25">
            <a:extLst>
              <a:ext uri="{FF2B5EF4-FFF2-40B4-BE49-F238E27FC236}">
                <a16:creationId xmlns:a16="http://schemas.microsoft.com/office/drawing/2014/main" id="{155BFFDD-DE57-651D-2152-6C0BCDB7FC4E}"/>
              </a:ext>
            </a:extLst>
          </p:cNvPr>
          <p:cNvCxnSpPr>
            <a:cxnSpLocks/>
          </p:cNvCxnSpPr>
          <p:nvPr/>
        </p:nvCxnSpPr>
        <p:spPr>
          <a:xfrm>
            <a:off x="85937" y="3143417"/>
            <a:ext cx="73435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nector recte 29">
            <a:extLst>
              <a:ext uri="{FF2B5EF4-FFF2-40B4-BE49-F238E27FC236}">
                <a16:creationId xmlns:a16="http://schemas.microsoft.com/office/drawing/2014/main" id="{3CD9CC9F-5A7C-15E8-B1A4-ED2BF4896442}"/>
              </a:ext>
            </a:extLst>
          </p:cNvPr>
          <p:cNvCxnSpPr>
            <a:cxnSpLocks/>
          </p:cNvCxnSpPr>
          <p:nvPr/>
        </p:nvCxnSpPr>
        <p:spPr>
          <a:xfrm>
            <a:off x="7429500" y="1346200"/>
            <a:ext cx="0" cy="17972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nector recte 34">
            <a:extLst>
              <a:ext uri="{FF2B5EF4-FFF2-40B4-BE49-F238E27FC236}">
                <a16:creationId xmlns:a16="http://schemas.microsoft.com/office/drawing/2014/main" id="{BA790E56-9CB8-9DF8-36FF-62EE67FD4CC4}"/>
              </a:ext>
            </a:extLst>
          </p:cNvPr>
          <p:cNvCxnSpPr>
            <a:cxnSpLocks/>
          </p:cNvCxnSpPr>
          <p:nvPr/>
        </p:nvCxnSpPr>
        <p:spPr>
          <a:xfrm>
            <a:off x="7429500" y="1343327"/>
            <a:ext cx="47625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Imatge 40">
            <a:extLst>
              <a:ext uri="{FF2B5EF4-FFF2-40B4-BE49-F238E27FC236}">
                <a16:creationId xmlns:a16="http://schemas.microsoft.com/office/drawing/2014/main" id="{BDB6B046-0F69-EF98-79B1-64388764FCFA}"/>
              </a:ext>
            </a:extLst>
          </p:cNvPr>
          <p:cNvPicPr>
            <a:picLocks noChangeAspect="1"/>
          </p:cNvPicPr>
          <p:nvPr/>
        </p:nvPicPr>
        <p:blipFill>
          <a:blip r:embed="rId6"/>
          <a:stretch>
            <a:fillRect/>
          </a:stretch>
        </p:blipFill>
        <p:spPr>
          <a:xfrm>
            <a:off x="3654637" y="27560"/>
            <a:ext cx="2977726" cy="1538729"/>
          </a:xfrm>
          <a:prstGeom prst="rect">
            <a:avLst/>
          </a:prstGeom>
        </p:spPr>
      </p:pic>
      <p:pic>
        <p:nvPicPr>
          <p:cNvPr id="43" name="Imatge 42">
            <a:extLst>
              <a:ext uri="{FF2B5EF4-FFF2-40B4-BE49-F238E27FC236}">
                <a16:creationId xmlns:a16="http://schemas.microsoft.com/office/drawing/2014/main" id="{449EFF43-7AF7-A730-BF86-5A612F861A18}"/>
              </a:ext>
            </a:extLst>
          </p:cNvPr>
          <p:cNvPicPr>
            <a:picLocks noChangeAspect="1"/>
          </p:cNvPicPr>
          <p:nvPr/>
        </p:nvPicPr>
        <p:blipFill>
          <a:blip r:embed="rId7"/>
          <a:stretch>
            <a:fillRect/>
          </a:stretch>
        </p:blipFill>
        <p:spPr>
          <a:xfrm>
            <a:off x="7486968" y="1409725"/>
            <a:ext cx="3720048" cy="1733692"/>
          </a:xfrm>
          <a:prstGeom prst="rect">
            <a:avLst/>
          </a:prstGeom>
        </p:spPr>
      </p:pic>
      <p:pic>
        <p:nvPicPr>
          <p:cNvPr id="45" name="Imatge 44">
            <a:extLst>
              <a:ext uri="{FF2B5EF4-FFF2-40B4-BE49-F238E27FC236}">
                <a16:creationId xmlns:a16="http://schemas.microsoft.com/office/drawing/2014/main" id="{2D433469-B8D9-C279-5CA8-878D2958A587}"/>
              </a:ext>
            </a:extLst>
          </p:cNvPr>
          <p:cNvPicPr>
            <a:picLocks noChangeAspect="1"/>
          </p:cNvPicPr>
          <p:nvPr/>
        </p:nvPicPr>
        <p:blipFill>
          <a:blip r:embed="rId8"/>
          <a:stretch>
            <a:fillRect/>
          </a:stretch>
        </p:blipFill>
        <p:spPr>
          <a:xfrm>
            <a:off x="85937" y="3187867"/>
            <a:ext cx="3931844" cy="1800087"/>
          </a:xfrm>
          <a:prstGeom prst="rect">
            <a:avLst/>
          </a:prstGeom>
        </p:spPr>
      </p:pic>
      <p:pic>
        <p:nvPicPr>
          <p:cNvPr id="47" name="Imatge 46">
            <a:extLst>
              <a:ext uri="{FF2B5EF4-FFF2-40B4-BE49-F238E27FC236}">
                <a16:creationId xmlns:a16="http://schemas.microsoft.com/office/drawing/2014/main" id="{26CB5C22-2498-F5DE-DD35-1A38E8439820}"/>
              </a:ext>
            </a:extLst>
          </p:cNvPr>
          <p:cNvPicPr>
            <a:picLocks noChangeAspect="1"/>
          </p:cNvPicPr>
          <p:nvPr/>
        </p:nvPicPr>
        <p:blipFill>
          <a:blip r:embed="rId9"/>
          <a:stretch>
            <a:fillRect/>
          </a:stretch>
        </p:blipFill>
        <p:spPr>
          <a:xfrm>
            <a:off x="4192150" y="3187867"/>
            <a:ext cx="3415145" cy="1807582"/>
          </a:xfrm>
          <a:prstGeom prst="rect">
            <a:avLst/>
          </a:prstGeom>
        </p:spPr>
      </p:pic>
      <p:pic>
        <p:nvPicPr>
          <p:cNvPr id="49" name="Imatge 48">
            <a:extLst>
              <a:ext uri="{FF2B5EF4-FFF2-40B4-BE49-F238E27FC236}">
                <a16:creationId xmlns:a16="http://schemas.microsoft.com/office/drawing/2014/main" id="{1811DCC2-9A2C-D6C2-8BA9-F2C71E847D68}"/>
              </a:ext>
            </a:extLst>
          </p:cNvPr>
          <p:cNvPicPr>
            <a:picLocks noChangeAspect="1"/>
          </p:cNvPicPr>
          <p:nvPr/>
        </p:nvPicPr>
        <p:blipFill>
          <a:blip r:embed="rId10"/>
          <a:stretch>
            <a:fillRect/>
          </a:stretch>
        </p:blipFill>
        <p:spPr>
          <a:xfrm>
            <a:off x="7716368" y="3209814"/>
            <a:ext cx="4091457" cy="1807578"/>
          </a:xfrm>
          <a:prstGeom prst="rect">
            <a:avLst/>
          </a:prstGeom>
        </p:spPr>
      </p:pic>
      <p:cxnSp>
        <p:nvCxnSpPr>
          <p:cNvPr id="50" name="Connector recte 49">
            <a:extLst>
              <a:ext uri="{FF2B5EF4-FFF2-40B4-BE49-F238E27FC236}">
                <a16:creationId xmlns:a16="http://schemas.microsoft.com/office/drawing/2014/main" id="{8F1956ED-43A8-8051-DA46-1DD82BBCF587}"/>
              </a:ext>
            </a:extLst>
          </p:cNvPr>
          <p:cNvCxnSpPr>
            <a:cxnSpLocks/>
          </p:cNvCxnSpPr>
          <p:nvPr/>
        </p:nvCxnSpPr>
        <p:spPr>
          <a:xfrm>
            <a:off x="85936" y="5092867"/>
            <a:ext cx="120201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Imatge 52">
            <a:extLst>
              <a:ext uri="{FF2B5EF4-FFF2-40B4-BE49-F238E27FC236}">
                <a16:creationId xmlns:a16="http://schemas.microsoft.com/office/drawing/2014/main" id="{2FAFB5E7-090A-6693-8C10-0C882028E90C}"/>
              </a:ext>
            </a:extLst>
          </p:cNvPr>
          <p:cNvPicPr>
            <a:picLocks noChangeAspect="1"/>
          </p:cNvPicPr>
          <p:nvPr/>
        </p:nvPicPr>
        <p:blipFill>
          <a:blip r:embed="rId11"/>
          <a:stretch>
            <a:fillRect/>
          </a:stretch>
        </p:blipFill>
        <p:spPr>
          <a:xfrm>
            <a:off x="0" y="5136915"/>
            <a:ext cx="3247814" cy="1721084"/>
          </a:xfrm>
          <a:prstGeom prst="rect">
            <a:avLst/>
          </a:prstGeom>
        </p:spPr>
      </p:pic>
      <p:pic>
        <p:nvPicPr>
          <p:cNvPr id="55" name="Imatge 54">
            <a:extLst>
              <a:ext uri="{FF2B5EF4-FFF2-40B4-BE49-F238E27FC236}">
                <a16:creationId xmlns:a16="http://schemas.microsoft.com/office/drawing/2014/main" id="{A24DC688-2AC5-BB58-6671-997F28784F89}"/>
              </a:ext>
            </a:extLst>
          </p:cNvPr>
          <p:cNvPicPr>
            <a:picLocks noChangeAspect="1"/>
          </p:cNvPicPr>
          <p:nvPr/>
        </p:nvPicPr>
        <p:blipFill>
          <a:blip r:embed="rId12"/>
          <a:stretch>
            <a:fillRect/>
          </a:stretch>
        </p:blipFill>
        <p:spPr>
          <a:xfrm>
            <a:off x="3346449" y="5139223"/>
            <a:ext cx="3485521" cy="1691214"/>
          </a:xfrm>
          <a:prstGeom prst="rect">
            <a:avLst/>
          </a:prstGeom>
        </p:spPr>
      </p:pic>
      <p:pic>
        <p:nvPicPr>
          <p:cNvPr id="57" name="Imatge 56">
            <a:extLst>
              <a:ext uri="{FF2B5EF4-FFF2-40B4-BE49-F238E27FC236}">
                <a16:creationId xmlns:a16="http://schemas.microsoft.com/office/drawing/2014/main" id="{CF65CCC9-8B6C-23E7-2036-0375565EA846}"/>
              </a:ext>
            </a:extLst>
          </p:cNvPr>
          <p:cNvPicPr>
            <a:picLocks noChangeAspect="1"/>
          </p:cNvPicPr>
          <p:nvPr/>
        </p:nvPicPr>
        <p:blipFill>
          <a:blip r:embed="rId13"/>
          <a:stretch>
            <a:fillRect/>
          </a:stretch>
        </p:blipFill>
        <p:spPr>
          <a:xfrm>
            <a:off x="6997700" y="5127233"/>
            <a:ext cx="3940075" cy="1730767"/>
          </a:xfrm>
          <a:prstGeom prst="rect">
            <a:avLst/>
          </a:prstGeom>
        </p:spPr>
      </p:pic>
    </p:spTree>
    <p:extLst>
      <p:ext uri="{BB962C8B-B14F-4D97-AF65-F5344CB8AC3E}">
        <p14:creationId xmlns:p14="http://schemas.microsoft.com/office/powerpoint/2010/main" val="1084599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idor de número de diapositiva 1">
            <a:extLst>
              <a:ext uri="{FF2B5EF4-FFF2-40B4-BE49-F238E27FC236}">
                <a16:creationId xmlns:a16="http://schemas.microsoft.com/office/drawing/2014/main" id="{3C9A4842-F30A-5BEC-ECB6-7F13C73C1A2C}"/>
              </a:ext>
            </a:extLst>
          </p:cNvPr>
          <p:cNvSpPr>
            <a:spLocks noGrp="1"/>
          </p:cNvSpPr>
          <p:nvPr>
            <p:ph type="sldNum" sz="quarter" idx="12"/>
          </p:nvPr>
        </p:nvSpPr>
        <p:spPr/>
        <p:txBody>
          <a:bodyPr/>
          <a:lstStyle/>
          <a:p>
            <a:fld id="{B2DC25EE-239B-4C5F-AAD1-255A7D5F1EE2}" type="slidenum">
              <a:rPr lang="en-US" smtClean="0"/>
              <a:t>40</a:t>
            </a:fld>
            <a:endParaRPr lang="en-US"/>
          </a:p>
        </p:txBody>
      </p:sp>
      <p:pic>
        <p:nvPicPr>
          <p:cNvPr id="4" name="Imatge 3">
            <a:extLst>
              <a:ext uri="{FF2B5EF4-FFF2-40B4-BE49-F238E27FC236}">
                <a16:creationId xmlns:a16="http://schemas.microsoft.com/office/drawing/2014/main" id="{67D55469-E642-7BEE-7344-27B70C6902DB}"/>
              </a:ext>
            </a:extLst>
          </p:cNvPr>
          <p:cNvPicPr>
            <a:picLocks noChangeAspect="1"/>
          </p:cNvPicPr>
          <p:nvPr/>
        </p:nvPicPr>
        <p:blipFill>
          <a:blip r:embed="rId2"/>
          <a:stretch>
            <a:fillRect/>
          </a:stretch>
        </p:blipFill>
        <p:spPr>
          <a:xfrm>
            <a:off x="25873" y="15201"/>
            <a:ext cx="3902588" cy="1810711"/>
          </a:xfrm>
          <a:prstGeom prst="rect">
            <a:avLst/>
          </a:prstGeom>
        </p:spPr>
      </p:pic>
      <p:pic>
        <p:nvPicPr>
          <p:cNvPr id="6" name="Imatge 5">
            <a:extLst>
              <a:ext uri="{FF2B5EF4-FFF2-40B4-BE49-F238E27FC236}">
                <a16:creationId xmlns:a16="http://schemas.microsoft.com/office/drawing/2014/main" id="{B3B8BC70-E5C7-7146-77EC-B686FB736A29}"/>
              </a:ext>
            </a:extLst>
          </p:cNvPr>
          <p:cNvPicPr>
            <a:picLocks noChangeAspect="1"/>
          </p:cNvPicPr>
          <p:nvPr/>
        </p:nvPicPr>
        <p:blipFill>
          <a:blip r:embed="rId3"/>
          <a:stretch>
            <a:fillRect/>
          </a:stretch>
        </p:blipFill>
        <p:spPr>
          <a:xfrm>
            <a:off x="4024258" y="15201"/>
            <a:ext cx="3975011" cy="1810711"/>
          </a:xfrm>
          <a:prstGeom prst="rect">
            <a:avLst/>
          </a:prstGeom>
        </p:spPr>
      </p:pic>
      <p:pic>
        <p:nvPicPr>
          <p:cNvPr id="8" name="Imatge 7">
            <a:extLst>
              <a:ext uri="{FF2B5EF4-FFF2-40B4-BE49-F238E27FC236}">
                <a16:creationId xmlns:a16="http://schemas.microsoft.com/office/drawing/2014/main" id="{33E2D9E5-7373-65AC-4648-B8DED55FB0D8}"/>
              </a:ext>
            </a:extLst>
          </p:cNvPr>
          <p:cNvPicPr>
            <a:picLocks noChangeAspect="1"/>
          </p:cNvPicPr>
          <p:nvPr/>
        </p:nvPicPr>
        <p:blipFill>
          <a:blip r:embed="rId4"/>
          <a:stretch>
            <a:fillRect/>
          </a:stretch>
        </p:blipFill>
        <p:spPr>
          <a:xfrm>
            <a:off x="7999269" y="16084"/>
            <a:ext cx="4035972" cy="1710108"/>
          </a:xfrm>
          <a:prstGeom prst="rect">
            <a:avLst/>
          </a:prstGeom>
        </p:spPr>
      </p:pic>
      <p:pic>
        <p:nvPicPr>
          <p:cNvPr id="10" name="Imatge 9">
            <a:extLst>
              <a:ext uri="{FF2B5EF4-FFF2-40B4-BE49-F238E27FC236}">
                <a16:creationId xmlns:a16="http://schemas.microsoft.com/office/drawing/2014/main" id="{ACDDFB93-9AF5-F2B9-2196-BFF84F47EE08}"/>
              </a:ext>
            </a:extLst>
          </p:cNvPr>
          <p:cNvPicPr>
            <a:picLocks noChangeAspect="1"/>
          </p:cNvPicPr>
          <p:nvPr/>
        </p:nvPicPr>
        <p:blipFill>
          <a:blip r:embed="rId5"/>
          <a:srcRect l="9496"/>
          <a:stretch>
            <a:fillRect/>
          </a:stretch>
        </p:blipFill>
        <p:spPr>
          <a:xfrm>
            <a:off x="60960" y="1825912"/>
            <a:ext cx="3352800" cy="1685810"/>
          </a:xfrm>
          <a:prstGeom prst="rect">
            <a:avLst/>
          </a:prstGeom>
        </p:spPr>
      </p:pic>
      <p:pic>
        <p:nvPicPr>
          <p:cNvPr id="12" name="Imatge 11">
            <a:extLst>
              <a:ext uri="{FF2B5EF4-FFF2-40B4-BE49-F238E27FC236}">
                <a16:creationId xmlns:a16="http://schemas.microsoft.com/office/drawing/2014/main" id="{265CE2DE-151D-F693-65A7-C5BAE6B88D70}"/>
              </a:ext>
            </a:extLst>
          </p:cNvPr>
          <p:cNvPicPr>
            <a:picLocks noChangeAspect="1"/>
          </p:cNvPicPr>
          <p:nvPr/>
        </p:nvPicPr>
        <p:blipFill>
          <a:blip r:embed="rId6"/>
          <a:srcRect l="8910"/>
          <a:stretch>
            <a:fillRect/>
          </a:stretch>
        </p:blipFill>
        <p:spPr>
          <a:xfrm>
            <a:off x="3803223" y="1900906"/>
            <a:ext cx="4291706" cy="1895927"/>
          </a:xfrm>
          <a:prstGeom prst="rect">
            <a:avLst/>
          </a:prstGeom>
        </p:spPr>
      </p:pic>
      <p:pic>
        <p:nvPicPr>
          <p:cNvPr id="14" name="Imatge 13">
            <a:extLst>
              <a:ext uri="{FF2B5EF4-FFF2-40B4-BE49-F238E27FC236}">
                <a16:creationId xmlns:a16="http://schemas.microsoft.com/office/drawing/2014/main" id="{0A478A46-4AB6-A6B8-C9B4-ED9FB0E90EBC}"/>
              </a:ext>
            </a:extLst>
          </p:cNvPr>
          <p:cNvPicPr>
            <a:picLocks noChangeAspect="1"/>
          </p:cNvPicPr>
          <p:nvPr/>
        </p:nvPicPr>
        <p:blipFill>
          <a:blip r:embed="rId7"/>
          <a:stretch>
            <a:fillRect/>
          </a:stretch>
        </p:blipFill>
        <p:spPr>
          <a:xfrm>
            <a:off x="8225815" y="1900906"/>
            <a:ext cx="3940312" cy="2072359"/>
          </a:xfrm>
          <a:prstGeom prst="rect">
            <a:avLst/>
          </a:prstGeom>
        </p:spPr>
      </p:pic>
      <p:pic>
        <p:nvPicPr>
          <p:cNvPr id="16" name="Imatge 15">
            <a:extLst>
              <a:ext uri="{FF2B5EF4-FFF2-40B4-BE49-F238E27FC236}">
                <a16:creationId xmlns:a16="http://schemas.microsoft.com/office/drawing/2014/main" id="{65AF98E6-6B10-ABE2-8782-E2A1A6017AFE}"/>
              </a:ext>
            </a:extLst>
          </p:cNvPr>
          <p:cNvPicPr>
            <a:picLocks noChangeAspect="1"/>
          </p:cNvPicPr>
          <p:nvPr/>
        </p:nvPicPr>
        <p:blipFill>
          <a:blip r:embed="rId8"/>
          <a:stretch>
            <a:fillRect/>
          </a:stretch>
        </p:blipFill>
        <p:spPr>
          <a:xfrm>
            <a:off x="25873" y="3536020"/>
            <a:ext cx="3704591" cy="1704836"/>
          </a:xfrm>
          <a:prstGeom prst="rect">
            <a:avLst/>
          </a:prstGeom>
        </p:spPr>
      </p:pic>
      <p:pic>
        <p:nvPicPr>
          <p:cNvPr id="18" name="Imatge 17">
            <a:extLst>
              <a:ext uri="{FF2B5EF4-FFF2-40B4-BE49-F238E27FC236}">
                <a16:creationId xmlns:a16="http://schemas.microsoft.com/office/drawing/2014/main" id="{580A0BFD-A93C-48DD-A19F-562B73D552A1}"/>
              </a:ext>
            </a:extLst>
          </p:cNvPr>
          <p:cNvPicPr>
            <a:picLocks noChangeAspect="1"/>
          </p:cNvPicPr>
          <p:nvPr/>
        </p:nvPicPr>
        <p:blipFill>
          <a:blip r:embed="rId9"/>
          <a:stretch>
            <a:fillRect/>
          </a:stretch>
        </p:blipFill>
        <p:spPr>
          <a:xfrm>
            <a:off x="3803223" y="4053021"/>
            <a:ext cx="4065763" cy="2180336"/>
          </a:xfrm>
          <a:prstGeom prst="rect">
            <a:avLst/>
          </a:prstGeom>
        </p:spPr>
      </p:pic>
      <p:pic>
        <p:nvPicPr>
          <p:cNvPr id="20" name="Imatge 19">
            <a:extLst>
              <a:ext uri="{FF2B5EF4-FFF2-40B4-BE49-F238E27FC236}">
                <a16:creationId xmlns:a16="http://schemas.microsoft.com/office/drawing/2014/main" id="{67AA7AB6-5B5E-3E49-A9C9-787106D43716}"/>
              </a:ext>
            </a:extLst>
          </p:cNvPr>
          <p:cNvPicPr>
            <a:picLocks noChangeAspect="1"/>
          </p:cNvPicPr>
          <p:nvPr/>
        </p:nvPicPr>
        <p:blipFill>
          <a:blip r:embed="rId10"/>
          <a:stretch>
            <a:fillRect/>
          </a:stretch>
        </p:blipFill>
        <p:spPr>
          <a:xfrm>
            <a:off x="8088579" y="4335885"/>
            <a:ext cx="3889333" cy="2028009"/>
          </a:xfrm>
          <a:prstGeom prst="rect">
            <a:avLst/>
          </a:prstGeom>
        </p:spPr>
      </p:pic>
      <p:pic>
        <p:nvPicPr>
          <p:cNvPr id="22" name="Imatge 21">
            <a:extLst>
              <a:ext uri="{FF2B5EF4-FFF2-40B4-BE49-F238E27FC236}">
                <a16:creationId xmlns:a16="http://schemas.microsoft.com/office/drawing/2014/main" id="{98957C66-E71B-D562-56DA-EAAD8645ABF1}"/>
              </a:ext>
            </a:extLst>
          </p:cNvPr>
          <p:cNvPicPr>
            <a:picLocks noChangeAspect="1"/>
          </p:cNvPicPr>
          <p:nvPr/>
        </p:nvPicPr>
        <p:blipFill>
          <a:blip r:embed="rId11"/>
          <a:stretch>
            <a:fillRect/>
          </a:stretch>
        </p:blipFill>
        <p:spPr>
          <a:xfrm>
            <a:off x="127000" y="5290367"/>
            <a:ext cx="2832099" cy="1534830"/>
          </a:xfrm>
          <a:prstGeom prst="rect">
            <a:avLst/>
          </a:prstGeom>
        </p:spPr>
      </p:pic>
    </p:spTree>
    <p:extLst>
      <p:ext uri="{BB962C8B-B14F-4D97-AF65-F5344CB8AC3E}">
        <p14:creationId xmlns:p14="http://schemas.microsoft.com/office/powerpoint/2010/main" val="38922518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66D8F7F-EDDF-0F27-C5DE-363EDF2D88B3}"/>
              </a:ext>
            </a:extLst>
          </p:cNvPr>
          <p:cNvPicPr>
            <a:picLocks noChangeAspect="1"/>
          </p:cNvPicPr>
          <p:nvPr/>
        </p:nvPicPr>
        <p:blipFill rotWithShape="1">
          <a:blip r:embed="rId2"/>
          <a:srcRect t="1108" r="-1" b="-1"/>
          <a:stretch/>
        </p:blipFill>
        <p:spPr>
          <a:xfrm>
            <a:off x="20" y="10"/>
            <a:ext cx="8668492" cy="6857990"/>
          </a:xfrm>
          <a:prstGeom prst="rect">
            <a:avLst/>
          </a:prstGeom>
        </p:spPr>
      </p:pic>
      <p:sp>
        <p:nvSpPr>
          <p:cNvPr id="87"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F091E7-7144-0D59-2350-89184552602D}"/>
              </a:ext>
            </a:extLst>
          </p:cNvPr>
          <p:cNvSpPr>
            <a:spLocks noGrp="1"/>
          </p:cNvSpPr>
          <p:nvPr>
            <p:ph type="ctrTitle"/>
          </p:nvPr>
        </p:nvSpPr>
        <p:spPr>
          <a:xfrm>
            <a:off x="7848600" y="1122363"/>
            <a:ext cx="4023360" cy="3204134"/>
          </a:xfrm>
        </p:spPr>
        <p:txBody>
          <a:bodyPr anchor="b">
            <a:normAutofit/>
          </a:bodyPr>
          <a:lstStyle/>
          <a:p>
            <a:r>
              <a:rPr lang="ca-ES" sz="4800"/>
              <a:t>Enginyeria del Software</a:t>
            </a:r>
          </a:p>
        </p:txBody>
      </p:sp>
      <p:sp>
        <p:nvSpPr>
          <p:cNvPr id="88"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Subtítulo 2">
            <a:extLst>
              <a:ext uri="{FF2B5EF4-FFF2-40B4-BE49-F238E27FC236}">
                <a16:creationId xmlns:a16="http://schemas.microsoft.com/office/drawing/2014/main" id="{4B6A5C40-8DF0-BEC4-6D4B-21A930E89326}"/>
              </a:ext>
            </a:extLst>
          </p:cNvPr>
          <p:cNvSpPr txBox="1">
            <a:spLocks/>
          </p:cNvSpPr>
          <p:nvPr/>
        </p:nvSpPr>
        <p:spPr>
          <a:xfrm>
            <a:off x="7848600" y="4872922"/>
            <a:ext cx="4023360" cy="135939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ca-ES" sz="1400"/>
              <a:t>Pràctiques: Grup XXX-YY</a:t>
            </a:r>
          </a:p>
          <a:p>
            <a:pPr>
              <a:lnSpc>
                <a:spcPct val="100000"/>
              </a:lnSpc>
            </a:pPr>
            <a:endParaRPr lang="ca-ES" sz="1400"/>
          </a:p>
          <a:p>
            <a:pPr>
              <a:lnSpc>
                <a:spcPct val="100000"/>
              </a:lnSpc>
            </a:pPr>
            <a:r>
              <a:rPr lang="ca-ES" sz="1400" err="1"/>
              <a:t>Sprint</a:t>
            </a:r>
            <a:r>
              <a:rPr lang="ca-ES" sz="1400"/>
              <a:t> 03: Especificacions i Diagrama de Classes</a:t>
            </a:r>
          </a:p>
        </p:txBody>
      </p:sp>
    </p:spTree>
    <p:extLst>
      <p:ext uri="{BB962C8B-B14F-4D97-AF65-F5344CB8AC3E}">
        <p14:creationId xmlns:p14="http://schemas.microsoft.com/office/powerpoint/2010/main" val="792603657"/>
      </p:ext>
    </p:extLst>
  </p:cSld>
  <p:clrMapOvr>
    <a:masterClrMapping/>
  </p:clrMapOvr>
</p:sld>
</file>

<file path=ppt/theme/theme1.xml><?xml version="1.0" encoding="utf-8"?>
<a:theme xmlns:a="http://schemas.openxmlformats.org/drawingml/2006/main" name="AccentBoxVTI">
  <a:themeElements>
    <a:clrScheme name="AnalogousFromRegularSeedRightStep">
      <a:dk1>
        <a:srgbClr val="000000"/>
      </a:dk1>
      <a:lt1>
        <a:srgbClr val="FFFFFF"/>
      </a:lt1>
      <a:dk2>
        <a:srgbClr val="412426"/>
      </a:dk2>
      <a:lt2>
        <a:srgbClr val="E2E8E8"/>
      </a:lt2>
      <a:accent1>
        <a:srgbClr val="C34D54"/>
      </a:accent1>
      <a:accent2>
        <a:srgbClr val="B1643B"/>
      </a:accent2>
      <a:accent3>
        <a:srgbClr val="BBA149"/>
      </a:accent3>
      <a:accent4>
        <a:srgbClr val="98AD39"/>
      </a:accent4>
      <a:accent5>
        <a:srgbClr val="72B346"/>
      </a:accent5>
      <a:accent6>
        <a:srgbClr val="3BB13D"/>
      </a:accent6>
      <a:hlink>
        <a:srgbClr val="30928B"/>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b814fa0-4f1b-4d56-8a36-064af1e36e66">
      <UserInfo>
        <DisplayName/>
        <AccountId xsi:nil="true"/>
        <AccountType/>
      </UserInfo>
    </SharedWithUsers>
    <_activity xmlns="b1fa7ccf-aa4f-4f27-84db-07667d020ac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63BD3DC6F0E81D4FA56575A4B7B24AF5" ma:contentTypeVersion="14" ma:contentTypeDescription="Crear nuevo documento." ma:contentTypeScope="" ma:versionID="ded3d347f3a98b31a82ee0cc093f824b">
  <xsd:schema xmlns:xsd="http://www.w3.org/2001/XMLSchema" xmlns:xs="http://www.w3.org/2001/XMLSchema" xmlns:p="http://schemas.microsoft.com/office/2006/metadata/properties" xmlns:ns3="7b814fa0-4f1b-4d56-8a36-064af1e36e66" xmlns:ns4="b1fa7ccf-aa4f-4f27-84db-07667d020acb" targetNamespace="http://schemas.microsoft.com/office/2006/metadata/properties" ma:root="true" ma:fieldsID="fe3adeea5df1e60fd0d7c7fb86895927" ns3:_="" ns4:_="">
    <xsd:import namespace="7b814fa0-4f1b-4d56-8a36-064af1e36e66"/>
    <xsd:import namespace="b1fa7ccf-aa4f-4f27-84db-07667d020ac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814fa0-4f1b-4d56-8a36-064af1e36e66"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fa7ccf-aa4f-4f27-84db-07667d020a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BF3923-D9E5-4962-BBB8-690B0ABC4F42}">
  <ds:schemaRefs>
    <ds:schemaRef ds:uri="http://schemas.microsoft.com/office/2006/metadata/properties"/>
    <ds:schemaRef ds:uri="http://schemas.microsoft.com/office/2006/documentManagement/types"/>
    <ds:schemaRef ds:uri="http://www.w3.org/XML/1998/namespace"/>
    <ds:schemaRef ds:uri="http://purl.org/dc/elements/1.1/"/>
    <ds:schemaRef ds:uri="http://schemas.microsoft.com/office/infopath/2007/PartnerControls"/>
    <ds:schemaRef ds:uri="http://schemas.openxmlformats.org/package/2006/metadata/core-properties"/>
    <ds:schemaRef ds:uri="b1fa7ccf-aa4f-4f27-84db-07667d020acb"/>
    <ds:schemaRef ds:uri="7b814fa0-4f1b-4d56-8a36-064af1e36e66"/>
    <ds:schemaRef ds:uri="http://purl.org/dc/dcmitype/"/>
    <ds:schemaRef ds:uri="http://purl.org/dc/terms/"/>
  </ds:schemaRefs>
</ds:datastoreItem>
</file>

<file path=customXml/itemProps2.xml><?xml version="1.0" encoding="utf-8"?>
<ds:datastoreItem xmlns:ds="http://schemas.openxmlformats.org/officeDocument/2006/customXml" ds:itemID="{E77A2FCE-FB77-4A2D-98B9-B8BD51BEE8CE}">
  <ds:schemaRefs>
    <ds:schemaRef ds:uri="7b814fa0-4f1b-4d56-8a36-064af1e36e66"/>
    <ds:schemaRef ds:uri="b1fa7ccf-aa4f-4f27-84db-07667d020a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171512-FDE1-4E49-B7EA-58AD2B3337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5521</Words>
  <Application>Microsoft Macintosh PowerPoint</Application>
  <PresentationFormat>Panorámica</PresentationFormat>
  <Paragraphs>958</Paragraphs>
  <Slides>41</Slides>
  <Notes>0</Notes>
  <HiddenSlides>23</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41</vt:i4>
      </vt:variant>
    </vt:vector>
  </HeadingPairs>
  <TitlesOfParts>
    <vt:vector size="48" baseType="lpstr">
      <vt:lpstr>Aptos</vt:lpstr>
      <vt:lpstr>Arial</vt:lpstr>
      <vt:lpstr>Calibri</vt:lpstr>
      <vt:lpstr>Helvetica</vt:lpstr>
      <vt:lpstr>Neue Haas Grotesk Text Pro</vt:lpstr>
      <vt:lpstr>Times New Roman</vt:lpstr>
      <vt:lpstr>AccentBoxVTI</vt:lpstr>
      <vt:lpstr>Enginyeria del Software</vt:lpstr>
      <vt:lpstr>Composició de l’equip </vt:lpstr>
      <vt:lpstr>Tasques fetes al sprint</vt:lpstr>
      <vt:lpstr>Diagrama Cas d’Ús final (Usuari no registrat)</vt:lpstr>
      <vt:lpstr>Diagrama Cas d’Ús final (cuiner)</vt:lpstr>
      <vt:lpstr>Diagrama Cas d’Ús final (repartidor)</vt:lpstr>
      <vt:lpstr>Diagrama Cas d’Ús final (client)</vt:lpstr>
      <vt:lpstr>Presentación de PowerPoint</vt:lpstr>
      <vt:lpstr>Especificacions Usuari No Registrat</vt:lpstr>
      <vt:lpstr>Especificacions Usuari No Registrat</vt:lpstr>
      <vt:lpstr>Especificacions Usuari No Registrat</vt:lpstr>
      <vt:lpstr>Especificacions Repartidor</vt:lpstr>
      <vt:lpstr>Especificacions Repartidor</vt:lpstr>
      <vt:lpstr>Especificacions Repartidor</vt:lpstr>
      <vt:lpstr>Especificacions Repartidor</vt:lpstr>
      <vt:lpstr>Especificacions Cuiner</vt:lpstr>
      <vt:lpstr>Especificacions Cuiner</vt:lpstr>
      <vt:lpstr>Especificacions Cuiner</vt:lpstr>
      <vt:lpstr>Especificacions Cuiner</vt:lpstr>
      <vt:lpstr>Especificacions Cuiner</vt:lpstr>
      <vt:lpstr>Especificacions Cuiner</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Especificacions Client</vt:lpstr>
      <vt:lpstr>Diagrama Classes inicial</vt:lpstr>
      <vt:lpstr>Burn-down chart</vt:lpstr>
      <vt:lpstr>Presentación de PowerPoint</vt:lpstr>
      <vt:lpstr>Presentación de PowerPoint</vt:lpstr>
      <vt:lpstr>Enginyeria del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Enginyeria del Software</dc:title>
  <dc:creator>Jorge Bernal del Nozal</dc:creator>
  <cp:lastModifiedBy>Enric Alvarez Bargada</cp:lastModifiedBy>
  <cp:revision>1</cp:revision>
  <dcterms:created xsi:type="dcterms:W3CDTF">2023-02-10T08:32:17Z</dcterms:created>
  <dcterms:modified xsi:type="dcterms:W3CDTF">2026-06-18T10:14:58Z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0x01010063BD3DC6F0E81D4FA56575A4B7B24AF5</vt:lpwstr>
  </property>
  <property fmtid="{D5CDD505-2E9C-101B-9397-08002B2CF9AE}" pid="3" name="Order">
    <vt:r8>1700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ies>
</file>