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4"/>
  </p:notesMasterIdLst>
  <p:sldIdLst>
    <p:sldId id="412" r:id="rId5"/>
    <p:sldId id="400" r:id="rId6"/>
    <p:sldId id="408" r:id="rId7"/>
    <p:sldId id="409" r:id="rId8"/>
    <p:sldId id="410" r:id="rId9"/>
    <p:sldId id="415" r:id="rId10"/>
    <p:sldId id="416" r:id="rId11"/>
    <p:sldId id="411" r:id="rId12"/>
    <p:sldId id="399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C610CD-51EF-C0B0-EA9D-D76D8AAE7F11}" v="264" dt="2026-03-16T09:58:35.198"/>
    <p1510:client id="{449E9B07-79E7-FD2D-7FAC-39AE3ED54F16}" v="101" dt="2026-03-16T10:01:43.368"/>
    <p1510:client id="{5B01021F-D8B4-454C-8AF1-BEA4B1524530}" v="149" dt="2026-03-16T10:03:43.494"/>
    <p1510:client id="{77D12782-5A74-278B-EB6F-75DF571C8B1F}" v="876" dt="2026-03-16T09:59:11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6/18/26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6/18/26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/>
              <a:t>Pràctiques: Grup 411-08</a:t>
            </a:r>
            <a:endParaRPr lang="ca-ES" sz="1400" dirty="0"/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/>
              <a:t>Sprint 01: Requisits Funcionals i No Funcionals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pic>
        <p:nvPicPr>
          <p:cNvPr id="1026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E44A2714-7224-8333-A43B-ECBC3C175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073" y="2281190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F9A3A06-2104-6EDD-EE3F-A32528BEC881}"/>
              </a:ext>
            </a:extLst>
          </p:cNvPr>
          <p:cNvSpPr txBox="1"/>
          <p:nvPr/>
        </p:nvSpPr>
        <p:spPr>
          <a:xfrm>
            <a:off x="3489399" y="3597274"/>
            <a:ext cx="263533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dirty="0"/>
              <a:t>Enric </a:t>
            </a:r>
            <a:r>
              <a:rPr lang="es-ES" dirty="0" err="1"/>
              <a:t>Alvarez</a:t>
            </a:r>
            <a:r>
              <a:rPr lang="es-ES" dirty="0"/>
              <a:t> </a:t>
            </a:r>
            <a:r>
              <a:rPr lang="es-ES" dirty="0" err="1"/>
              <a:t>Bargada</a:t>
            </a:r>
            <a:endParaRPr lang="es-ES" dirty="0"/>
          </a:p>
          <a:p>
            <a:r>
              <a:rPr lang="es-ES"/>
              <a:t>(SCRUM MASTER)</a:t>
            </a:r>
            <a:endParaRPr lang="es-ES" dirty="0"/>
          </a:p>
        </p:txBody>
      </p:sp>
      <p:pic>
        <p:nvPicPr>
          <p:cNvPr id="8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76D0DF31-D861-FFEE-2974-6C02DD69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618" y="2281190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701D67B-2047-7EEE-CB49-B2ED590A3D18}"/>
              </a:ext>
            </a:extLst>
          </p:cNvPr>
          <p:cNvSpPr txBox="1"/>
          <p:nvPr/>
        </p:nvSpPr>
        <p:spPr>
          <a:xfrm>
            <a:off x="6271637" y="3607641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Neus Roig Prat</a:t>
            </a:r>
            <a:endParaRPr lang="ca-ES"/>
          </a:p>
        </p:txBody>
      </p:sp>
      <p:pic>
        <p:nvPicPr>
          <p:cNvPr id="10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C58F73A0-EF49-A7B1-C627-75778E026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073" y="4441295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F9E5503-CA01-C76E-286A-F65FDF48A279}"/>
              </a:ext>
            </a:extLst>
          </p:cNvPr>
          <p:cNvSpPr txBox="1"/>
          <p:nvPr/>
        </p:nvSpPr>
        <p:spPr>
          <a:xfrm>
            <a:off x="3650091" y="5767746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Blay Clotas </a:t>
            </a:r>
            <a:r>
              <a:rPr lang="es-ES" err="1"/>
              <a:t>Cekov</a:t>
            </a:r>
            <a:endParaRPr lang="ca-ES" err="1"/>
          </a:p>
        </p:txBody>
      </p:sp>
      <p:pic>
        <p:nvPicPr>
          <p:cNvPr id="12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B5B950BB-3356-08FA-D3B8-D5AB267A1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618" y="4441295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FC6393E-84E8-F829-72B0-A2837607CCD5}"/>
              </a:ext>
            </a:extLst>
          </p:cNvPr>
          <p:cNvSpPr txBox="1"/>
          <p:nvPr/>
        </p:nvSpPr>
        <p:spPr>
          <a:xfrm>
            <a:off x="6271637" y="5767746"/>
            <a:ext cx="280786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err="1"/>
              <a:t>Maria</a:t>
            </a:r>
            <a:r>
              <a:rPr lang="es-ES"/>
              <a:t> Figueras Martínez</a:t>
            </a:r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Tasques fetes al sprint</a:t>
            </a:r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9F3BC3-64C6-DCA9-A993-43956FF851B7}"/>
              </a:ext>
            </a:extLst>
          </p:cNvPr>
          <p:cNvSpPr txBox="1"/>
          <p:nvPr/>
        </p:nvSpPr>
        <p:spPr>
          <a:xfrm>
            <a:off x="620399" y="2224646"/>
            <a:ext cx="10020823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ca-ES"/>
              <a:t>Tasca 1: Extracció Requisits Funcionals i No Funcionals (Encarregat: Tot el Grup)</a:t>
            </a:r>
          </a:p>
          <a:p>
            <a:pPr algn="just"/>
            <a:endParaRPr lang="ca-ES" dirty="0"/>
          </a:p>
          <a:p>
            <a:pPr algn="just"/>
            <a:r>
              <a:rPr lang="ca-ES"/>
              <a:t>Tasca 2: Creació GitHub i Trello (Encarregat: Enric)</a:t>
            </a:r>
            <a:endParaRPr lang="ca-ES" dirty="0"/>
          </a:p>
          <a:p>
            <a:pPr algn="just"/>
            <a:endParaRPr lang="ca-ES" dirty="0"/>
          </a:p>
          <a:p>
            <a:pPr algn="just"/>
            <a:r>
              <a:rPr lang="ca-ES"/>
              <a:t>Tasca 3: Creació BurnDown-Chart (Encarregat: Neus)</a:t>
            </a:r>
            <a:endParaRPr lang="ca-ES" dirty="0"/>
          </a:p>
          <a:p>
            <a:pPr algn="just"/>
            <a:endParaRPr lang="ca-ES" dirty="0"/>
          </a:p>
          <a:p>
            <a:pPr algn="just"/>
            <a:r>
              <a:rPr lang="ca-ES"/>
              <a:t>Tasca 4: Transcripció a MD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51638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5829A-DA28-0229-A05E-FCE0F2E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F99BE-BBF6-B2B3-02F4-217E7C78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/>
              <a:t>Perfils d’usuari a l’aplicació QUEMENGES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58B65D-2614-915C-82AC-99B679A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1C72129-175A-22CE-696F-928ABF46C450}"/>
              </a:ext>
            </a:extLst>
          </p:cNvPr>
          <p:cNvSpPr txBox="1"/>
          <p:nvPr/>
        </p:nvSpPr>
        <p:spPr>
          <a:xfrm>
            <a:off x="553863" y="2198728"/>
            <a:ext cx="9027596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ca-ES">
                <a:ea typeface="+mn-lt"/>
                <a:cs typeface="+mn-lt"/>
              </a:rPr>
              <a:t>Usuari client</a:t>
            </a:r>
            <a:endParaRPr lang="ca-ES"/>
          </a:p>
          <a:p>
            <a:pPr algn="just"/>
            <a:br>
              <a:rPr lang="en-US"/>
            </a:b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ca-ES">
                <a:ea typeface="+mn-lt"/>
                <a:cs typeface="+mn-lt"/>
              </a:rPr>
              <a:t>Usuari cuiner</a:t>
            </a:r>
            <a:endParaRPr lang="ca-ES"/>
          </a:p>
          <a:p>
            <a:pPr algn="just"/>
            <a:br>
              <a:rPr lang="en-US"/>
            </a:b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ca-ES">
                <a:ea typeface="+mn-lt"/>
                <a:cs typeface="+mn-lt"/>
              </a:rPr>
              <a:t>Usuari no registrat</a:t>
            </a:r>
            <a:endParaRPr lang="ca-ES"/>
          </a:p>
          <a:p>
            <a:pPr algn="just"/>
            <a:br>
              <a:rPr lang="en-US"/>
            </a:b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ca-ES">
                <a:ea typeface="+mn-lt"/>
                <a:cs typeface="+mn-lt"/>
              </a:rPr>
              <a:t>Usuari amb subscripció</a:t>
            </a:r>
            <a:endParaRPr lang="ca-ES"/>
          </a:p>
          <a:p>
            <a:pPr algn="just"/>
            <a:br>
              <a:rPr lang="en-US"/>
            </a:b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ca-ES">
                <a:ea typeface="+mn-lt"/>
                <a:cs typeface="+mn-lt"/>
              </a:rPr>
              <a:t>Usuari repartidor</a:t>
            </a:r>
            <a:endParaRPr lang="ca-ES"/>
          </a:p>
          <a:p>
            <a:pPr algn="just"/>
            <a:endParaRPr lang="en-US"/>
          </a:p>
          <a:p>
            <a:pPr algn="just"/>
            <a:r>
              <a:rPr lang="ca-ES">
                <a:ea typeface="+mn-lt"/>
                <a:cs typeface="+mn-lt"/>
              </a:rPr>
              <a:t>Cada persona pot tenir varis perfils d’usuari, excepte l’usuari no registrat</a:t>
            </a:r>
            <a:endParaRPr lang="ca-ES" dirty="0"/>
          </a:p>
          <a:p>
            <a:pPr algn="just"/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194366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Requisits funcionals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33A7ED-18E9-D42B-F297-39B59B5C7F84}"/>
              </a:ext>
            </a:extLst>
          </p:cNvPr>
          <p:cNvSpPr txBox="1"/>
          <p:nvPr/>
        </p:nvSpPr>
        <p:spPr>
          <a:xfrm>
            <a:off x="428603" y="2198728"/>
            <a:ext cx="11266092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ca-ES"/>
              <a:t>RF-01-XX: Accés i consulta (Usuaris no Registrats)</a:t>
            </a:r>
          </a:p>
          <a:p>
            <a:pPr algn="just"/>
            <a:r>
              <a:rPr lang="ca-ES"/>
              <a:t>RF-02-XX: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Registre, autenticació i gestió del compte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RF-03-XX: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Opcions de recollida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RF-04-XX: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Pagament i gestió de transaccions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RF-05-XX: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Valoració de comandes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RF-06-XX: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 Subscripció i programa de punts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RF-07-XX: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Personalització de plats</a:t>
            </a:r>
            <a:endParaRPr lang="ca-ES">
              <a:solidFill>
                <a:srgbClr val="00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E9C8432-1A6F-36E9-AF1A-96369C0AB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03" y="5059859"/>
            <a:ext cx="979970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RF-01-00: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Conjunt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requisits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permeten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usuaris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registrats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consultar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menús i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plats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disponibles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sense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iniciar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sessió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D1FCD9C-9C2B-1700-C78A-D1292E884856}"/>
              </a:ext>
            </a:extLst>
          </p:cNvPr>
          <p:cNvSpPr txBox="1"/>
          <p:nvPr/>
        </p:nvSpPr>
        <p:spPr>
          <a:xfrm>
            <a:off x="428603" y="4526479"/>
            <a:ext cx="5245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/>
              <a:t>EX:</a:t>
            </a:r>
          </a:p>
        </p:txBody>
      </p:sp>
    </p:spTree>
    <p:extLst>
      <p:ext uri="{BB962C8B-B14F-4D97-AF65-F5344CB8AC3E}">
        <p14:creationId xmlns:p14="http://schemas.microsoft.com/office/powerpoint/2010/main" val="322074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51C87-8F3B-8F00-CF1E-3704FC430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7D2B6-86D0-4428-16F8-9F6543E2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Requisits no funcionals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409259-3D3D-1998-F5A7-E16D3D07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0361BAC-679F-2044-0391-1C7759E010BE}"/>
              </a:ext>
            </a:extLst>
          </p:cNvPr>
          <p:cNvSpPr txBox="1"/>
          <p:nvPr/>
        </p:nvSpPr>
        <p:spPr>
          <a:xfrm>
            <a:off x="428603" y="2198728"/>
            <a:ext cx="11266092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ca-ES"/>
              <a:t>RNF-00-XX: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Operativa / Usabilitat i interfície</a:t>
            </a:r>
            <a:endParaRPr lang="ca-ES" dirty="0">
              <a:solidFill>
                <a:srgbClr val="000000"/>
              </a:solidFill>
            </a:endParaRPr>
          </a:p>
          <a:p>
            <a:pPr algn="just"/>
            <a:r>
              <a:rPr lang="ca-ES"/>
              <a:t>RNF-01-XX: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Disseny / Arquitectura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RNF-02-XX: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Restricció de Disseny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RF-03-XX: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Cost de l'enviament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RF-04-XX: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Mètodes de pagament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...</a:t>
            </a:r>
            <a:endParaRPr lang="ca-ES" dirty="0">
              <a:solidFill>
                <a:srgbClr val="00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F338368-8827-7395-0B57-FB50A3B1A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03" y="4690150"/>
            <a:ext cx="917448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b="1">
                <a:latin typeface="Arial" panose="020B0604020202020204" pitchFamily="34" charset="0"/>
              </a:rPr>
              <a:t>RNF-00-00: </a:t>
            </a:r>
            <a:r>
              <a:rPr lang="es-ES" err="1"/>
              <a:t>L'aplicació</a:t>
            </a:r>
            <a:r>
              <a:rPr lang="es-ES"/>
              <a:t> ha de </a:t>
            </a:r>
            <a:r>
              <a:rPr lang="es-ES" err="1"/>
              <a:t>tenir</a:t>
            </a:r>
            <a:r>
              <a:rPr lang="es-ES"/>
              <a:t> un </a:t>
            </a:r>
            <a:r>
              <a:rPr lang="es-ES" err="1"/>
              <a:t>aspecte</a:t>
            </a:r>
            <a:r>
              <a:rPr lang="es-ES"/>
              <a:t> visual </a:t>
            </a:r>
            <a:r>
              <a:rPr lang="es-ES" err="1"/>
              <a:t>consistent</a:t>
            </a:r>
            <a:r>
              <a:rPr lang="es-ES"/>
              <a:t> i </a:t>
            </a:r>
            <a:r>
              <a:rPr lang="es-ES" err="1"/>
              <a:t>professional</a:t>
            </a:r>
            <a:r>
              <a:rPr lang="es-ES"/>
              <a:t>, </a:t>
            </a:r>
            <a:r>
              <a:rPr lang="es-ES" err="1"/>
              <a:t>amb</a:t>
            </a:r>
            <a:r>
              <a:rPr lang="es-ES"/>
              <a:t> </a:t>
            </a:r>
            <a:r>
              <a:rPr lang="es-ES" err="1"/>
              <a:t>guia</a:t>
            </a:r>
            <a:r>
              <a:rPr lang="es-ES"/>
              <a:t> </a:t>
            </a:r>
            <a:r>
              <a:rPr lang="es-ES" err="1"/>
              <a:t>d'estil</a:t>
            </a:r>
            <a:r>
              <a:rPr lang="es-ES"/>
              <a:t> definida (</a:t>
            </a:r>
            <a:r>
              <a:rPr lang="es-ES" err="1"/>
              <a:t>tipografia</a:t>
            </a:r>
            <a:r>
              <a:rPr lang="es-ES"/>
              <a:t>, paleta de </a:t>
            </a:r>
            <a:r>
              <a:rPr lang="es-ES" err="1"/>
              <a:t>colors</a:t>
            </a:r>
            <a:r>
              <a:rPr lang="es-ES"/>
              <a:t>, </a:t>
            </a:r>
            <a:r>
              <a:rPr lang="es-ES" err="1"/>
              <a:t>iconografia</a:t>
            </a:r>
            <a:r>
              <a:rPr lang="es-ES"/>
              <a:t>) aplicada a totes les </a:t>
            </a:r>
            <a:r>
              <a:rPr lang="es-ES" err="1"/>
              <a:t>pantalles</a:t>
            </a:r>
            <a:r>
              <a:rPr lang="es-ES"/>
              <a:t>.</a:t>
            </a:r>
            <a:br>
              <a:rPr lang="es-ES" altLang="es-ES">
                <a:latin typeface="Arial" panose="020B0604020202020204" pitchFamily="34" charset="0"/>
              </a:rPr>
            </a:br>
            <a:endParaRPr lang="es-ES" altLang="es-E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s-ES" altLang="es-E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A57581-D1AB-6C11-CF4E-96DFDC2F89B2}"/>
              </a:ext>
            </a:extLst>
          </p:cNvPr>
          <p:cNvSpPr txBox="1"/>
          <p:nvPr/>
        </p:nvSpPr>
        <p:spPr>
          <a:xfrm>
            <a:off x="894080" y="4419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B862D7-710A-A3E6-152D-BB1691699FB2}"/>
              </a:ext>
            </a:extLst>
          </p:cNvPr>
          <p:cNvSpPr txBox="1"/>
          <p:nvPr/>
        </p:nvSpPr>
        <p:spPr>
          <a:xfrm>
            <a:off x="428603" y="4275872"/>
            <a:ext cx="5245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/>
              <a:t>EX: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DC8C1D3-5503-C91F-D4C2-C7271E74C2A1}"/>
              </a:ext>
            </a:extLst>
          </p:cNvPr>
          <p:cNvSpPr txBox="1"/>
          <p:nvPr/>
        </p:nvSpPr>
        <p:spPr>
          <a:xfrm>
            <a:off x="254000" y="4470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804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5B3C8-849A-31DE-7C04-2B08716E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7E451-65F3-94E9-2145-44DEF0A91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Perfils d'Usuari Creats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DFF704-425B-409D-9F2B-0D1A8963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/>
          </a:p>
        </p:txBody>
      </p:sp>
      <p:pic>
        <p:nvPicPr>
          <p:cNvPr id="3" name="Imatge 2" descr="Imatge que conté text, captura de pantalla, Font, nombre&#10;&#10;Pot ser que el contingut generat per IA no sigui correcte.">
            <a:extLst>
              <a:ext uri="{FF2B5EF4-FFF2-40B4-BE49-F238E27FC236}">
                <a16:creationId xmlns:a16="http://schemas.microsoft.com/office/drawing/2014/main" id="{5106CF96-C2D3-D2BE-EB71-E4206D061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43" y="2074333"/>
            <a:ext cx="5832870" cy="4720167"/>
          </a:xfrm>
          <a:prstGeom prst="rect">
            <a:avLst/>
          </a:prstGeom>
        </p:spPr>
      </p:pic>
      <p:pic>
        <p:nvPicPr>
          <p:cNvPr id="6" name="Imatge 5" descr="Imatge que conté text, captura de pantalla, Font, nombre&#10;&#10;Pot ser que el contingut generat per IA no sigui correcte.">
            <a:extLst>
              <a:ext uri="{FF2B5EF4-FFF2-40B4-BE49-F238E27FC236}">
                <a16:creationId xmlns:a16="http://schemas.microsoft.com/office/drawing/2014/main" id="{65C56337-E6E3-416B-589D-6C5355754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943" y="2074791"/>
            <a:ext cx="5778501" cy="2101640"/>
          </a:xfrm>
          <a:prstGeom prst="rect">
            <a:avLst/>
          </a:prstGeom>
        </p:spPr>
      </p:pic>
      <p:pic>
        <p:nvPicPr>
          <p:cNvPr id="7" name="Imatge 6" descr="Imatge que conté text, captura de pantalla, Font, nombre&#10;&#10;Pot ser que el contingut generat per IA no sigui correcte.">
            <a:extLst>
              <a:ext uri="{FF2B5EF4-FFF2-40B4-BE49-F238E27FC236}">
                <a16:creationId xmlns:a16="http://schemas.microsoft.com/office/drawing/2014/main" id="{0527D904-073E-AA83-B655-18056D96C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221" y="4174322"/>
            <a:ext cx="5799667" cy="227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11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Burn-down</a:t>
            </a:r>
            <a:r>
              <a:rPr lang="ca-ES" dirty="0"/>
              <a:t> </a:t>
            </a:r>
            <a:r>
              <a:rPr lang="ca-ES" dirty="0" err="1"/>
              <a:t>chart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Imatge 2" descr="Imatge que conté text, captura de pantalla, nombre, Paral·lel&#10;&#10;Pot ser que el contingut generat per IA no sigui correcte.">
            <a:extLst>
              <a:ext uri="{FF2B5EF4-FFF2-40B4-BE49-F238E27FC236}">
                <a16:creationId xmlns:a16="http://schemas.microsoft.com/office/drawing/2014/main" id="{C08AAE22-14D8-A150-729C-325327F3B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99" y="2233873"/>
            <a:ext cx="6183812" cy="430503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C34BD25-121B-6ABE-3FE5-783DF17488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157"/>
          <a:stretch>
            <a:fillRect/>
          </a:stretch>
        </p:blipFill>
        <p:spPr>
          <a:xfrm>
            <a:off x="7136601" y="2113248"/>
            <a:ext cx="4495800" cy="248407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FDF1785-072C-E312-B80C-0D37D2A93007}"/>
              </a:ext>
            </a:extLst>
          </p:cNvPr>
          <p:cNvSpPr/>
          <p:nvPr/>
        </p:nvSpPr>
        <p:spPr>
          <a:xfrm>
            <a:off x="10261600" y="4226560"/>
            <a:ext cx="335280" cy="284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64B9908-A6A8-0F68-78A3-BEDE05653A2F}"/>
              </a:ext>
            </a:extLst>
          </p:cNvPr>
          <p:cNvSpPr/>
          <p:nvPr/>
        </p:nvSpPr>
        <p:spPr>
          <a:xfrm>
            <a:off x="2306782" y="3429000"/>
            <a:ext cx="519545" cy="259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XXX-YY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01: Requisits Funcionals i No Funcionals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7775</TotalTime>
  <Words>283</Words>
  <Application>Microsoft Macintosh PowerPoint</Application>
  <PresentationFormat>Panorámica</PresentationFormat>
  <Paragraphs>64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Neue Haas Grotesk Text Pro</vt:lpstr>
      <vt:lpstr>AccentBoxVTI</vt:lpstr>
      <vt:lpstr>Enginyeria del Software</vt:lpstr>
      <vt:lpstr>Composició de l’equip </vt:lpstr>
      <vt:lpstr>Tasques fetes al sprint</vt:lpstr>
      <vt:lpstr>Perfils d’usuari a l’aplicació QUEMENGES</vt:lpstr>
      <vt:lpstr>Requisits funcionals </vt:lpstr>
      <vt:lpstr>Requisits no funcionals</vt:lpstr>
      <vt:lpstr>Perfils d'Usuari Creats</vt:lpstr>
      <vt:lpstr>Burn-down chart</vt:lpstr>
      <vt:lpstr>Enginyeria del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Enric Alvarez Bargada</cp:lastModifiedBy>
  <cp:revision>386</cp:revision>
  <dcterms:created xsi:type="dcterms:W3CDTF">2023-02-10T08:32:17Z</dcterms:created>
  <dcterms:modified xsi:type="dcterms:W3CDTF">2026-06-18T09:56:08Z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