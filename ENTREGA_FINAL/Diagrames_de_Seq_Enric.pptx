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0"/>
  </p:notesMasterIdLst>
  <p:sldIdLst>
    <p:sldId id="412" r:id="rId5"/>
    <p:sldId id="400" r:id="rId6"/>
    <p:sldId id="420" r:id="rId7"/>
    <p:sldId id="424" r:id="rId8"/>
    <p:sldId id="425" r:id="rId9"/>
    <p:sldId id="415" r:id="rId10"/>
    <p:sldId id="422" r:id="rId11"/>
    <p:sldId id="418" r:id="rId12"/>
    <p:sldId id="410" r:id="rId13"/>
    <p:sldId id="414" r:id="rId14"/>
    <p:sldId id="421" r:id="rId15"/>
    <p:sldId id="419" r:id="rId16"/>
    <p:sldId id="423" r:id="rId17"/>
    <p:sldId id="417" r:id="rId18"/>
    <p:sldId id="409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6/11/26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411-08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Diagrames de Seqüència Individuals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2314AE07-3639-F5C2-D9BA-C0FC3F1B97C3}"/>
              </a:ext>
            </a:extLst>
          </p:cNvPr>
          <p:cNvSpPr txBox="1"/>
          <p:nvPr/>
        </p:nvSpPr>
        <p:spPr>
          <a:xfrm>
            <a:off x="1120073" y="2291996"/>
            <a:ext cx="34519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Enric Alvarez Bargada</a:t>
            </a: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BDC369DB-16A4-5A1E-3B9A-B758A83E309A}"/>
              </a:ext>
            </a:extLst>
          </p:cNvPr>
          <p:cNvSpPr txBox="1"/>
          <p:nvPr/>
        </p:nvSpPr>
        <p:spPr>
          <a:xfrm>
            <a:off x="1115568" y="2971835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Neus Roig Prat</a:t>
            </a:r>
            <a:endParaRPr lang="ca-ES"/>
          </a:p>
        </p:txBody>
      </p:sp>
      <p:sp>
        <p:nvSpPr>
          <p:cNvPr id="7" name="CuadroTexto 14">
            <a:extLst>
              <a:ext uri="{FF2B5EF4-FFF2-40B4-BE49-F238E27FC236}">
                <a16:creationId xmlns:a16="http://schemas.microsoft.com/office/drawing/2014/main" id="{03C62CEE-6A8B-2B35-B786-8B14CB14DC3C}"/>
              </a:ext>
            </a:extLst>
          </p:cNvPr>
          <p:cNvSpPr txBox="1"/>
          <p:nvPr/>
        </p:nvSpPr>
        <p:spPr>
          <a:xfrm>
            <a:off x="1173616" y="3651674"/>
            <a:ext cx="51635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Blay Clotas </a:t>
            </a:r>
            <a:r>
              <a:rPr lang="es-ES" dirty="0" err="1"/>
              <a:t>Cekov</a:t>
            </a:r>
            <a:endParaRPr lang="ca-ES" dirty="0"/>
          </a:p>
        </p:txBody>
      </p:sp>
      <p:sp>
        <p:nvSpPr>
          <p:cNvPr id="15" name="CuadroTexto 15">
            <a:extLst>
              <a:ext uri="{FF2B5EF4-FFF2-40B4-BE49-F238E27FC236}">
                <a16:creationId xmlns:a16="http://schemas.microsoft.com/office/drawing/2014/main" id="{3D766566-045E-7674-F7AA-34E878B42A0B}"/>
              </a:ext>
            </a:extLst>
          </p:cNvPr>
          <p:cNvSpPr txBox="1"/>
          <p:nvPr/>
        </p:nvSpPr>
        <p:spPr>
          <a:xfrm>
            <a:off x="1115568" y="4224473"/>
            <a:ext cx="280786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Maria</a:t>
            </a:r>
            <a:r>
              <a:rPr lang="es-ES"/>
              <a:t> Figueras Martínez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3FA09-1464-E0B3-4134-523AD613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5D6570-F8B3-B3A3-A220-22048D7E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9F1681-DF17-F022-F1E8-7C6CBC73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B284673-D1ED-6F57-0D91-254BE4BFA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5343"/>
              </p:ext>
            </p:extLst>
          </p:nvPr>
        </p:nvGraphicFramePr>
        <p:xfrm>
          <a:off x="1227635" y="2091095"/>
          <a:ext cx="9740196" cy="4206244"/>
        </p:xfrm>
        <a:graphic>
          <a:graphicData uri="http://schemas.openxmlformats.org/drawingml/2006/table">
            <a:tbl>
              <a:tblPr firstRow="1" bandRow="1"/>
              <a:tblGrid>
                <a:gridCol w="3056451">
                  <a:extLst>
                    <a:ext uri="{9D8B030D-6E8A-4147-A177-3AD203B41FA5}">
                      <a16:colId xmlns:a16="http://schemas.microsoft.com/office/drawing/2014/main" val="951523013"/>
                    </a:ext>
                  </a:extLst>
                </a:gridCol>
                <a:gridCol w="6683745">
                  <a:extLst>
                    <a:ext uri="{9D8B030D-6E8A-4147-A177-3AD203B41FA5}">
                      <a16:colId xmlns:a16="http://schemas.microsoft.com/office/drawing/2014/main" val="3816484037"/>
                    </a:ext>
                  </a:extLst>
                </a:gridCol>
              </a:tblGrid>
              <a:tr h="3513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CAS D'ÚS: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>
                          <a:effectLst/>
                        </a:rPr>
                        <a:t>Indicar </a:t>
                      </a:r>
                      <a:r>
                        <a:rPr lang="es-ES" sz="1500" b="1" err="1">
                          <a:effectLst/>
                        </a:rPr>
                        <a:t>disponibilitat</a:t>
                      </a:r>
                      <a:r>
                        <a:rPr lang="es-ES" sz="1500" b="1">
                          <a:effectLst/>
                        </a:rPr>
                        <a:t> del </a:t>
                      </a:r>
                      <a:r>
                        <a:rPr lang="es-ES" sz="1500" b="1" err="1">
                          <a:effectLst/>
                        </a:rPr>
                        <a:t>servei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35037"/>
                  </a:ext>
                </a:extLst>
              </a:tr>
              <a:tr h="12838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Descripció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Quan el cuiner obre la configuració de disponibilitat, pot indicar si està disponible en aquell moment o definir una hora futura a partir de la qual acceptarà comandes. El sistema desa l'estat i el reflecteix al llistat de cuiners visible pels clients, que poden reservar comandes per a l'hora indicada.</a:t>
                      </a: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720437"/>
                  </a:ext>
                </a:extLst>
              </a:tr>
              <a:tr h="3513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Actors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Cuiner</a:t>
                      </a: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21912"/>
                  </a:ext>
                </a:extLst>
              </a:tr>
              <a:tr h="58448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Pre-condicions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El cuiner ha iniciat sessió al sistema amb un compte de tipus cuiner (RF-02-00).</a:t>
                      </a: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60410"/>
                  </a:ext>
                </a:extLst>
              </a:tr>
              <a:tr h="12838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Flux principal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1. El cuiner obre la configuració de disponibilitat;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2. El cuiner indica si està disponible o l'hora futura a partir de la qual estarà disponible;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3. El sistema desa l'estat de disponibilitat;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4. El sistema confirma al cuiner que la disponibilitat s'ha actualitzat.</a:t>
                      </a: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109158"/>
                  </a:ext>
                </a:extLst>
              </a:tr>
              <a:tr h="35137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 err="1">
                          <a:effectLst/>
                        </a:rPr>
                        <a:t>Requisits</a:t>
                      </a:r>
                      <a:r>
                        <a:rPr lang="es-ES" sz="1500" b="1">
                          <a:effectLst/>
                        </a:rPr>
                        <a:t> </a:t>
                      </a:r>
                      <a:r>
                        <a:rPr lang="es-ES" sz="1500" b="1" err="1">
                          <a:effectLst/>
                        </a:rPr>
                        <a:t>relacionats</a:t>
                      </a:r>
                      <a:endParaRPr lang="es-ES" sz="1500">
                        <a:effectLst/>
                      </a:endParaRP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RF-02-05</a:t>
                      </a:r>
                    </a:p>
                  </a:txBody>
                  <a:tcPr marL="78296" marR="78296" marT="39148" marB="39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770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81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4A55D-80FE-2B60-D6BB-449948D6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F80B89-C9A5-551A-1664-1614F1F2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CC24F6-6EE9-C913-E40B-E3352CE2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513" y="625683"/>
            <a:ext cx="5486553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CBE9D-B20F-9C58-AA7B-CD1D090E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69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60D61-1132-25A5-E19F-E375D102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560CE4-A15F-C965-A294-63872F24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915633-C86B-9EDA-0FFB-211FDF65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E6C5867-66BC-F4C1-C82F-72BD4F7DA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03660"/>
              </p:ext>
            </p:extLst>
          </p:nvPr>
        </p:nvGraphicFramePr>
        <p:xfrm>
          <a:off x="855642" y="2091095"/>
          <a:ext cx="10484182" cy="4206242"/>
        </p:xfrm>
        <a:graphic>
          <a:graphicData uri="http://schemas.openxmlformats.org/drawingml/2006/table">
            <a:tbl>
              <a:tblPr firstRow="1" bandRow="1"/>
              <a:tblGrid>
                <a:gridCol w="3474428">
                  <a:extLst>
                    <a:ext uri="{9D8B030D-6E8A-4147-A177-3AD203B41FA5}">
                      <a16:colId xmlns:a16="http://schemas.microsoft.com/office/drawing/2014/main" val="157178485"/>
                    </a:ext>
                  </a:extLst>
                </a:gridCol>
                <a:gridCol w="7009754">
                  <a:extLst>
                    <a:ext uri="{9D8B030D-6E8A-4147-A177-3AD203B41FA5}">
                      <a16:colId xmlns:a16="http://schemas.microsoft.com/office/drawing/2014/main" val="4003595002"/>
                    </a:ext>
                  </a:extLst>
                </a:gridCol>
              </a:tblGrid>
              <a:tr h="3951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700" b="1">
                          <a:effectLst/>
                        </a:rPr>
                        <a:t>CAS D'ÚS: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b="1">
                          <a:effectLst/>
                        </a:rPr>
                        <a:t>Definir </a:t>
                      </a:r>
                      <a:r>
                        <a:rPr lang="es-ES" sz="1700" b="1" err="1">
                          <a:effectLst/>
                        </a:rPr>
                        <a:t>opcions</a:t>
                      </a:r>
                      <a:r>
                        <a:rPr lang="es-ES" sz="1700" b="1">
                          <a:effectLst/>
                        </a:rPr>
                        <a:t> de </a:t>
                      </a:r>
                      <a:r>
                        <a:rPr lang="es-ES" sz="1700" b="1" err="1">
                          <a:effectLst/>
                        </a:rPr>
                        <a:t>recollida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685698"/>
                  </a:ext>
                </a:extLst>
              </a:tr>
              <a:tr h="11816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700" b="1" err="1">
                          <a:effectLst/>
                        </a:rPr>
                        <a:t>Descripció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effectLst/>
                        </a:rPr>
                        <a:t>Quan el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selecciona les </a:t>
                      </a:r>
                      <a:r>
                        <a:rPr lang="es-ES" sz="1700" err="1">
                          <a:effectLst/>
                        </a:rPr>
                        <a:t>opcions</a:t>
                      </a:r>
                      <a:r>
                        <a:rPr lang="es-ES" sz="1700">
                          <a:effectLst/>
                        </a:rPr>
                        <a:t> de </a:t>
                      </a:r>
                      <a:r>
                        <a:rPr lang="es-ES" sz="1700" err="1">
                          <a:effectLst/>
                        </a:rPr>
                        <a:t>recollida</a:t>
                      </a:r>
                      <a:r>
                        <a:rPr lang="es-ES" sz="1700">
                          <a:effectLst/>
                        </a:rPr>
                        <a:t> disponibles per al </a:t>
                      </a:r>
                      <a:r>
                        <a:rPr lang="es-ES" sz="1700" err="1">
                          <a:effectLst/>
                        </a:rPr>
                        <a:t>seu</a:t>
                      </a:r>
                      <a:r>
                        <a:rPr lang="es-ES" sz="1700">
                          <a:effectLst/>
                        </a:rPr>
                        <a:t> </a:t>
                      </a:r>
                      <a:r>
                        <a:rPr lang="es-ES" sz="1700" err="1">
                          <a:effectLst/>
                        </a:rPr>
                        <a:t>servei</a:t>
                      </a:r>
                      <a:r>
                        <a:rPr lang="es-ES" sz="1700">
                          <a:effectLst/>
                        </a:rPr>
                        <a:t> (repartidor, entrega per </a:t>
                      </a:r>
                      <a:r>
                        <a:rPr lang="es-ES" sz="1700" err="1">
                          <a:effectLst/>
                        </a:rPr>
                        <a:t>part</a:t>
                      </a:r>
                      <a:r>
                        <a:rPr lang="es-ES" sz="1700">
                          <a:effectLst/>
                        </a:rPr>
                        <a:t> del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o </a:t>
                      </a:r>
                      <a:r>
                        <a:rPr lang="es-ES" sz="1700" err="1">
                          <a:effectLst/>
                        </a:rPr>
                        <a:t>recollida</a:t>
                      </a:r>
                      <a:r>
                        <a:rPr lang="es-ES" sz="1700">
                          <a:effectLst/>
                        </a:rPr>
                        <a:t> del </a:t>
                      </a:r>
                      <a:r>
                        <a:rPr lang="es-ES" sz="1700" err="1">
                          <a:effectLst/>
                        </a:rPr>
                        <a:t>client</a:t>
                      </a:r>
                      <a:r>
                        <a:rPr lang="es-ES" sz="1700">
                          <a:effectLst/>
                        </a:rPr>
                        <a:t> a </a:t>
                      </a:r>
                      <a:r>
                        <a:rPr lang="es-ES" sz="1700" err="1">
                          <a:effectLst/>
                        </a:rPr>
                        <a:t>l'establiment</a:t>
                      </a:r>
                      <a:r>
                        <a:rPr lang="es-ES" sz="1700">
                          <a:effectLst/>
                        </a:rPr>
                        <a:t>), el sistema </a:t>
                      </a:r>
                      <a:r>
                        <a:rPr lang="es-ES" sz="1700" err="1">
                          <a:effectLst/>
                        </a:rPr>
                        <a:t>desa</a:t>
                      </a:r>
                      <a:r>
                        <a:rPr lang="es-ES" sz="1700">
                          <a:effectLst/>
                        </a:rPr>
                        <a:t> la </a:t>
                      </a:r>
                      <a:r>
                        <a:rPr lang="es-ES" sz="1700" err="1">
                          <a:effectLst/>
                        </a:rPr>
                        <a:t>configuració</a:t>
                      </a:r>
                      <a:r>
                        <a:rPr lang="es-ES" sz="1700">
                          <a:effectLst/>
                        </a:rPr>
                        <a:t> i activa </a:t>
                      </a:r>
                      <a:r>
                        <a:rPr lang="es-ES" sz="1700" err="1">
                          <a:effectLst/>
                        </a:rPr>
                        <a:t>només</a:t>
                      </a:r>
                      <a:r>
                        <a:rPr lang="es-ES" sz="1700">
                          <a:effectLst/>
                        </a:rPr>
                        <a:t> les </a:t>
                      </a:r>
                      <a:r>
                        <a:rPr lang="es-ES" sz="1700" err="1">
                          <a:effectLst/>
                        </a:rPr>
                        <a:t>opcions</a:t>
                      </a:r>
                      <a:r>
                        <a:rPr lang="es-ES" sz="1700">
                          <a:effectLst/>
                        </a:rPr>
                        <a:t> </a:t>
                      </a:r>
                      <a:r>
                        <a:rPr lang="es-ES" sz="1700" err="1">
                          <a:effectLst/>
                        </a:rPr>
                        <a:t>escollides</a:t>
                      </a:r>
                      <a:r>
                        <a:rPr lang="es-ES" sz="1700">
                          <a:effectLst/>
                        </a:rPr>
                        <a:t> per a les futures comandes </a:t>
                      </a:r>
                      <a:r>
                        <a:rPr lang="es-ES" sz="1700" err="1">
                          <a:effectLst/>
                        </a:rPr>
                        <a:t>dels</a:t>
                      </a:r>
                      <a:r>
                        <a:rPr lang="es-ES" sz="1700">
                          <a:effectLst/>
                        </a:rPr>
                        <a:t> </a:t>
                      </a:r>
                      <a:r>
                        <a:rPr lang="es-ES" sz="1700" err="1">
                          <a:effectLst/>
                        </a:rPr>
                        <a:t>clients</a:t>
                      </a:r>
                      <a:r>
                        <a:rPr lang="es-ES" sz="1700">
                          <a:effectLst/>
                        </a:rPr>
                        <a:t>.</a:t>
                      </a: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7757"/>
                  </a:ext>
                </a:extLst>
              </a:tr>
              <a:tr h="3951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700" b="1">
                          <a:effectLst/>
                        </a:rPr>
                        <a:t>Actors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effectLst/>
                        </a:rPr>
                        <a:t>Cuiner</a:t>
                      </a: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133650"/>
                  </a:ext>
                </a:extLst>
              </a:tr>
              <a:tr h="3951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700" b="1">
                          <a:effectLst/>
                        </a:rPr>
                        <a:t>Pre-condicions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effectLst/>
                        </a:rPr>
                        <a:t>El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ha </a:t>
                      </a:r>
                      <a:r>
                        <a:rPr lang="es-ES" sz="1700" err="1">
                          <a:effectLst/>
                        </a:rPr>
                        <a:t>iniciat</a:t>
                      </a:r>
                      <a:r>
                        <a:rPr lang="es-ES" sz="1700">
                          <a:effectLst/>
                        </a:rPr>
                        <a:t> </a:t>
                      </a:r>
                      <a:r>
                        <a:rPr lang="es-ES" sz="1700" err="1">
                          <a:effectLst/>
                        </a:rPr>
                        <a:t>sessió</a:t>
                      </a:r>
                      <a:r>
                        <a:rPr lang="es-ES" sz="1700">
                          <a:effectLst/>
                        </a:rPr>
                        <a:t> al sistema (RF-02-00).</a:t>
                      </a: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202333"/>
                  </a:ext>
                </a:extLst>
              </a:tr>
              <a:tr h="14438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700" b="1">
                          <a:effectLst/>
                        </a:rPr>
                        <a:t>Flux principal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effectLst/>
                        </a:rPr>
                        <a:t>1. El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</a:t>
                      </a:r>
                      <a:r>
                        <a:rPr lang="es-ES" sz="1700" err="1">
                          <a:effectLst/>
                        </a:rPr>
                        <a:t>accedeix</a:t>
                      </a:r>
                      <a:r>
                        <a:rPr lang="es-ES" sz="1700">
                          <a:effectLst/>
                        </a:rPr>
                        <a:t> a la </a:t>
                      </a:r>
                      <a:r>
                        <a:rPr lang="es-ES" sz="1700" err="1">
                          <a:effectLst/>
                        </a:rPr>
                        <a:t>configuració</a:t>
                      </a:r>
                      <a:r>
                        <a:rPr lang="es-ES" sz="1700">
                          <a:effectLst/>
                        </a:rPr>
                        <a:t> </a:t>
                      </a:r>
                      <a:r>
                        <a:rPr lang="es-ES" sz="1700" err="1">
                          <a:effectLst/>
                        </a:rPr>
                        <a:t>d'opcions</a:t>
                      </a:r>
                      <a:r>
                        <a:rPr lang="es-ES" sz="1700">
                          <a:effectLst/>
                        </a:rPr>
                        <a:t> de </a:t>
                      </a:r>
                      <a:r>
                        <a:rPr lang="es-ES" sz="1700" err="1">
                          <a:effectLst/>
                        </a:rPr>
                        <a:t>recollida</a:t>
                      </a:r>
                      <a:r>
                        <a:rPr lang="es-ES" sz="1700">
                          <a:effectLst/>
                        </a:rPr>
                        <a:t>;</a:t>
                      </a:r>
                      <a:br>
                        <a:rPr lang="es-ES" sz="1700">
                          <a:effectLst/>
                        </a:rPr>
                      </a:br>
                      <a:r>
                        <a:rPr lang="es-ES" sz="1700">
                          <a:effectLst/>
                        </a:rPr>
                        <a:t>2. El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selecciona les </a:t>
                      </a:r>
                      <a:r>
                        <a:rPr lang="es-ES" sz="1700" err="1">
                          <a:effectLst/>
                        </a:rPr>
                        <a:t>opcions</a:t>
                      </a:r>
                      <a:r>
                        <a:rPr lang="es-ES" sz="1700">
                          <a:effectLst/>
                        </a:rPr>
                        <a:t> disponibles (repartidor /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/ </a:t>
                      </a:r>
                      <a:r>
                        <a:rPr lang="es-ES" sz="1700" err="1">
                          <a:effectLst/>
                        </a:rPr>
                        <a:t>client</a:t>
                      </a:r>
                      <a:r>
                        <a:rPr lang="es-ES" sz="1700">
                          <a:effectLst/>
                        </a:rPr>
                        <a:t>);</a:t>
                      </a:r>
                      <a:br>
                        <a:rPr lang="es-ES" sz="1700">
                          <a:effectLst/>
                        </a:rPr>
                      </a:br>
                      <a:r>
                        <a:rPr lang="es-ES" sz="1700">
                          <a:effectLst/>
                        </a:rPr>
                        <a:t>3. El sistema </a:t>
                      </a:r>
                      <a:r>
                        <a:rPr lang="es-ES" sz="1700" err="1">
                          <a:effectLst/>
                        </a:rPr>
                        <a:t>desa</a:t>
                      </a:r>
                      <a:r>
                        <a:rPr lang="es-ES" sz="1700">
                          <a:effectLst/>
                        </a:rPr>
                        <a:t> la </a:t>
                      </a:r>
                      <a:r>
                        <a:rPr lang="es-ES" sz="1700" err="1">
                          <a:effectLst/>
                        </a:rPr>
                        <a:t>configuració</a:t>
                      </a:r>
                      <a:r>
                        <a:rPr lang="es-ES" sz="1700">
                          <a:effectLst/>
                        </a:rPr>
                        <a:t>;</a:t>
                      </a:r>
                      <a:br>
                        <a:rPr lang="es-ES" sz="1700">
                          <a:effectLst/>
                        </a:rPr>
                      </a:br>
                      <a:r>
                        <a:rPr lang="es-ES" sz="1700">
                          <a:effectLst/>
                        </a:rPr>
                        <a:t>4. El sistema confirma al </a:t>
                      </a:r>
                      <a:r>
                        <a:rPr lang="es-ES" sz="1700" err="1">
                          <a:effectLst/>
                        </a:rPr>
                        <a:t>cuiner</a:t>
                      </a:r>
                      <a:r>
                        <a:rPr lang="es-ES" sz="1700">
                          <a:effectLst/>
                        </a:rPr>
                        <a:t> les </a:t>
                      </a:r>
                      <a:r>
                        <a:rPr lang="es-ES" sz="1700" err="1">
                          <a:effectLst/>
                        </a:rPr>
                        <a:t>opcions</a:t>
                      </a:r>
                      <a:r>
                        <a:rPr lang="es-ES" sz="1700">
                          <a:effectLst/>
                        </a:rPr>
                        <a:t> actives.</a:t>
                      </a: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814175"/>
                  </a:ext>
                </a:extLst>
              </a:tr>
              <a:tr h="39517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700" b="1" err="1">
                          <a:effectLst/>
                        </a:rPr>
                        <a:t>Requisits</a:t>
                      </a:r>
                      <a:r>
                        <a:rPr lang="es-ES" sz="1700" b="1">
                          <a:effectLst/>
                        </a:rPr>
                        <a:t> </a:t>
                      </a:r>
                      <a:r>
                        <a:rPr lang="es-ES" sz="1700" b="1" err="1">
                          <a:effectLst/>
                        </a:rPr>
                        <a:t>relacionats</a:t>
                      </a:r>
                      <a:endParaRPr lang="es-ES" sz="1700">
                        <a:effectLst/>
                      </a:endParaRP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effectLst/>
                        </a:rPr>
                        <a:t>RF-03-00</a:t>
                      </a:r>
                    </a:p>
                  </a:txBody>
                  <a:tcPr marL="88057" marR="88057" marT="44028" marB="440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750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71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7C415-B638-429D-A835-CCE7352B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39F3FF-0FF3-6229-46E8-06948871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6A6AB4-C994-E4D1-4979-CDE1B0A2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847" y="625683"/>
            <a:ext cx="6039885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821DB3-336B-054A-A5FA-A967926B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2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42388-55C9-CA8D-8F4E-74CF9A21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271A3D-3BFE-03BA-0015-0494D380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F09611-0276-0453-DA16-50F401AB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179CB71-8B5E-C365-A4D2-2EC1C81E1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280844"/>
              </p:ext>
            </p:extLst>
          </p:nvPr>
        </p:nvGraphicFramePr>
        <p:xfrm>
          <a:off x="1051274" y="2091095"/>
          <a:ext cx="10092918" cy="4206243"/>
        </p:xfrm>
        <a:graphic>
          <a:graphicData uri="http://schemas.openxmlformats.org/drawingml/2006/table">
            <a:tbl>
              <a:tblPr firstRow="1" bandRow="1"/>
              <a:tblGrid>
                <a:gridCol w="3164880">
                  <a:extLst>
                    <a:ext uri="{9D8B030D-6E8A-4147-A177-3AD203B41FA5}">
                      <a16:colId xmlns:a16="http://schemas.microsoft.com/office/drawing/2014/main" val="1978961589"/>
                    </a:ext>
                  </a:extLst>
                </a:gridCol>
                <a:gridCol w="6928038">
                  <a:extLst>
                    <a:ext uri="{9D8B030D-6E8A-4147-A177-3AD203B41FA5}">
                      <a16:colId xmlns:a16="http://schemas.microsoft.com/office/drawing/2014/main" val="2406226518"/>
                    </a:ext>
                  </a:extLst>
                </a:gridCol>
              </a:tblGrid>
              <a:tr h="4178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900" b="1">
                          <a:effectLst/>
                        </a:rPr>
                        <a:t>CAS D'ÚS: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 b="1" err="1">
                          <a:effectLst/>
                        </a:rPr>
                        <a:t>Veure</a:t>
                      </a:r>
                      <a:r>
                        <a:rPr lang="es-ES" sz="1900" b="1">
                          <a:effectLst/>
                        </a:rPr>
                        <a:t> </a:t>
                      </a:r>
                      <a:r>
                        <a:rPr lang="es-ES" sz="1900" b="1" err="1">
                          <a:effectLst/>
                        </a:rPr>
                        <a:t>propostes</a:t>
                      </a:r>
                      <a:r>
                        <a:rPr lang="es-ES" sz="1900" b="1">
                          <a:effectLst/>
                        </a:rPr>
                        <a:t> de </a:t>
                      </a:r>
                      <a:r>
                        <a:rPr lang="es-ES" sz="1900" b="1" err="1">
                          <a:effectLst/>
                        </a:rPr>
                        <a:t>plats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514202"/>
                  </a:ext>
                </a:extLst>
              </a:tr>
              <a:tr h="9842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900" b="1" err="1">
                          <a:effectLst/>
                        </a:rPr>
                        <a:t>Descripció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effectLst/>
                        </a:rPr>
                        <a:t>Quan el </a:t>
                      </a:r>
                      <a:r>
                        <a:rPr lang="es-ES" sz="1900" err="1">
                          <a:effectLst/>
                        </a:rPr>
                        <a:t>cuiner</a:t>
                      </a:r>
                      <a:r>
                        <a:rPr lang="es-ES" sz="1900">
                          <a:effectLst/>
                        </a:rPr>
                        <a:t> obre el menú de </a:t>
                      </a:r>
                      <a:r>
                        <a:rPr lang="es-ES" sz="1900" err="1">
                          <a:effectLst/>
                        </a:rPr>
                        <a:t>propostes</a:t>
                      </a:r>
                      <a:r>
                        <a:rPr lang="es-ES" sz="1900">
                          <a:effectLst/>
                        </a:rPr>
                        <a:t>, el sistema </a:t>
                      </a:r>
                      <a:r>
                        <a:rPr lang="es-ES" sz="1900" err="1">
                          <a:effectLst/>
                        </a:rPr>
                        <a:t>obté</a:t>
                      </a:r>
                      <a:r>
                        <a:rPr lang="es-ES" sz="1900">
                          <a:effectLst/>
                        </a:rPr>
                        <a:t> les </a:t>
                      </a:r>
                      <a:r>
                        <a:rPr lang="es-ES" sz="1900" err="1">
                          <a:effectLst/>
                        </a:rPr>
                        <a:t>propostes</a:t>
                      </a:r>
                      <a:r>
                        <a:rPr lang="es-ES" sz="1900">
                          <a:effectLst/>
                        </a:rPr>
                        <a:t> de </a:t>
                      </a:r>
                      <a:r>
                        <a:rPr lang="es-ES" sz="1900" err="1">
                          <a:effectLst/>
                        </a:rPr>
                        <a:t>plats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personalitzats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pendents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realitzades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pels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clients</a:t>
                      </a:r>
                      <a:r>
                        <a:rPr lang="es-ES" sz="1900">
                          <a:effectLst/>
                        </a:rPr>
                        <a:t> i les </a:t>
                      </a:r>
                      <a:r>
                        <a:rPr lang="es-ES" sz="1900" err="1">
                          <a:effectLst/>
                        </a:rPr>
                        <a:t>mostra</a:t>
                      </a:r>
                      <a:r>
                        <a:rPr lang="es-ES" sz="1900">
                          <a:effectLst/>
                        </a:rPr>
                        <a:t> en un </a:t>
                      </a:r>
                      <a:r>
                        <a:rPr lang="es-ES" sz="1900" err="1">
                          <a:effectLst/>
                        </a:rPr>
                        <a:t>llistat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exclusiu</a:t>
                      </a:r>
                      <a:r>
                        <a:rPr lang="es-ES" sz="1900">
                          <a:effectLst/>
                        </a:rPr>
                        <a:t> per </a:t>
                      </a:r>
                      <a:r>
                        <a:rPr lang="es-ES" sz="1900" err="1">
                          <a:effectLst/>
                        </a:rPr>
                        <a:t>als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cuiners</a:t>
                      </a:r>
                      <a:r>
                        <a:rPr lang="es-ES" sz="1900">
                          <a:effectLst/>
                        </a:rPr>
                        <a:t>.</a:t>
                      </a: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58232"/>
                  </a:ext>
                </a:extLst>
              </a:tr>
              <a:tr h="4178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900" b="1">
                          <a:effectLst/>
                        </a:rPr>
                        <a:t>Actors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 err="1">
                          <a:effectLst/>
                        </a:rPr>
                        <a:t>Cuiner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41535"/>
                  </a:ext>
                </a:extLst>
              </a:tr>
              <a:tr h="9842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900" b="1">
                          <a:effectLst/>
                        </a:rPr>
                        <a:t>Pre-condicions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effectLst/>
                        </a:rPr>
                        <a:t>El </a:t>
                      </a:r>
                      <a:r>
                        <a:rPr lang="es-ES" sz="1900" err="1">
                          <a:effectLst/>
                        </a:rPr>
                        <a:t>cuiner</a:t>
                      </a:r>
                      <a:r>
                        <a:rPr lang="es-ES" sz="1900">
                          <a:effectLst/>
                        </a:rPr>
                        <a:t> ha </a:t>
                      </a:r>
                      <a:r>
                        <a:rPr lang="es-ES" sz="1900" err="1">
                          <a:effectLst/>
                        </a:rPr>
                        <a:t>iniciat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sessió</a:t>
                      </a:r>
                      <a:r>
                        <a:rPr lang="es-ES" sz="1900">
                          <a:effectLst/>
                        </a:rPr>
                        <a:t> al sistema (RF-02-00). </a:t>
                      </a:r>
                      <a:r>
                        <a:rPr lang="es-ES" sz="1900" err="1">
                          <a:effectLst/>
                        </a:rPr>
                        <a:t>Existeixen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propostes</a:t>
                      </a:r>
                      <a:r>
                        <a:rPr lang="es-ES" sz="1900">
                          <a:effectLst/>
                        </a:rPr>
                        <a:t> de </a:t>
                      </a:r>
                      <a:r>
                        <a:rPr lang="es-ES" sz="1900" err="1">
                          <a:effectLst/>
                        </a:rPr>
                        <a:t>plats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pendents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d'acceptació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realitzades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pels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clients</a:t>
                      </a:r>
                      <a:r>
                        <a:rPr lang="es-ES" sz="1900">
                          <a:effectLst/>
                        </a:rPr>
                        <a:t> (RF-07-01).</a:t>
                      </a: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032546"/>
                  </a:ext>
                </a:extLst>
              </a:tr>
              <a:tr h="9842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900" b="1">
                          <a:effectLst/>
                        </a:rPr>
                        <a:t>Flux principal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effectLst/>
                        </a:rPr>
                        <a:t>1. El </a:t>
                      </a:r>
                      <a:r>
                        <a:rPr lang="es-ES" sz="1900" err="1">
                          <a:effectLst/>
                        </a:rPr>
                        <a:t>cuiner</a:t>
                      </a:r>
                      <a:r>
                        <a:rPr lang="es-ES" sz="1900">
                          <a:effectLst/>
                        </a:rPr>
                        <a:t> obre el menú de </a:t>
                      </a:r>
                      <a:r>
                        <a:rPr lang="es-ES" sz="1900" err="1">
                          <a:effectLst/>
                        </a:rPr>
                        <a:t>propostes</a:t>
                      </a:r>
                      <a:r>
                        <a:rPr lang="es-ES" sz="1900">
                          <a:effectLst/>
                        </a:rPr>
                        <a:t> de </a:t>
                      </a:r>
                      <a:r>
                        <a:rPr lang="es-ES" sz="1900" err="1">
                          <a:effectLst/>
                        </a:rPr>
                        <a:t>plats</a:t>
                      </a:r>
                      <a:r>
                        <a:rPr lang="es-ES" sz="1900">
                          <a:effectLst/>
                        </a:rPr>
                        <a:t>;</a:t>
                      </a:r>
                      <a:br>
                        <a:rPr lang="es-ES" sz="1900">
                          <a:effectLst/>
                        </a:rPr>
                      </a:br>
                      <a:r>
                        <a:rPr lang="es-ES" sz="1900">
                          <a:effectLst/>
                        </a:rPr>
                        <a:t>2. El sistema </a:t>
                      </a:r>
                      <a:r>
                        <a:rPr lang="es-ES" sz="1900" err="1">
                          <a:effectLst/>
                        </a:rPr>
                        <a:t>obté</a:t>
                      </a:r>
                      <a:r>
                        <a:rPr lang="es-ES" sz="1900">
                          <a:effectLst/>
                        </a:rPr>
                        <a:t> les </a:t>
                      </a:r>
                      <a:r>
                        <a:rPr lang="es-ES" sz="1900" err="1">
                          <a:effectLst/>
                        </a:rPr>
                        <a:t>propostes</a:t>
                      </a:r>
                      <a:r>
                        <a:rPr lang="es-ES" sz="1900">
                          <a:effectLst/>
                        </a:rPr>
                        <a:t> </a:t>
                      </a:r>
                      <a:r>
                        <a:rPr lang="es-ES" sz="1900" err="1">
                          <a:effectLst/>
                        </a:rPr>
                        <a:t>pendents</a:t>
                      </a:r>
                      <a:r>
                        <a:rPr lang="es-ES" sz="1900">
                          <a:effectLst/>
                        </a:rPr>
                        <a:t>;</a:t>
                      </a:r>
                      <a:br>
                        <a:rPr lang="es-ES" sz="1900">
                          <a:effectLst/>
                        </a:rPr>
                      </a:br>
                      <a:r>
                        <a:rPr lang="es-ES" sz="1900">
                          <a:effectLst/>
                        </a:rPr>
                        <a:t>3. El sistema </a:t>
                      </a:r>
                      <a:r>
                        <a:rPr lang="es-ES" sz="1900" err="1">
                          <a:effectLst/>
                        </a:rPr>
                        <a:t>mostra</a:t>
                      </a:r>
                      <a:r>
                        <a:rPr lang="es-ES" sz="1900">
                          <a:effectLst/>
                        </a:rPr>
                        <a:t> al </a:t>
                      </a:r>
                      <a:r>
                        <a:rPr lang="es-ES" sz="1900" err="1">
                          <a:effectLst/>
                        </a:rPr>
                        <a:t>cuiner</a:t>
                      </a:r>
                      <a:r>
                        <a:rPr lang="es-ES" sz="1900">
                          <a:effectLst/>
                        </a:rPr>
                        <a:t> el </a:t>
                      </a:r>
                      <a:r>
                        <a:rPr lang="es-ES" sz="1900" err="1">
                          <a:effectLst/>
                        </a:rPr>
                        <a:t>llistat</a:t>
                      </a:r>
                      <a:r>
                        <a:rPr lang="es-ES" sz="1900">
                          <a:effectLst/>
                        </a:rPr>
                        <a:t> de </a:t>
                      </a:r>
                      <a:r>
                        <a:rPr lang="es-ES" sz="1900" err="1">
                          <a:effectLst/>
                        </a:rPr>
                        <a:t>propostes</a:t>
                      </a:r>
                      <a:r>
                        <a:rPr lang="es-ES" sz="1900">
                          <a:effectLst/>
                        </a:rPr>
                        <a:t>.</a:t>
                      </a: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70221"/>
                  </a:ext>
                </a:extLst>
              </a:tr>
              <a:tr h="4178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900" b="1" err="1">
                          <a:effectLst/>
                        </a:rPr>
                        <a:t>Requisits</a:t>
                      </a:r>
                      <a:r>
                        <a:rPr lang="es-ES" sz="1900" b="1">
                          <a:effectLst/>
                        </a:rPr>
                        <a:t> </a:t>
                      </a:r>
                      <a:r>
                        <a:rPr lang="es-ES" sz="1900" b="1" err="1">
                          <a:effectLst/>
                        </a:rPr>
                        <a:t>relacionats</a:t>
                      </a:r>
                      <a:endParaRPr lang="es-ES" sz="1900">
                        <a:effectLst/>
                      </a:endParaRP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900">
                          <a:effectLst/>
                        </a:rPr>
                        <a:t>RF-07-00, RF-07-01, RF-07-03</a:t>
                      </a:r>
                    </a:p>
                  </a:txBody>
                  <a:tcPr marL="96968" marR="96968" marT="48483" marB="484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763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08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D9754-873B-961C-DF9A-B84AD1BA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34C151-A493-E4C8-BD33-530F0D77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0782D4-E35B-A43A-95A0-56C8A0989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286" y="625683"/>
            <a:ext cx="6713006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93092-A445-74AE-61F7-82AB651E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6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71149D3-5A1C-F739-4786-EBCDF68DC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32811"/>
              </p:ext>
            </p:extLst>
          </p:nvPr>
        </p:nvGraphicFramePr>
        <p:xfrm>
          <a:off x="549058" y="2331095"/>
          <a:ext cx="11097350" cy="3726243"/>
        </p:xfrm>
        <a:graphic>
          <a:graphicData uri="http://schemas.openxmlformats.org/drawingml/2006/table">
            <a:tbl>
              <a:tblPr firstRow="1" bandRow="1"/>
              <a:tblGrid>
                <a:gridCol w="3274059">
                  <a:extLst>
                    <a:ext uri="{9D8B030D-6E8A-4147-A177-3AD203B41FA5}">
                      <a16:colId xmlns:a16="http://schemas.microsoft.com/office/drawing/2014/main" val="602828271"/>
                    </a:ext>
                  </a:extLst>
                </a:gridCol>
                <a:gridCol w="7823291">
                  <a:extLst>
                    <a:ext uri="{9D8B030D-6E8A-4147-A177-3AD203B41FA5}">
                      <a16:colId xmlns:a16="http://schemas.microsoft.com/office/drawing/2014/main" val="3040600619"/>
                    </a:ext>
                  </a:extLst>
                </a:gridCol>
              </a:tblGrid>
              <a:tr h="3523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CAS D'ÚS: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err="1">
                          <a:effectLst/>
                        </a:rPr>
                        <a:t>Acceptar</a:t>
                      </a:r>
                      <a:r>
                        <a:rPr lang="es-ES" sz="1500" b="1">
                          <a:effectLst/>
                        </a:rPr>
                        <a:t> </a:t>
                      </a:r>
                      <a:r>
                        <a:rPr lang="es-ES" sz="1500" b="1" err="1">
                          <a:effectLst/>
                        </a:rPr>
                        <a:t>proposta</a:t>
                      </a:r>
                      <a:r>
                        <a:rPr lang="es-ES" sz="1500" b="1">
                          <a:effectLst/>
                        </a:rPr>
                        <a:t> de </a:t>
                      </a:r>
                      <a:r>
                        <a:rPr lang="es-ES" sz="1500" b="1" err="1">
                          <a:effectLst/>
                        </a:rPr>
                        <a:t>plat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389303"/>
                  </a:ext>
                </a:extLst>
              </a:tr>
              <a:tr h="8129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Descripció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Quan el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 selecciona una </a:t>
                      </a:r>
                      <a:r>
                        <a:rPr lang="es-ES" sz="1500" err="1">
                          <a:effectLst/>
                        </a:rPr>
                        <a:t>proposta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plat</a:t>
                      </a:r>
                      <a:r>
                        <a:rPr lang="es-ES" sz="1500">
                          <a:effectLst/>
                        </a:rPr>
                        <a:t> i confirma </a:t>
                      </a:r>
                      <a:r>
                        <a:rPr lang="es-ES" sz="1500" err="1">
                          <a:effectLst/>
                        </a:rPr>
                        <a:t>l'acceptació</a:t>
                      </a:r>
                      <a:r>
                        <a:rPr lang="es-ES" sz="1500">
                          <a:effectLst/>
                        </a:rPr>
                        <a:t>, el sistema marca la </a:t>
                      </a:r>
                      <a:r>
                        <a:rPr lang="es-ES" sz="1500" err="1">
                          <a:effectLst/>
                        </a:rPr>
                        <a:t>proposta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com</a:t>
                      </a:r>
                      <a:r>
                        <a:rPr lang="es-ES" sz="1500">
                          <a:effectLst/>
                        </a:rPr>
                        <a:t> a </a:t>
                      </a:r>
                      <a:r>
                        <a:rPr lang="es-ES" sz="1500" err="1">
                          <a:effectLst/>
                        </a:rPr>
                        <a:t>acceptada</a:t>
                      </a:r>
                      <a:r>
                        <a:rPr lang="es-ES" sz="1500">
                          <a:effectLst/>
                        </a:rPr>
                        <a:t> i notifica al </a:t>
                      </a:r>
                      <a:r>
                        <a:rPr lang="es-ES" sz="1500" err="1">
                          <a:effectLst/>
                        </a:rPr>
                        <a:t>client</a:t>
                      </a:r>
                      <a:r>
                        <a:rPr lang="es-ES" sz="1500">
                          <a:effectLst/>
                        </a:rPr>
                        <a:t>. A partir </a:t>
                      </a:r>
                      <a:r>
                        <a:rPr lang="es-ES" sz="1500" err="1">
                          <a:effectLst/>
                        </a:rPr>
                        <a:t>d'aquest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moment</a:t>
                      </a:r>
                      <a:r>
                        <a:rPr lang="es-ES" sz="1500">
                          <a:effectLst/>
                        </a:rPr>
                        <a:t> es </a:t>
                      </a:r>
                      <a:r>
                        <a:rPr lang="es-ES" sz="1500" err="1">
                          <a:effectLst/>
                        </a:rPr>
                        <a:t>pot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obrir</a:t>
                      </a:r>
                      <a:r>
                        <a:rPr lang="es-ES" sz="1500">
                          <a:effectLst/>
                        </a:rPr>
                        <a:t> un </a:t>
                      </a:r>
                      <a:r>
                        <a:rPr lang="es-ES" sz="1500" err="1">
                          <a:effectLst/>
                        </a:rPr>
                        <a:t>xat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privat</a:t>
                      </a:r>
                      <a:r>
                        <a:rPr lang="es-ES" sz="1500">
                          <a:effectLst/>
                        </a:rPr>
                        <a:t> entre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 i </a:t>
                      </a:r>
                      <a:r>
                        <a:rPr lang="es-ES" sz="1500" err="1">
                          <a:effectLst/>
                        </a:rPr>
                        <a:t>client</a:t>
                      </a:r>
                      <a:r>
                        <a:rPr lang="es-ES" sz="1500">
                          <a:effectLst/>
                        </a:rPr>
                        <a:t> per coordinar la </a:t>
                      </a:r>
                      <a:r>
                        <a:rPr lang="es-ES" sz="1500" err="1">
                          <a:effectLst/>
                        </a:rPr>
                        <a:t>preparació</a:t>
                      </a:r>
                      <a:r>
                        <a:rPr lang="es-ES" sz="1500">
                          <a:effectLst/>
                        </a:rPr>
                        <a:t> de la comanda.</a:t>
                      </a: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28121"/>
                  </a:ext>
                </a:extLst>
              </a:tr>
              <a:tr h="3523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Actors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Cuiner, Client (secundari — rep la notificació)</a:t>
                      </a: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483502"/>
                  </a:ext>
                </a:extLst>
              </a:tr>
              <a:tr h="58265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Pre-condicions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El cuiner ha iniciat sessió al sistema (RF-02-00). Hi ha almenys una proposta de plat pendent d'acceptació (RF-07-01).</a:t>
                      </a: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157901"/>
                  </a:ext>
                </a:extLst>
              </a:tr>
              <a:tr h="127356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Flux principal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1. El cuiner selecciona una proposta de plat del llistat;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2. El cuiner confirma l'acceptació;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3. El sistema marca la proposta com a acceptada;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4. El sistema notifica al client l'acceptació;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5. El sistema confirma al cuiner que la proposta s'ha acceptat.</a:t>
                      </a: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984847"/>
                  </a:ext>
                </a:extLst>
              </a:tr>
              <a:tr h="35235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 err="1">
                          <a:effectLst/>
                        </a:rPr>
                        <a:t>Requisits</a:t>
                      </a:r>
                      <a:r>
                        <a:rPr lang="es-ES" sz="1500" b="1">
                          <a:effectLst/>
                        </a:rPr>
                        <a:t> </a:t>
                      </a:r>
                      <a:r>
                        <a:rPr lang="es-ES" sz="1500" b="1" err="1">
                          <a:effectLst/>
                        </a:rPr>
                        <a:t>relacionats</a:t>
                      </a:r>
                      <a:endParaRPr lang="es-ES" sz="1500">
                        <a:effectLst/>
                      </a:endParaRP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RF-07-00, RF-07-01, RF-07-04</a:t>
                      </a:r>
                    </a:p>
                  </a:txBody>
                  <a:tcPr marL="79531" marR="79531" marT="39766" marB="397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069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5A161C-79F2-DD1F-1A3B-9EF1ADE0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54E6B0-3FB8-5C09-2BA3-7682D310A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020" y="625683"/>
            <a:ext cx="6045539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B34AC-4F8F-5A58-BA68-87104D18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7389D7-3F4F-72D6-EBF6-848C4F43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5FE369-534A-A8A2-BCFA-733A0653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8CBFCD8-4DEA-7B94-D85A-EF1E84F40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38764"/>
              </p:ext>
            </p:extLst>
          </p:nvPr>
        </p:nvGraphicFramePr>
        <p:xfrm>
          <a:off x="1369420" y="2091095"/>
          <a:ext cx="9456626" cy="4206242"/>
        </p:xfrm>
        <a:graphic>
          <a:graphicData uri="http://schemas.openxmlformats.org/drawingml/2006/table">
            <a:tbl>
              <a:tblPr firstRow="1" bandRow="1"/>
              <a:tblGrid>
                <a:gridCol w="2669506">
                  <a:extLst>
                    <a:ext uri="{9D8B030D-6E8A-4147-A177-3AD203B41FA5}">
                      <a16:colId xmlns:a16="http://schemas.microsoft.com/office/drawing/2014/main" val="2911134057"/>
                    </a:ext>
                  </a:extLst>
                </a:gridCol>
                <a:gridCol w="6787120">
                  <a:extLst>
                    <a:ext uri="{9D8B030D-6E8A-4147-A177-3AD203B41FA5}">
                      <a16:colId xmlns:a16="http://schemas.microsoft.com/office/drawing/2014/main" val="460128881"/>
                    </a:ext>
                  </a:extLst>
                </a:gridCol>
              </a:tblGrid>
              <a:tr h="370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600" b="1">
                          <a:effectLst/>
                        </a:rPr>
                        <a:t>CAS D'ÚS: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>
                          <a:effectLst/>
                        </a:rPr>
                        <a:t>Parlar </a:t>
                      </a:r>
                      <a:r>
                        <a:rPr lang="es-ES" sz="1600" b="1" err="1">
                          <a:effectLst/>
                        </a:rPr>
                        <a:t>amb</a:t>
                      </a:r>
                      <a:r>
                        <a:rPr lang="es-ES" sz="1600" b="1">
                          <a:effectLst/>
                        </a:rPr>
                        <a:t> el </a:t>
                      </a:r>
                      <a:r>
                        <a:rPr lang="es-ES" sz="1600" b="1" err="1">
                          <a:effectLst/>
                        </a:rPr>
                        <a:t>client</a:t>
                      </a:r>
                      <a:r>
                        <a:rPr lang="es-ES" sz="1600" b="1">
                          <a:effectLst/>
                        </a:rPr>
                        <a:t> per </a:t>
                      </a:r>
                      <a:r>
                        <a:rPr lang="es-ES" sz="1600" b="1" err="1">
                          <a:effectLst/>
                        </a:rPr>
                        <a:t>xat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731535"/>
                  </a:ext>
                </a:extLst>
              </a:tr>
              <a:tr h="11144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600" b="1" err="1">
                          <a:effectLst/>
                        </a:rPr>
                        <a:t>Descripció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effectLst/>
                        </a:rPr>
                        <a:t>Quan el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 obre el </a:t>
                      </a:r>
                      <a:r>
                        <a:rPr lang="es-ES" sz="1600" err="1">
                          <a:effectLst/>
                        </a:rPr>
                        <a:t>xat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d'una</a:t>
                      </a:r>
                      <a:r>
                        <a:rPr lang="es-ES" sz="1600">
                          <a:effectLst/>
                        </a:rPr>
                        <a:t> comanda </a:t>
                      </a:r>
                      <a:r>
                        <a:rPr lang="es-ES" sz="1600" err="1">
                          <a:effectLst/>
                        </a:rPr>
                        <a:t>amb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proposta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acceptada</a:t>
                      </a:r>
                      <a:r>
                        <a:rPr lang="es-ES" sz="1600">
                          <a:effectLst/>
                        </a:rPr>
                        <a:t>, </a:t>
                      </a:r>
                      <a:r>
                        <a:rPr lang="es-ES" sz="1600" err="1">
                          <a:effectLst/>
                        </a:rPr>
                        <a:t>pot</a:t>
                      </a:r>
                      <a:r>
                        <a:rPr lang="es-ES" sz="1600">
                          <a:effectLst/>
                        </a:rPr>
                        <a:t> enviar </a:t>
                      </a:r>
                      <a:r>
                        <a:rPr lang="es-ES" sz="1600" err="1">
                          <a:effectLst/>
                        </a:rPr>
                        <a:t>missatges</a:t>
                      </a:r>
                      <a:r>
                        <a:rPr lang="es-ES" sz="1600">
                          <a:effectLst/>
                        </a:rPr>
                        <a:t> al </a:t>
                      </a:r>
                      <a:r>
                        <a:rPr lang="es-ES" sz="1600" err="1">
                          <a:effectLst/>
                        </a:rPr>
                        <a:t>client</a:t>
                      </a:r>
                      <a:r>
                        <a:rPr lang="es-ES" sz="1600">
                          <a:effectLst/>
                        </a:rPr>
                        <a:t> per coordinar </a:t>
                      </a:r>
                      <a:r>
                        <a:rPr lang="es-ES" sz="1600" err="1">
                          <a:effectLst/>
                        </a:rPr>
                        <a:t>detalls</a:t>
                      </a:r>
                      <a:r>
                        <a:rPr lang="es-ES" sz="1600">
                          <a:effectLst/>
                        </a:rPr>
                        <a:t> de la </a:t>
                      </a:r>
                      <a:r>
                        <a:rPr lang="es-ES" sz="1600" err="1">
                          <a:effectLst/>
                        </a:rPr>
                        <a:t>preparació</a:t>
                      </a:r>
                      <a:r>
                        <a:rPr lang="es-ES" sz="1600">
                          <a:effectLst/>
                        </a:rPr>
                        <a:t>. El sistema </a:t>
                      </a:r>
                      <a:r>
                        <a:rPr lang="es-ES" sz="1600" err="1">
                          <a:effectLst/>
                        </a:rPr>
                        <a:t>lliura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els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missatges</a:t>
                      </a:r>
                      <a:r>
                        <a:rPr lang="es-ES" sz="1600">
                          <a:effectLst/>
                        </a:rPr>
                        <a:t> al </a:t>
                      </a:r>
                      <a:r>
                        <a:rPr lang="es-ES" sz="1600" err="1">
                          <a:effectLst/>
                        </a:rPr>
                        <a:t>client</a:t>
                      </a:r>
                      <a:r>
                        <a:rPr lang="es-ES" sz="1600">
                          <a:effectLst/>
                        </a:rPr>
                        <a:t> i </a:t>
                      </a:r>
                      <a:r>
                        <a:rPr lang="es-ES" sz="1600" err="1">
                          <a:effectLst/>
                        </a:rPr>
                        <a:t>mostra</a:t>
                      </a:r>
                      <a:r>
                        <a:rPr lang="es-ES" sz="1600">
                          <a:effectLst/>
                        </a:rPr>
                        <a:t> les </a:t>
                      </a:r>
                      <a:r>
                        <a:rPr lang="es-ES" sz="1600" err="1">
                          <a:effectLst/>
                        </a:rPr>
                        <a:t>seves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respostes</a:t>
                      </a:r>
                      <a:r>
                        <a:rPr lang="es-ES" sz="1600">
                          <a:effectLst/>
                        </a:rPr>
                        <a:t> al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.</a:t>
                      </a: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801158"/>
                  </a:ext>
                </a:extLst>
              </a:tr>
              <a:tr h="370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600" b="1">
                          <a:effectLst/>
                        </a:rPr>
                        <a:t>Actors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, Client</a:t>
                      </a: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00994"/>
                  </a:ext>
                </a:extLst>
              </a:tr>
              <a:tr h="6183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600" b="1">
                          <a:effectLst/>
                        </a:rPr>
                        <a:t>Pre-condicions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effectLst/>
                        </a:rPr>
                        <a:t>El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 ha </a:t>
                      </a:r>
                      <a:r>
                        <a:rPr lang="es-ES" sz="1600" err="1">
                          <a:effectLst/>
                        </a:rPr>
                        <a:t>iniciat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sessió</a:t>
                      </a:r>
                      <a:r>
                        <a:rPr lang="es-ES" sz="1600">
                          <a:effectLst/>
                        </a:rPr>
                        <a:t> al sistema (RF-02-00). El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 ha </a:t>
                      </a:r>
                      <a:r>
                        <a:rPr lang="es-ES" sz="1600" err="1">
                          <a:effectLst/>
                        </a:rPr>
                        <a:t>acceptat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prèviament</a:t>
                      </a:r>
                      <a:r>
                        <a:rPr lang="es-ES" sz="1600">
                          <a:effectLst/>
                        </a:rPr>
                        <a:t> una </a:t>
                      </a:r>
                      <a:r>
                        <a:rPr lang="es-ES" sz="1600" err="1">
                          <a:effectLst/>
                        </a:rPr>
                        <a:t>proposta</a:t>
                      </a:r>
                      <a:r>
                        <a:rPr lang="es-ES" sz="1600">
                          <a:effectLst/>
                        </a:rPr>
                        <a:t> de </a:t>
                      </a:r>
                      <a:r>
                        <a:rPr lang="es-ES" sz="1600" err="1">
                          <a:effectLst/>
                        </a:rPr>
                        <a:t>plat</a:t>
                      </a:r>
                      <a:r>
                        <a:rPr lang="es-ES" sz="1600">
                          <a:effectLst/>
                        </a:rPr>
                        <a:t> del </a:t>
                      </a:r>
                      <a:r>
                        <a:rPr lang="es-ES" sz="1600" err="1">
                          <a:effectLst/>
                        </a:rPr>
                        <a:t>client</a:t>
                      </a:r>
                      <a:r>
                        <a:rPr lang="es-ES" sz="1600">
                          <a:effectLst/>
                        </a:rPr>
                        <a:t> (RF-07-04).</a:t>
                      </a: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792021"/>
                  </a:ext>
                </a:extLst>
              </a:tr>
              <a:tr h="136255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600" b="1">
                          <a:effectLst/>
                        </a:rPr>
                        <a:t>Flux principal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effectLst/>
                        </a:rPr>
                        <a:t>1. El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 obre el </a:t>
                      </a:r>
                      <a:r>
                        <a:rPr lang="es-ES" sz="1600" err="1">
                          <a:effectLst/>
                        </a:rPr>
                        <a:t>xat</a:t>
                      </a:r>
                      <a:r>
                        <a:rPr lang="es-ES" sz="1600">
                          <a:effectLst/>
                        </a:rPr>
                        <a:t> de la comanda;</a:t>
                      </a:r>
                      <a:br>
                        <a:rPr lang="es-ES" sz="1600">
                          <a:effectLst/>
                        </a:rPr>
                      </a:br>
                      <a:r>
                        <a:rPr lang="es-ES" sz="1600">
                          <a:effectLst/>
                        </a:rPr>
                        <a:t>2. El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envia</a:t>
                      </a:r>
                      <a:r>
                        <a:rPr lang="es-ES" sz="1600">
                          <a:effectLst/>
                        </a:rPr>
                        <a:t> un </a:t>
                      </a:r>
                      <a:r>
                        <a:rPr lang="es-ES" sz="1600" err="1">
                          <a:effectLst/>
                        </a:rPr>
                        <a:t>missatge</a:t>
                      </a:r>
                      <a:r>
                        <a:rPr lang="es-ES" sz="1600">
                          <a:effectLst/>
                        </a:rPr>
                        <a:t>;</a:t>
                      </a:r>
                      <a:br>
                        <a:rPr lang="es-ES" sz="1600">
                          <a:effectLst/>
                        </a:rPr>
                      </a:br>
                      <a:r>
                        <a:rPr lang="es-ES" sz="1600">
                          <a:effectLst/>
                        </a:rPr>
                        <a:t>3. El sistema </a:t>
                      </a:r>
                      <a:r>
                        <a:rPr lang="es-ES" sz="1600" err="1">
                          <a:effectLst/>
                        </a:rPr>
                        <a:t>lliura</a:t>
                      </a:r>
                      <a:r>
                        <a:rPr lang="es-ES" sz="1600">
                          <a:effectLst/>
                        </a:rPr>
                        <a:t> el </a:t>
                      </a:r>
                      <a:r>
                        <a:rPr lang="es-ES" sz="1600" err="1">
                          <a:effectLst/>
                        </a:rPr>
                        <a:t>missatge</a:t>
                      </a:r>
                      <a:r>
                        <a:rPr lang="es-ES" sz="1600">
                          <a:effectLst/>
                        </a:rPr>
                        <a:t> al </a:t>
                      </a:r>
                      <a:r>
                        <a:rPr lang="es-ES" sz="1600" err="1">
                          <a:effectLst/>
                        </a:rPr>
                        <a:t>client</a:t>
                      </a:r>
                      <a:r>
                        <a:rPr lang="es-ES" sz="1600">
                          <a:effectLst/>
                        </a:rPr>
                        <a:t>;</a:t>
                      </a:r>
                      <a:br>
                        <a:rPr lang="es-ES" sz="1600">
                          <a:effectLst/>
                        </a:rPr>
                      </a:br>
                      <a:r>
                        <a:rPr lang="es-ES" sz="1600">
                          <a:effectLst/>
                        </a:rPr>
                        <a:t>4. El </a:t>
                      </a:r>
                      <a:r>
                        <a:rPr lang="es-ES" sz="1600" err="1">
                          <a:effectLst/>
                        </a:rPr>
                        <a:t>client</a:t>
                      </a:r>
                      <a:r>
                        <a:rPr lang="es-ES" sz="1600">
                          <a:effectLst/>
                        </a:rPr>
                        <a:t> </a:t>
                      </a:r>
                      <a:r>
                        <a:rPr lang="es-ES" sz="1600" err="1">
                          <a:effectLst/>
                        </a:rPr>
                        <a:t>respon</a:t>
                      </a:r>
                      <a:r>
                        <a:rPr lang="es-ES" sz="1600">
                          <a:effectLst/>
                        </a:rPr>
                        <a:t> al </a:t>
                      </a:r>
                      <a:r>
                        <a:rPr lang="es-ES" sz="1600" err="1">
                          <a:effectLst/>
                        </a:rPr>
                        <a:t>missatge</a:t>
                      </a:r>
                      <a:r>
                        <a:rPr lang="es-ES" sz="1600">
                          <a:effectLst/>
                        </a:rPr>
                        <a:t>;</a:t>
                      </a:r>
                      <a:br>
                        <a:rPr lang="es-ES" sz="1600">
                          <a:effectLst/>
                        </a:rPr>
                      </a:br>
                      <a:r>
                        <a:rPr lang="es-ES" sz="1600">
                          <a:effectLst/>
                        </a:rPr>
                        <a:t>5. El sistema </a:t>
                      </a:r>
                      <a:r>
                        <a:rPr lang="es-ES" sz="1600" err="1">
                          <a:effectLst/>
                        </a:rPr>
                        <a:t>mostra</a:t>
                      </a:r>
                      <a:r>
                        <a:rPr lang="es-ES" sz="1600">
                          <a:effectLst/>
                        </a:rPr>
                        <a:t> la </a:t>
                      </a:r>
                      <a:r>
                        <a:rPr lang="es-ES" sz="1600" err="1">
                          <a:effectLst/>
                        </a:rPr>
                        <a:t>resposta</a:t>
                      </a:r>
                      <a:r>
                        <a:rPr lang="es-ES" sz="1600">
                          <a:effectLst/>
                        </a:rPr>
                        <a:t> al </a:t>
                      </a:r>
                      <a:r>
                        <a:rPr lang="es-ES" sz="1600" err="1">
                          <a:effectLst/>
                        </a:rPr>
                        <a:t>cuiner</a:t>
                      </a:r>
                      <a:r>
                        <a:rPr lang="es-ES" sz="1600">
                          <a:effectLst/>
                        </a:rPr>
                        <a:t>.</a:t>
                      </a: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418471"/>
                  </a:ext>
                </a:extLst>
              </a:tr>
              <a:tr h="370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600" b="1" err="1">
                          <a:effectLst/>
                        </a:rPr>
                        <a:t>Requisits</a:t>
                      </a:r>
                      <a:r>
                        <a:rPr lang="es-ES" sz="1600" b="1">
                          <a:effectLst/>
                        </a:rPr>
                        <a:t> </a:t>
                      </a:r>
                      <a:r>
                        <a:rPr lang="es-ES" sz="1600" b="1" err="1">
                          <a:effectLst/>
                        </a:rPr>
                        <a:t>relacionats</a:t>
                      </a:r>
                      <a:endParaRPr lang="es-ES" sz="1600">
                        <a:effectLst/>
                      </a:endParaRP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effectLst/>
                        </a:rPr>
                        <a:t>RF-07-00, RF-07-04</a:t>
                      </a:r>
                    </a:p>
                  </a:txBody>
                  <a:tcPr marL="85000" marR="85000" marT="42501" marB="42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0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06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E6DA1-6352-8A2E-C9E7-4627259F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1B52C3-ABFC-7E91-782E-ED0518FE7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062E18-E2FF-8C35-F562-1092B1A45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41" y="625683"/>
            <a:ext cx="5500096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D5156-16A6-ADE6-3A86-568A1266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49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D0A86-893C-90D1-1F78-81E4B2A0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DAA09E-DE91-15BF-0CAB-1A52289B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Diagrames de Seqüencia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EBC51-B940-1269-1AE7-DDA9DFC1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AB578F3-CFBC-513B-7607-950E0B2E3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13039"/>
              </p:ext>
            </p:extLst>
          </p:nvPr>
        </p:nvGraphicFramePr>
        <p:xfrm>
          <a:off x="549058" y="2207637"/>
          <a:ext cx="11097350" cy="3973156"/>
        </p:xfrm>
        <a:graphic>
          <a:graphicData uri="http://schemas.openxmlformats.org/drawingml/2006/table">
            <a:tbl>
              <a:tblPr firstRow="1" bandRow="1"/>
              <a:tblGrid>
                <a:gridCol w="2201527">
                  <a:extLst>
                    <a:ext uri="{9D8B030D-6E8A-4147-A177-3AD203B41FA5}">
                      <a16:colId xmlns:a16="http://schemas.microsoft.com/office/drawing/2014/main" val="1437850818"/>
                    </a:ext>
                  </a:extLst>
                </a:gridCol>
                <a:gridCol w="8895823">
                  <a:extLst>
                    <a:ext uri="{9D8B030D-6E8A-4147-A177-3AD203B41FA5}">
                      <a16:colId xmlns:a16="http://schemas.microsoft.com/office/drawing/2014/main" val="3659122288"/>
                    </a:ext>
                  </a:extLst>
                </a:gridCol>
              </a:tblGrid>
              <a:tr h="36047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CAS D'ÚS: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err="1">
                          <a:effectLst/>
                        </a:rPr>
                        <a:t>Rebre</a:t>
                      </a:r>
                      <a:r>
                        <a:rPr lang="es-ES" sz="1500" b="1">
                          <a:effectLst/>
                        </a:rPr>
                        <a:t> </a:t>
                      </a:r>
                      <a:r>
                        <a:rPr lang="es-ES" sz="1500" b="1" err="1">
                          <a:effectLst/>
                        </a:rPr>
                        <a:t>diners</a:t>
                      </a:r>
                      <a:r>
                        <a:rPr lang="es-ES" sz="1500" b="1">
                          <a:effectLst/>
                        </a:rPr>
                        <a:t> al </a:t>
                      </a:r>
                      <a:r>
                        <a:rPr lang="es-ES" sz="1500" b="1" err="1">
                          <a:effectLst/>
                        </a:rPr>
                        <a:t>compte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78670"/>
                  </a:ext>
                </a:extLst>
              </a:tr>
              <a:tr h="81305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 err="1">
                          <a:effectLst/>
                        </a:rPr>
                        <a:t>Descripció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Quan un </a:t>
                      </a:r>
                      <a:r>
                        <a:rPr lang="es-ES" sz="1500" err="1">
                          <a:effectLst/>
                        </a:rPr>
                        <a:t>client</a:t>
                      </a:r>
                      <a:r>
                        <a:rPr lang="es-ES" sz="1500">
                          <a:effectLst/>
                        </a:rPr>
                        <a:t> paga una comanda, el sistema confirma la </a:t>
                      </a:r>
                      <a:r>
                        <a:rPr lang="es-ES" sz="1500" err="1">
                          <a:effectLst/>
                        </a:rPr>
                        <a:t>transacció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amb</a:t>
                      </a:r>
                      <a:r>
                        <a:rPr lang="es-ES" sz="1500">
                          <a:effectLst/>
                        </a:rPr>
                        <a:t> la </a:t>
                      </a:r>
                      <a:r>
                        <a:rPr lang="es-ES" sz="1500" err="1">
                          <a:effectLst/>
                        </a:rPr>
                        <a:t>passarel·la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externa i </a:t>
                      </a:r>
                      <a:r>
                        <a:rPr lang="es-ES" sz="1500" err="1">
                          <a:effectLst/>
                        </a:rPr>
                        <a:t>ingressa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automàticament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l'import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corresponent</a:t>
                      </a:r>
                      <a:r>
                        <a:rPr lang="es-ES" sz="1500">
                          <a:effectLst/>
                        </a:rPr>
                        <a:t> al </a:t>
                      </a:r>
                      <a:r>
                        <a:rPr lang="es-ES" sz="1500" err="1">
                          <a:effectLst/>
                        </a:rPr>
                        <a:t>compte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bancari</a:t>
                      </a:r>
                      <a:r>
                        <a:rPr lang="es-ES" sz="1500">
                          <a:effectLst/>
                        </a:rPr>
                        <a:t> del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. El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rep</a:t>
                      </a:r>
                      <a:r>
                        <a:rPr lang="es-ES" sz="1500">
                          <a:effectLst/>
                        </a:rPr>
                        <a:t> una </a:t>
                      </a:r>
                      <a:r>
                        <a:rPr lang="es-ES" sz="1500" err="1">
                          <a:effectLst/>
                        </a:rPr>
                        <a:t>notificació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confirmant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l'ingrés</a:t>
                      </a:r>
                      <a:r>
                        <a:rPr lang="es-ES" sz="1500">
                          <a:effectLst/>
                        </a:rPr>
                        <a:t>.</a:t>
                      </a: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750525"/>
                  </a:ext>
                </a:extLst>
              </a:tr>
              <a:tr h="36047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Actors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 (</a:t>
                      </a:r>
                      <a:r>
                        <a:rPr lang="es-ES" sz="1500" err="1">
                          <a:effectLst/>
                        </a:rPr>
                        <a:t>beneficiari</a:t>
                      </a:r>
                      <a:r>
                        <a:rPr lang="es-ES" sz="1500">
                          <a:effectLst/>
                        </a:rPr>
                        <a:t>), Client (inicia el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), </a:t>
                      </a:r>
                      <a:r>
                        <a:rPr lang="es-ES" sz="1500" err="1">
                          <a:effectLst/>
                        </a:rPr>
                        <a:t>Passarel·la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(sistema </a:t>
                      </a:r>
                      <a:r>
                        <a:rPr lang="es-ES" sz="1500" err="1">
                          <a:effectLst/>
                        </a:rPr>
                        <a:t>extern</a:t>
                      </a:r>
                      <a:r>
                        <a:rPr lang="es-ES" sz="1500">
                          <a:effectLst/>
                        </a:rPr>
                        <a:t>)</a:t>
                      </a: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725432"/>
                  </a:ext>
                </a:extLst>
              </a:tr>
              <a:tr h="81305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Pre-</a:t>
                      </a:r>
                      <a:r>
                        <a:rPr lang="es-ES" sz="1500" b="1" err="1">
                          <a:effectLst/>
                        </a:rPr>
                        <a:t>condicions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El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 té un </a:t>
                      </a:r>
                      <a:r>
                        <a:rPr lang="es-ES" sz="1500" err="1">
                          <a:effectLst/>
                        </a:rPr>
                        <a:t>compte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bancari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associat</a:t>
                      </a:r>
                      <a:r>
                        <a:rPr lang="es-ES" sz="1500">
                          <a:effectLst/>
                        </a:rPr>
                        <a:t> al </a:t>
                      </a:r>
                      <a:r>
                        <a:rPr lang="es-ES" sz="1500" err="1">
                          <a:effectLst/>
                        </a:rPr>
                        <a:t>seu</a:t>
                      </a:r>
                      <a:r>
                        <a:rPr lang="es-ES" sz="1500">
                          <a:effectLst/>
                        </a:rPr>
                        <a:t> perfil, </a:t>
                      </a:r>
                      <a:r>
                        <a:rPr lang="es-ES" sz="1500" err="1">
                          <a:effectLst/>
                        </a:rPr>
                        <a:t>emmagatzemat</a:t>
                      </a:r>
                      <a:r>
                        <a:rPr lang="es-ES" sz="1500">
                          <a:effectLst/>
                        </a:rPr>
                        <a:t> de forma encriptada (RNF-01-02). </a:t>
                      </a:r>
                      <a:r>
                        <a:rPr lang="es-ES" sz="1500" err="1">
                          <a:effectLst/>
                        </a:rPr>
                        <a:t>Existeix</a:t>
                      </a:r>
                      <a:r>
                        <a:rPr lang="es-ES" sz="1500">
                          <a:effectLst/>
                        </a:rPr>
                        <a:t> una comanda confirmada per </a:t>
                      </a:r>
                      <a:r>
                        <a:rPr lang="es-ES" sz="1500" err="1">
                          <a:effectLst/>
                        </a:rPr>
                        <a:t>part</a:t>
                      </a:r>
                      <a:r>
                        <a:rPr lang="es-ES" sz="1500">
                          <a:effectLst/>
                        </a:rPr>
                        <a:t> del </a:t>
                      </a:r>
                      <a:r>
                        <a:rPr lang="es-ES" sz="1500" err="1">
                          <a:effectLst/>
                        </a:rPr>
                        <a:t>client</a:t>
                      </a:r>
                      <a:r>
                        <a:rPr lang="es-ES" sz="1500">
                          <a:effectLst/>
                        </a:rPr>
                        <a:t>. El </a:t>
                      </a:r>
                      <a:r>
                        <a:rPr lang="es-ES" sz="1500" err="1">
                          <a:effectLst/>
                        </a:rPr>
                        <a:t>client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disposa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d'un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mètode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vàlid</a:t>
                      </a:r>
                      <a:r>
                        <a:rPr lang="es-ES" sz="1500">
                          <a:effectLst/>
                        </a:rPr>
                        <a:t> (RF-04-00). La </a:t>
                      </a:r>
                      <a:r>
                        <a:rPr lang="es-ES" sz="1500" err="1">
                          <a:effectLst/>
                        </a:rPr>
                        <a:t>passarel·la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està</a:t>
                      </a:r>
                      <a:r>
                        <a:rPr lang="es-ES" sz="1500">
                          <a:effectLst/>
                        </a:rPr>
                        <a:t> operativa (RNF-04-00).</a:t>
                      </a: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336540"/>
                  </a:ext>
                </a:extLst>
              </a:tr>
              <a:tr h="126562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>
                          <a:effectLst/>
                        </a:rPr>
                        <a:t>Flux principal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1. El </a:t>
                      </a:r>
                      <a:r>
                        <a:rPr lang="es-ES" sz="1500" err="1">
                          <a:effectLst/>
                        </a:rPr>
                        <a:t>client</a:t>
                      </a:r>
                      <a:r>
                        <a:rPr lang="es-ES" sz="1500">
                          <a:effectLst/>
                        </a:rPr>
                        <a:t> inicia el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de la comanda;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2. El sistema confirma la </a:t>
                      </a:r>
                      <a:r>
                        <a:rPr lang="es-ES" sz="1500" err="1">
                          <a:effectLst/>
                        </a:rPr>
                        <a:t>transacció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amb</a:t>
                      </a:r>
                      <a:r>
                        <a:rPr lang="es-ES" sz="1500">
                          <a:effectLst/>
                        </a:rPr>
                        <a:t> la </a:t>
                      </a:r>
                      <a:r>
                        <a:rPr lang="es-ES" sz="1500" err="1">
                          <a:effectLst/>
                        </a:rPr>
                        <a:t>passarel·la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3. La </a:t>
                      </a:r>
                      <a:r>
                        <a:rPr lang="es-ES" sz="1500" err="1">
                          <a:effectLst/>
                        </a:rPr>
                        <a:t>passarel·la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retorna </a:t>
                      </a:r>
                      <a:r>
                        <a:rPr lang="es-ES" sz="1500" err="1">
                          <a:effectLst/>
                        </a:rPr>
                        <a:t>confirmació</a:t>
                      </a:r>
                      <a:r>
                        <a:rPr lang="es-ES" sz="1500">
                          <a:effectLst/>
                        </a:rPr>
                        <a:t> de </a:t>
                      </a:r>
                      <a:r>
                        <a:rPr lang="es-ES" sz="1500" err="1">
                          <a:effectLst/>
                        </a:rPr>
                        <a:t>pagament</a:t>
                      </a:r>
                      <a:r>
                        <a:rPr lang="es-ES" sz="1500">
                          <a:effectLst/>
                        </a:rPr>
                        <a:t> OK;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4. El sistema </a:t>
                      </a:r>
                      <a:r>
                        <a:rPr lang="es-ES" sz="1500" err="1">
                          <a:effectLst/>
                        </a:rPr>
                        <a:t>ingressa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l'import</a:t>
                      </a:r>
                      <a:r>
                        <a:rPr lang="es-ES" sz="1500">
                          <a:effectLst/>
                        </a:rPr>
                        <a:t> al </a:t>
                      </a:r>
                      <a:r>
                        <a:rPr lang="es-ES" sz="1500" err="1">
                          <a:effectLst/>
                        </a:rPr>
                        <a:t>compte</a:t>
                      </a:r>
                      <a:r>
                        <a:rPr lang="es-ES" sz="1500">
                          <a:effectLst/>
                        </a:rPr>
                        <a:t> del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;</a:t>
                      </a:r>
                      <a:br>
                        <a:rPr lang="es-ES" sz="1500">
                          <a:effectLst/>
                        </a:rPr>
                      </a:br>
                      <a:r>
                        <a:rPr lang="es-ES" sz="1500">
                          <a:effectLst/>
                        </a:rPr>
                        <a:t>5. El sistema </a:t>
                      </a:r>
                      <a:r>
                        <a:rPr lang="es-ES" sz="1500" err="1">
                          <a:effectLst/>
                        </a:rPr>
                        <a:t>envia</a:t>
                      </a:r>
                      <a:r>
                        <a:rPr lang="es-ES" sz="1500">
                          <a:effectLst/>
                        </a:rPr>
                        <a:t> una </a:t>
                      </a:r>
                      <a:r>
                        <a:rPr lang="es-ES" sz="1500" err="1">
                          <a:effectLst/>
                        </a:rPr>
                        <a:t>notificació</a:t>
                      </a:r>
                      <a:r>
                        <a:rPr lang="es-ES" sz="1500">
                          <a:effectLst/>
                        </a:rPr>
                        <a:t> </a:t>
                      </a:r>
                      <a:r>
                        <a:rPr lang="es-ES" sz="1500" err="1">
                          <a:effectLst/>
                        </a:rPr>
                        <a:t>d'ingrés</a:t>
                      </a:r>
                      <a:r>
                        <a:rPr lang="es-ES" sz="1500">
                          <a:effectLst/>
                        </a:rPr>
                        <a:t> al </a:t>
                      </a:r>
                      <a:r>
                        <a:rPr lang="es-ES" sz="1500" err="1">
                          <a:effectLst/>
                        </a:rPr>
                        <a:t>cuiner</a:t>
                      </a:r>
                      <a:r>
                        <a:rPr lang="es-ES" sz="1500">
                          <a:effectLst/>
                        </a:rPr>
                        <a:t>.</a:t>
                      </a: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21731"/>
                  </a:ext>
                </a:extLst>
              </a:tr>
              <a:tr h="36047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ES" sz="1500" b="1" err="1">
                          <a:effectLst/>
                        </a:rPr>
                        <a:t>Requisits</a:t>
                      </a:r>
                      <a:r>
                        <a:rPr lang="es-ES" sz="1500" b="1">
                          <a:effectLst/>
                        </a:rPr>
                        <a:t> </a:t>
                      </a:r>
                      <a:r>
                        <a:rPr lang="es-ES" sz="1500" b="1" err="1">
                          <a:effectLst/>
                        </a:rPr>
                        <a:t>relacionats</a:t>
                      </a:r>
                      <a:endParaRPr lang="es-ES" sz="1500">
                        <a:effectLst/>
                      </a:endParaRP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>
                          <a:effectLst/>
                        </a:rPr>
                        <a:t>RF-04-00, RF-04-04, RNF-04-00, RNF-04-01</a:t>
                      </a:r>
                    </a:p>
                  </a:txBody>
                  <a:tcPr marL="79883" marR="79883" marT="39942" marB="399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626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318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253BA-895F-69CC-4178-07034674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2A5602-525E-F601-4270-C735FE98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E77491-1B6F-7134-0F4D-852E1CBB3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676270"/>
            <a:ext cx="6846363" cy="535420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1868A2-953D-5542-B32D-49DBA826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1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final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F8EECB-67EF-96B0-12BB-B48E2543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9349"/>
            <a:ext cx="4692949" cy="595930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10951</TotalTime>
  <Words>934</Words>
  <Application>Microsoft Macintosh PowerPoint</Application>
  <PresentationFormat>Panorámica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Diagrames de Seqüencia</vt:lpstr>
      <vt:lpstr>Diagrama Classes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Enric Alvarez Bargada</cp:lastModifiedBy>
  <cp:revision>38</cp:revision>
  <dcterms:created xsi:type="dcterms:W3CDTF">2023-02-10T08:32:17Z</dcterms:created>
  <dcterms:modified xsi:type="dcterms:W3CDTF">2026-06-13T15:07:42Z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