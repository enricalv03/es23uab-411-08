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14"/>
  </p:notesMasterIdLst>
  <p:sldIdLst>
    <p:sldId id="412" r:id="rId5"/>
    <p:sldId id="408" r:id="rId6"/>
    <p:sldId id="409" r:id="rId7"/>
    <p:sldId id="410" r:id="rId8"/>
    <p:sldId id="415" r:id="rId9"/>
    <p:sldId id="416" r:id="rId10"/>
    <p:sldId id="411" r:id="rId11"/>
    <p:sldId id="399" r:id="rId12"/>
    <p:sldId id="400" r:id="rId1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D9D9D9"/>
    <a:srgbClr val="FEF8BE"/>
    <a:srgbClr val="B8CCE4"/>
    <a:srgbClr val="7693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C610CD-51EF-C0B0-EA9D-D76D8AAE7F11}" v="264" dt="2026-03-16T09:58:35.198"/>
    <p1510:client id="{449E9B07-79E7-FD2D-7FAC-39AE3ED54F16}" v="101" dt="2026-03-16T10:01:43.368"/>
    <p1510:client id="{5B01021F-D8B4-454C-8AF1-BEA4B1524530}" v="149" dt="2026-03-16T10:03:43.494"/>
    <p1510:client id="{77D12782-5A74-278B-EB6F-75DF571C8B1F}" v="876" dt="2026-03-16T09:59:11.5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58" d="100"/>
          <a:sy n="158" d="100"/>
        </p:scale>
        <p:origin x="348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9ECDAD-75E1-4BC4-AB86-9BA5DFF857B3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AA5E4-F832-4E78-BDC0-6CAA09567E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5486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31DCF8F9-FE1E-467E-9B82-0FEB758F2FA6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0959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6219CF75-0ECC-4E76-B636-3ABF46261502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978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4E8BD-E6E8-42B0-9E1C-58D2F9C64A0C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333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D7AFBA47-0BC8-4C75-9B10-88B9F496CCB1}" type="datetime1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323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84512E72-AC33-43BA-BEE9-4FD4948C58D8}" type="datetime1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817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76718-59A8-49B1-AEC5-3662572A144D}" type="datetime1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945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EC767-5C82-4733-81D6-0B6B22CAF0EE}" type="datetime1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545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E4D41E06-6C86-4754-846D-56519DFF1F50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660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6D8A39B2-B176-40DF-B22F-280C511548AF}" type="datetime1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420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AE393-D011-4B55-A9B6-0BBC79EF96B0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955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0C2F-F497-4247-8BB2-5746400D850B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891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BAA1BC-C245-4537-A704-02F8919D151B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580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45CF02-92BA-5A94-2DEC-47F61A7CF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4481272-C222-8968-044D-3BAF0970A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02A8D1-3358-F5F1-4AF0-5F9969CD73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08" r="-1" b="-1"/>
          <a:stretch/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87" name="Rectangle 10">
            <a:extLst>
              <a:ext uri="{FF2B5EF4-FFF2-40B4-BE49-F238E27FC236}">
                <a16:creationId xmlns:a16="http://schemas.microsoft.com/office/drawing/2014/main" id="{3CA4E186-A056-DACA-6812-E5F007704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0318A6B-6752-F618-4EF4-1D267178CE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ca-ES" sz="4800"/>
              <a:t>Enginyeria del Software</a:t>
            </a:r>
          </a:p>
        </p:txBody>
      </p:sp>
      <p:sp>
        <p:nvSpPr>
          <p:cNvPr id="88" name="Rectangle 12">
            <a:extLst>
              <a:ext uri="{FF2B5EF4-FFF2-40B4-BE49-F238E27FC236}">
                <a16:creationId xmlns:a16="http://schemas.microsoft.com/office/drawing/2014/main" id="{EE755042-3AA6-3825-AEC6-571898FD7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429D88-9361-BCC7-DCE3-D5D1408F43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8F60D0DC-CA51-7547-B234-C04A874F0855}"/>
              </a:ext>
            </a:extLst>
          </p:cNvPr>
          <p:cNvSpPr txBox="1">
            <a:spLocks/>
          </p:cNvSpPr>
          <p:nvPr/>
        </p:nvSpPr>
        <p:spPr>
          <a:xfrm>
            <a:off x="7848600" y="4872922"/>
            <a:ext cx="4023360" cy="13593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ca-ES" sz="1400"/>
              <a:t>Pràctiques: Grup 411-08</a:t>
            </a:r>
            <a:endParaRPr lang="ca-ES" sz="1400" dirty="0"/>
          </a:p>
          <a:p>
            <a:pPr>
              <a:lnSpc>
                <a:spcPct val="100000"/>
              </a:lnSpc>
            </a:pPr>
            <a:endParaRPr lang="ca-ES" sz="1400" dirty="0"/>
          </a:p>
          <a:p>
            <a:pPr>
              <a:lnSpc>
                <a:spcPct val="100000"/>
              </a:lnSpc>
            </a:pPr>
            <a:r>
              <a:rPr lang="ca-ES" sz="1400" dirty="0"/>
              <a:t>Sprint 01: Requisits Funcionals i No Funcionals</a:t>
            </a:r>
          </a:p>
        </p:txBody>
      </p:sp>
    </p:spTree>
    <p:extLst>
      <p:ext uri="{BB962C8B-B14F-4D97-AF65-F5344CB8AC3E}">
        <p14:creationId xmlns:p14="http://schemas.microsoft.com/office/powerpoint/2010/main" val="751733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FB19B-BC83-28E3-C34F-E477B71C3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6D4BA1-5AB7-B8D9-63F4-F71B31D5F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Tasques fetes al sprint</a:t>
            </a:r>
            <a:endParaRPr lang="en-GB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9DCC4B-20F9-8EAA-9C5D-D85FD1DD2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C9F3BC3-64C6-DCA9-A993-43956FF851B7}"/>
              </a:ext>
            </a:extLst>
          </p:cNvPr>
          <p:cNvSpPr txBox="1"/>
          <p:nvPr/>
        </p:nvSpPr>
        <p:spPr>
          <a:xfrm>
            <a:off x="620399" y="2224646"/>
            <a:ext cx="10020823" cy="20313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ca-ES"/>
              <a:t>Tasca 1: Extracció Requisits Funcionals i No Funcionals (Encarregat: Tot el Grup)</a:t>
            </a:r>
          </a:p>
          <a:p>
            <a:pPr algn="just"/>
            <a:endParaRPr lang="ca-ES" dirty="0"/>
          </a:p>
          <a:p>
            <a:pPr algn="just"/>
            <a:r>
              <a:rPr lang="ca-ES"/>
              <a:t>Tasca 2: Creació GitHub i Trello (Encarregat: Enric)</a:t>
            </a:r>
            <a:endParaRPr lang="ca-ES" dirty="0"/>
          </a:p>
          <a:p>
            <a:pPr algn="just"/>
            <a:endParaRPr lang="ca-ES" dirty="0"/>
          </a:p>
          <a:p>
            <a:pPr algn="just"/>
            <a:r>
              <a:rPr lang="ca-ES"/>
              <a:t>Tasca 3: Creació BurnDown-Chart (Encarregat: Neus)</a:t>
            </a:r>
            <a:endParaRPr lang="ca-ES" dirty="0"/>
          </a:p>
          <a:p>
            <a:pPr algn="just"/>
            <a:endParaRPr lang="ca-ES" dirty="0"/>
          </a:p>
          <a:p>
            <a:pPr algn="just"/>
            <a:r>
              <a:rPr lang="ca-ES"/>
              <a:t>Tasca 4: Transcripció a MD</a:t>
            </a:r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3516385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5829A-DA28-0229-A05E-FCE0F2EF1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BF99BE-BBF6-B2B3-02F4-217E7C780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a-ES" dirty="0"/>
              <a:t>Perfils d’usuari a l’aplicació QUEMENGES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D58B65D-2614-915C-82AC-99B679A02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1C72129-175A-22CE-696F-928ABF46C450}"/>
              </a:ext>
            </a:extLst>
          </p:cNvPr>
          <p:cNvSpPr txBox="1"/>
          <p:nvPr/>
        </p:nvSpPr>
        <p:spPr>
          <a:xfrm>
            <a:off x="553863" y="2198728"/>
            <a:ext cx="9027596" cy="45243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ca-ES">
                <a:ea typeface="+mn-lt"/>
                <a:cs typeface="+mn-lt"/>
              </a:rPr>
              <a:t>Usuari client</a:t>
            </a:r>
            <a:endParaRPr lang="ca-ES"/>
          </a:p>
          <a:p>
            <a:pPr algn="just"/>
            <a:br>
              <a:rPr lang="en-US"/>
            </a:br>
            <a:endParaRPr lang="en-US"/>
          </a:p>
          <a:p>
            <a:pPr marL="285750" indent="-285750" algn="just">
              <a:buFont typeface="Arial"/>
              <a:buChar char="•"/>
            </a:pPr>
            <a:r>
              <a:rPr lang="ca-ES">
                <a:ea typeface="+mn-lt"/>
                <a:cs typeface="+mn-lt"/>
              </a:rPr>
              <a:t>Usuari cuiner</a:t>
            </a:r>
            <a:endParaRPr lang="ca-ES"/>
          </a:p>
          <a:p>
            <a:pPr algn="just"/>
            <a:br>
              <a:rPr lang="en-US"/>
            </a:br>
            <a:endParaRPr lang="en-US"/>
          </a:p>
          <a:p>
            <a:pPr marL="285750" indent="-285750" algn="just">
              <a:buFont typeface="Arial"/>
              <a:buChar char="•"/>
            </a:pPr>
            <a:r>
              <a:rPr lang="ca-ES">
                <a:ea typeface="+mn-lt"/>
                <a:cs typeface="+mn-lt"/>
              </a:rPr>
              <a:t>Usuari no registrat</a:t>
            </a:r>
            <a:endParaRPr lang="ca-ES"/>
          </a:p>
          <a:p>
            <a:pPr algn="just"/>
            <a:br>
              <a:rPr lang="en-US"/>
            </a:br>
            <a:endParaRPr lang="en-US"/>
          </a:p>
          <a:p>
            <a:pPr marL="285750" indent="-285750" algn="just">
              <a:buFont typeface="Arial"/>
              <a:buChar char="•"/>
            </a:pPr>
            <a:r>
              <a:rPr lang="ca-ES">
                <a:ea typeface="+mn-lt"/>
                <a:cs typeface="+mn-lt"/>
              </a:rPr>
              <a:t>Usuari amb subscripció</a:t>
            </a:r>
            <a:endParaRPr lang="ca-ES"/>
          </a:p>
          <a:p>
            <a:pPr algn="just"/>
            <a:br>
              <a:rPr lang="en-US"/>
            </a:br>
            <a:endParaRPr lang="en-US"/>
          </a:p>
          <a:p>
            <a:pPr marL="285750" indent="-285750" algn="just">
              <a:buFont typeface="Arial"/>
              <a:buChar char="•"/>
            </a:pPr>
            <a:r>
              <a:rPr lang="ca-ES">
                <a:ea typeface="+mn-lt"/>
                <a:cs typeface="+mn-lt"/>
              </a:rPr>
              <a:t>Usuari repartidor</a:t>
            </a:r>
            <a:endParaRPr lang="ca-ES"/>
          </a:p>
          <a:p>
            <a:pPr algn="just"/>
            <a:endParaRPr lang="en-US"/>
          </a:p>
          <a:p>
            <a:pPr algn="just"/>
            <a:r>
              <a:rPr lang="ca-ES">
                <a:ea typeface="+mn-lt"/>
                <a:cs typeface="+mn-lt"/>
              </a:rPr>
              <a:t>Cada persona pot tenir varis perfils d’usuari, excepte l’usuari no registrat</a:t>
            </a:r>
            <a:endParaRPr lang="ca-ES" dirty="0"/>
          </a:p>
          <a:p>
            <a:pPr algn="just"/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1943669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A7B62-DBD7-BFDA-7B65-5E67A8D30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4CAEFC-9C4C-51FD-FCC5-CC819E648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Requisits funcionals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028594-75F6-86C2-9333-4845120C2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4</a:t>
            </a:fld>
            <a:endParaRPr lang="en-U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933A7ED-18E9-D42B-F297-39B59B5C7F84}"/>
              </a:ext>
            </a:extLst>
          </p:cNvPr>
          <p:cNvSpPr txBox="1"/>
          <p:nvPr/>
        </p:nvSpPr>
        <p:spPr>
          <a:xfrm>
            <a:off x="428603" y="2198728"/>
            <a:ext cx="11266092" cy="20313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ca-ES"/>
              <a:t>RF-01-XX: Accés i consulta (Usuaris no Registrats)</a:t>
            </a:r>
          </a:p>
          <a:p>
            <a:pPr algn="just"/>
            <a:r>
              <a:rPr lang="ca-ES"/>
              <a:t>RF-02-XX: </a:t>
            </a:r>
            <a:r>
              <a:rPr lang="ca-ES">
                <a:solidFill>
                  <a:srgbClr val="000000"/>
                </a:solidFill>
                <a:ea typeface="+mn-lt"/>
                <a:cs typeface="+mn-lt"/>
              </a:rPr>
              <a:t>Registre, autenticació i gestió del compte</a:t>
            </a:r>
          </a:p>
          <a:p>
            <a:pPr algn="just"/>
            <a:r>
              <a:rPr lang="ca-ES">
                <a:solidFill>
                  <a:srgbClr val="000000"/>
                </a:solidFill>
              </a:rPr>
              <a:t>RF-03-XX: </a:t>
            </a:r>
            <a:r>
              <a:rPr lang="ca-ES">
                <a:solidFill>
                  <a:srgbClr val="000000"/>
                </a:solidFill>
                <a:ea typeface="+mn-lt"/>
                <a:cs typeface="+mn-lt"/>
              </a:rPr>
              <a:t>Opcions de recollida</a:t>
            </a:r>
          </a:p>
          <a:p>
            <a:pPr algn="just"/>
            <a:r>
              <a:rPr lang="ca-ES">
                <a:solidFill>
                  <a:srgbClr val="000000"/>
                </a:solidFill>
              </a:rPr>
              <a:t>RF-04-XX: </a:t>
            </a:r>
            <a:r>
              <a:rPr lang="ca-ES">
                <a:solidFill>
                  <a:srgbClr val="000000"/>
                </a:solidFill>
                <a:ea typeface="+mn-lt"/>
                <a:cs typeface="+mn-lt"/>
              </a:rPr>
              <a:t>Pagament i gestió de transaccions</a:t>
            </a:r>
          </a:p>
          <a:p>
            <a:pPr algn="just"/>
            <a:r>
              <a:rPr lang="ca-ES">
                <a:solidFill>
                  <a:srgbClr val="000000"/>
                </a:solidFill>
              </a:rPr>
              <a:t>RF-05-XX: </a:t>
            </a:r>
            <a:r>
              <a:rPr lang="ca-ES">
                <a:solidFill>
                  <a:srgbClr val="000000"/>
                </a:solidFill>
                <a:ea typeface="+mn-lt"/>
                <a:cs typeface="+mn-lt"/>
              </a:rPr>
              <a:t>Valoració de comandes</a:t>
            </a:r>
          </a:p>
          <a:p>
            <a:pPr algn="just"/>
            <a:r>
              <a:rPr lang="ca-ES">
                <a:solidFill>
                  <a:srgbClr val="000000"/>
                </a:solidFill>
              </a:rPr>
              <a:t>RF-06-XX:</a:t>
            </a:r>
            <a:r>
              <a:rPr lang="ca-ES">
                <a:solidFill>
                  <a:srgbClr val="000000"/>
                </a:solidFill>
                <a:ea typeface="+mn-lt"/>
                <a:cs typeface="+mn-lt"/>
              </a:rPr>
              <a:t> Subscripció i programa de punts</a:t>
            </a:r>
          </a:p>
          <a:p>
            <a:pPr algn="just"/>
            <a:r>
              <a:rPr lang="ca-ES">
                <a:solidFill>
                  <a:srgbClr val="000000"/>
                </a:solidFill>
              </a:rPr>
              <a:t>RF-07-XX: </a:t>
            </a:r>
            <a:r>
              <a:rPr lang="ca-ES">
                <a:solidFill>
                  <a:srgbClr val="000000"/>
                </a:solidFill>
                <a:ea typeface="+mn-lt"/>
                <a:cs typeface="+mn-lt"/>
              </a:rPr>
              <a:t>Personalització de plats</a:t>
            </a:r>
            <a:endParaRPr lang="ca-ES">
              <a:solidFill>
                <a:srgbClr val="000000"/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E9C8432-1A6F-36E9-AF1A-96369C0AB4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03" y="5059859"/>
            <a:ext cx="979970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RF-01-00:</a:t>
            </a: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Conjunt</a:t>
            </a: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s-ES" altLang="es-ES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requisits</a:t>
            </a: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que </a:t>
            </a:r>
            <a:r>
              <a:rPr kumimoji="0" lang="es-ES" altLang="es-ES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permeten</a:t>
            </a: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als</a:t>
            </a: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usuaris</a:t>
            </a: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 </a:t>
            </a:r>
            <a:r>
              <a:rPr kumimoji="0" lang="es-ES" altLang="es-ES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registrats</a:t>
            </a: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consultar </a:t>
            </a:r>
            <a:r>
              <a:rPr kumimoji="0" lang="es-ES" altLang="es-ES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els</a:t>
            </a: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menús i </a:t>
            </a:r>
            <a:r>
              <a:rPr kumimoji="0" lang="es-ES" altLang="es-ES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plats</a:t>
            </a: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disponibles </a:t>
            </a:r>
            <a:r>
              <a:rPr kumimoji="0" lang="es-ES" altLang="es-ES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sense</a:t>
            </a: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iniciar </a:t>
            </a:r>
            <a:r>
              <a:rPr kumimoji="0" lang="es-ES" altLang="es-ES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sessió</a:t>
            </a: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D1FCD9C-9C2B-1700-C78A-D1292E884856}"/>
              </a:ext>
            </a:extLst>
          </p:cNvPr>
          <p:cNvSpPr txBox="1"/>
          <p:nvPr/>
        </p:nvSpPr>
        <p:spPr>
          <a:xfrm>
            <a:off x="428603" y="4526479"/>
            <a:ext cx="5245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b="1"/>
              <a:t>EX:</a:t>
            </a:r>
          </a:p>
        </p:txBody>
      </p:sp>
    </p:spTree>
    <p:extLst>
      <p:ext uri="{BB962C8B-B14F-4D97-AF65-F5344CB8AC3E}">
        <p14:creationId xmlns:p14="http://schemas.microsoft.com/office/powerpoint/2010/main" val="322074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51C87-8F3B-8F00-CF1E-3704FC430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57D2B6-86D0-4428-16F8-9F6543E26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Requisits no funcionals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C409259-3D3D-1998-F5A7-E16D3D076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5</a:t>
            </a:fld>
            <a:endParaRPr lang="en-U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0361BAC-679F-2044-0391-1C7759E010BE}"/>
              </a:ext>
            </a:extLst>
          </p:cNvPr>
          <p:cNvSpPr txBox="1"/>
          <p:nvPr/>
        </p:nvSpPr>
        <p:spPr>
          <a:xfrm>
            <a:off x="428603" y="2198728"/>
            <a:ext cx="11266092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ca-ES"/>
              <a:t>RNF-00-XX: </a:t>
            </a:r>
            <a:r>
              <a:rPr lang="ca-ES">
                <a:solidFill>
                  <a:srgbClr val="000000"/>
                </a:solidFill>
                <a:ea typeface="+mn-lt"/>
                <a:cs typeface="+mn-lt"/>
              </a:rPr>
              <a:t>Operativa / Usabilitat i interfície</a:t>
            </a:r>
            <a:endParaRPr lang="ca-ES" dirty="0">
              <a:solidFill>
                <a:srgbClr val="000000"/>
              </a:solidFill>
            </a:endParaRPr>
          </a:p>
          <a:p>
            <a:pPr algn="just"/>
            <a:r>
              <a:rPr lang="ca-ES"/>
              <a:t>RNF-01-XX: </a:t>
            </a:r>
            <a:r>
              <a:rPr lang="ca-ES">
                <a:solidFill>
                  <a:srgbClr val="000000"/>
                </a:solidFill>
                <a:ea typeface="+mn-lt"/>
                <a:cs typeface="+mn-lt"/>
              </a:rPr>
              <a:t>Disseny / Arquitectura</a:t>
            </a:r>
          </a:p>
          <a:p>
            <a:pPr algn="just"/>
            <a:r>
              <a:rPr lang="ca-ES">
                <a:solidFill>
                  <a:srgbClr val="000000"/>
                </a:solidFill>
              </a:rPr>
              <a:t>RNF-02-XX: </a:t>
            </a:r>
            <a:r>
              <a:rPr lang="ca-ES">
                <a:solidFill>
                  <a:srgbClr val="000000"/>
                </a:solidFill>
                <a:ea typeface="+mn-lt"/>
                <a:cs typeface="+mn-lt"/>
              </a:rPr>
              <a:t>Restricció de Disseny</a:t>
            </a:r>
          </a:p>
          <a:p>
            <a:pPr algn="just"/>
            <a:r>
              <a:rPr lang="ca-ES">
                <a:solidFill>
                  <a:srgbClr val="000000"/>
                </a:solidFill>
              </a:rPr>
              <a:t>RF-03-XX: </a:t>
            </a:r>
            <a:r>
              <a:rPr lang="ca-ES">
                <a:solidFill>
                  <a:srgbClr val="000000"/>
                </a:solidFill>
                <a:ea typeface="+mn-lt"/>
                <a:cs typeface="+mn-lt"/>
              </a:rPr>
              <a:t>Cost de l'enviament</a:t>
            </a:r>
          </a:p>
          <a:p>
            <a:pPr algn="just"/>
            <a:r>
              <a:rPr lang="ca-ES">
                <a:solidFill>
                  <a:srgbClr val="000000"/>
                </a:solidFill>
              </a:rPr>
              <a:t>RF-04-XX: </a:t>
            </a:r>
            <a:r>
              <a:rPr lang="ca-ES">
                <a:solidFill>
                  <a:srgbClr val="000000"/>
                </a:solidFill>
                <a:ea typeface="+mn-lt"/>
                <a:cs typeface="+mn-lt"/>
              </a:rPr>
              <a:t>Mètodes de pagament</a:t>
            </a:r>
          </a:p>
          <a:p>
            <a:pPr algn="just"/>
            <a:r>
              <a:rPr lang="ca-ES">
                <a:solidFill>
                  <a:srgbClr val="000000"/>
                </a:solidFill>
              </a:rPr>
              <a:t>...</a:t>
            </a:r>
            <a:endParaRPr lang="ca-ES" dirty="0">
              <a:solidFill>
                <a:srgbClr val="000000"/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F338368-8827-7395-0B57-FB50A3B1A2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03" y="4690150"/>
            <a:ext cx="917448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ES" b="1">
                <a:latin typeface="Arial" panose="020B0604020202020204" pitchFamily="34" charset="0"/>
              </a:rPr>
              <a:t>RNF-00-00: </a:t>
            </a:r>
            <a:r>
              <a:rPr lang="es-ES" err="1"/>
              <a:t>L'aplicació</a:t>
            </a:r>
            <a:r>
              <a:rPr lang="es-ES"/>
              <a:t> ha de </a:t>
            </a:r>
            <a:r>
              <a:rPr lang="es-ES" err="1"/>
              <a:t>tenir</a:t>
            </a:r>
            <a:r>
              <a:rPr lang="es-ES"/>
              <a:t> un </a:t>
            </a:r>
            <a:r>
              <a:rPr lang="es-ES" err="1"/>
              <a:t>aspecte</a:t>
            </a:r>
            <a:r>
              <a:rPr lang="es-ES"/>
              <a:t> visual </a:t>
            </a:r>
            <a:r>
              <a:rPr lang="es-ES" err="1"/>
              <a:t>consistent</a:t>
            </a:r>
            <a:r>
              <a:rPr lang="es-ES"/>
              <a:t> i </a:t>
            </a:r>
            <a:r>
              <a:rPr lang="es-ES" err="1"/>
              <a:t>professional</a:t>
            </a:r>
            <a:r>
              <a:rPr lang="es-ES"/>
              <a:t>, </a:t>
            </a:r>
            <a:r>
              <a:rPr lang="es-ES" err="1"/>
              <a:t>amb</a:t>
            </a:r>
            <a:r>
              <a:rPr lang="es-ES"/>
              <a:t> </a:t>
            </a:r>
            <a:r>
              <a:rPr lang="es-ES" err="1"/>
              <a:t>guia</a:t>
            </a:r>
            <a:r>
              <a:rPr lang="es-ES"/>
              <a:t> </a:t>
            </a:r>
            <a:r>
              <a:rPr lang="es-ES" err="1"/>
              <a:t>d'estil</a:t>
            </a:r>
            <a:r>
              <a:rPr lang="es-ES"/>
              <a:t> definida (</a:t>
            </a:r>
            <a:r>
              <a:rPr lang="es-ES" err="1"/>
              <a:t>tipografia</a:t>
            </a:r>
            <a:r>
              <a:rPr lang="es-ES"/>
              <a:t>, paleta de </a:t>
            </a:r>
            <a:r>
              <a:rPr lang="es-ES" err="1"/>
              <a:t>colors</a:t>
            </a:r>
            <a:r>
              <a:rPr lang="es-ES"/>
              <a:t>, </a:t>
            </a:r>
            <a:r>
              <a:rPr lang="es-ES" err="1"/>
              <a:t>iconografia</a:t>
            </a:r>
            <a:r>
              <a:rPr lang="es-ES"/>
              <a:t>) aplicada a totes les </a:t>
            </a:r>
            <a:r>
              <a:rPr lang="es-ES" err="1"/>
              <a:t>pantalles</a:t>
            </a:r>
            <a:r>
              <a:rPr lang="es-ES"/>
              <a:t>.</a:t>
            </a:r>
            <a:br>
              <a:rPr lang="es-ES" altLang="es-ES">
                <a:latin typeface="Arial" panose="020B0604020202020204" pitchFamily="34" charset="0"/>
              </a:rPr>
            </a:br>
            <a:endParaRPr lang="es-ES" altLang="es-ES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S" altLang="es-ES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lang="es-ES" altLang="es-E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3A57581-D1AB-6C11-CF4E-96DFDC2F89B2}"/>
              </a:ext>
            </a:extLst>
          </p:cNvPr>
          <p:cNvSpPr txBox="1"/>
          <p:nvPr/>
        </p:nvSpPr>
        <p:spPr>
          <a:xfrm>
            <a:off x="894080" y="4419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4B862D7-710A-A3E6-152D-BB1691699FB2}"/>
              </a:ext>
            </a:extLst>
          </p:cNvPr>
          <p:cNvSpPr txBox="1"/>
          <p:nvPr/>
        </p:nvSpPr>
        <p:spPr>
          <a:xfrm>
            <a:off x="428603" y="4275872"/>
            <a:ext cx="5245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b="1"/>
              <a:t>EX: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DC8C1D3-5503-C91F-D4C2-C7271E74C2A1}"/>
              </a:ext>
            </a:extLst>
          </p:cNvPr>
          <p:cNvSpPr txBox="1"/>
          <p:nvPr/>
        </p:nvSpPr>
        <p:spPr>
          <a:xfrm>
            <a:off x="254000" y="44704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8049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5B3C8-849A-31DE-7C04-2B08716EC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27E451-65F3-94E9-2145-44DEF0A91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Perfils d'Usuari Creats</a:t>
            </a:r>
            <a:endParaRPr lang="ca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7DFF704-425B-409D-9F2B-0D1A8963F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6</a:t>
            </a:fld>
            <a:endParaRPr lang="en-US"/>
          </a:p>
        </p:txBody>
      </p:sp>
      <p:pic>
        <p:nvPicPr>
          <p:cNvPr id="3" name="Imatge 2" descr="Imatge que conté text, captura de pantalla, Font, nombre&#10;&#10;Pot ser que el contingut generat per IA no sigui correcte.">
            <a:extLst>
              <a:ext uri="{FF2B5EF4-FFF2-40B4-BE49-F238E27FC236}">
                <a16:creationId xmlns:a16="http://schemas.microsoft.com/office/drawing/2014/main" id="{5106CF96-C2D3-D2BE-EB71-E4206D061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843" y="2074333"/>
            <a:ext cx="5832870" cy="4720167"/>
          </a:xfrm>
          <a:prstGeom prst="rect">
            <a:avLst/>
          </a:prstGeom>
        </p:spPr>
      </p:pic>
      <p:pic>
        <p:nvPicPr>
          <p:cNvPr id="6" name="Imatge 5" descr="Imatge que conté text, captura de pantalla, Font, nombre&#10;&#10;Pot ser que el contingut generat per IA no sigui correcte.">
            <a:extLst>
              <a:ext uri="{FF2B5EF4-FFF2-40B4-BE49-F238E27FC236}">
                <a16:creationId xmlns:a16="http://schemas.microsoft.com/office/drawing/2014/main" id="{65C56337-E6E3-416B-589D-6C5355754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943" y="2074791"/>
            <a:ext cx="5778501" cy="2101640"/>
          </a:xfrm>
          <a:prstGeom prst="rect">
            <a:avLst/>
          </a:prstGeom>
        </p:spPr>
      </p:pic>
      <p:pic>
        <p:nvPicPr>
          <p:cNvPr id="7" name="Imatge 6" descr="Imatge que conté text, captura de pantalla, Font, nombre&#10;&#10;Pot ser que el contingut generat per IA no sigui correcte.">
            <a:extLst>
              <a:ext uri="{FF2B5EF4-FFF2-40B4-BE49-F238E27FC236}">
                <a16:creationId xmlns:a16="http://schemas.microsoft.com/office/drawing/2014/main" id="{0527D904-073E-AA83-B655-18056D96CA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4221" y="4174322"/>
            <a:ext cx="5799667" cy="2277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311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38EA2-7393-3EEA-342C-2A0E49400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94DF30-96E6-D413-77EB-9C52FFF97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 err="1"/>
              <a:t>Burn-down</a:t>
            </a:r>
            <a:r>
              <a:rPr lang="ca-ES" dirty="0"/>
              <a:t> </a:t>
            </a:r>
            <a:r>
              <a:rPr lang="ca-ES" dirty="0" err="1"/>
              <a:t>chart</a:t>
            </a:r>
            <a:endParaRPr lang="ca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324E472-EEEA-047A-652F-39B76DADE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7</a:t>
            </a:fld>
            <a:endParaRPr lang="en-US" dirty="0"/>
          </a:p>
        </p:txBody>
      </p:sp>
      <p:pic>
        <p:nvPicPr>
          <p:cNvPr id="3" name="Imatge 2" descr="Imatge que conté text, captura de pantalla, nombre, Paral·lel&#10;&#10;Pot ser que el contingut generat per IA no sigui correcte.">
            <a:extLst>
              <a:ext uri="{FF2B5EF4-FFF2-40B4-BE49-F238E27FC236}">
                <a16:creationId xmlns:a16="http://schemas.microsoft.com/office/drawing/2014/main" id="{C08AAE22-14D8-A150-729C-325327F3B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599" y="2233873"/>
            <a:ext cx="6183812" cy="430503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C34BD25-121B-6ABE-3FE5-783DF17488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157"/>
          <a:stretch>
            <a:fillRect/>
          </a:stretch>
        </p:blipFill>
        <p:spPr>
          <a:xfrm>
            <a:off x="7136601" y="2113248"/>
            <a:ext cx="4495800" cy="2484076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0FDF1785-072C-E312-B80C-0D37D2A93007}"/>
              </a:ext>
            </a:extLst>
          </p:cNvPr>
          <p:cNvSpPr/>
          <p:nvPr/>
        </p:nvSpPr>
        <p:spPr>
          <a:xfrm>
            <a:off x="10261600" y="4226560"/>
            <a:ext cx="335280" cy="2844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64B9908-A6A8-0F68-78A3-BEDE05653A2F}"/>
              </a:ext>
            </a:extLst>
          </p:cNvPr>
          <p:cNvSpPr/>
          <p:nvPr/>
        </p:nvSpPr>
        <p:spPr>
          <a:xfrm>
            <a:off x="2306782" y="3429000"/>
            <a:ext cx="519545" cy="2597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859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CA5F87-1D1E-45CB-8D83-FC7EEFAD9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6D8F7F-EDDF-0F27-C5DE-363EDF2D88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08" r="-1" b="-1"/>
          <a:stretch/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87" name="Rectangle 10">
            <a:extLst>
              <a:ext uri="{FF2B5EF4-FFF2-40B4-BE49-F238E27FC236}">
                <a16:creationId xmlns:a16="http://schemas.microsoft.com/office/drawing/2014/main" id="{7CCFC2C6-6238-4A2F-93DE-2ADF74AF6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2F091E7-7144-0D59-2350-8918455260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ca-ES" sz="4800"/>
              <a:t>Enginyeria del Software</a:t>
            </a:r>
          </a:p>
        </p:txBody>
      </p:sp>
      <p:sp>
        <p:nvSpPr>
          <p:cNvPr id="88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4B6A5C40-8DF0-BEC4-6D4B-21A930E89326}"/>
              </a:ext>
            </a:extLst>
          </p:cNvPr>
          <p:cNvSpPr txBox="1">
            <a:spLocks/>
          </p:cNvSpPr>
          <p:nvPr/>
        </p:nvSpPr>
        <p:spPr>
          <a:xfrm>
            <a:off x="7848600" y="4872922"/>
            <a:ext cx="4023360" cy="1359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ca-ES" sz="1400" dirty="0"/>
              <a:t>Pràctiques: Grup XXX-YY</a:t>
            </a:r>
          </a:p>
          <a:p>
            <a:pPr>
              <a:lnSpc>
                <a:spcPct val="100000"/>
              </a:lnSpc>
            </a:pPr>
            <a:endParaRPr lang="ca-ES" sz="1400" dirty="0"/>
          </a:p>
          <a:p>
            <a:pPr>
              <a:lnSpc>
                <a:spcPct val="100000"/>
              </a:lnSpc>
            </a:pPr>
            <a:r>
              <a:rPr lang="ca-ES" sz="1400" dirty="0" err="1"/>
              <a:t>Sprint</a:t>
            </a:r>
            <a:r>
              <a:rPr lang="ca-ES" sz="1400" dirty="0"/>
              <a:t> 01: Requisits Funcionals i No Funcionals</a:t>
            </a:r>
          </a:p>
        </p:txBody>
      </p:sp>
    </p:spTree>
    <p:extLst>
      <p:ext uri="{BB962C8B-B14F-4D97-AF65-F5344CB8AC3E}">
        <p14:creationId xmlns:p14="http://schemas.microsoft.com/office/powerpoint/2010/main" val="792603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EF9086-B6B4-D19E-C791-6006CEAD6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Composició de l’equip</a:t>
            </a:r>
            <a:r>
              <a:rPr lang="en-GB" dirty="0"/>
              <a:t>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EDBCED9-7F51-70EF-594E-F7D7A979A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9</a:t>
            </a:fld>
            <a:endParaRPr lang="en-US" dirty="0"/>
          </a:p>
        </p:txBody>
      </p:sp>
      <p:pic>
        <p:nvPicPr>
          <p:cNvPr id="1026" name="Picture 2" descr="Profile Pictures, The Selfie Precursor Thebenclark, 47% OFF">
            <a:extLst>
              <a:ext uri="{FF2B5EF4-FFF2-40B4-BE49-F238E27FC236}">
                <a16:creationId xmlns:a16="http://schemas.microsoft.com/office/drawing/2014/main" id="{E44A2714-7224-8333-A43B-ECBC3C1751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9073" y="2281190"/>
            <a:ext cx="1209260" cy="1209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EF9A3A06-2104-6EDD-EE3F-A32528BEC881}"/>
              </a:ext>
            </a:extLst>
          </p:cNvPr>
          <p:cNvSpPr txBox="1"/>
          <p:nvPr/>
        </p:nvSpPr>
        <p:spPr>
          <a:xfrm>
            <a:off x="3489399" y="3597274"/>
            <a:ext cx="2635333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dirty="0"/>
              <a:t>Enric </a:t>
            </a:r>
            <a:r>
              <a:rPr lang="es-ES" dirty="0" err="1"/>
              <a:t>Alvarez</a:t>
            </a:r>
            <a:r>
              <a:rPr lang="es-ES" dirty="0"/>
              <a:t> </a:t>
            </a:r>
            <a:r>
              <a:rPr lang="es-ES" dirty="0" err="1"/>
              <a:t>Bargada</a:t>
            </a:r>
            <a:endParaRPr lang="es-ES" dirty="0"/>
          </a:p>
          <a:p>
            <a:r>
              <a:rPr lang="es-ES"/>
              <a:t>(SCRUM MASTER)</a:t>
            </a:r>
            <a:endParaRPr lang="es-ES" dirty="0"/>
          </a:p>
        </p:txBody>
      </p:sp>
      <p:pic>
        <p:nvPicPr>
          <p:cNvPr id="8" name="Picture 2" descr="Profile Pictures, The Selfie Precursor Thebenclark, 47% OFF">
            <a:extLst>
              <a:ext uri="{FF2B5EF4-FFF2-40B4-BE49-F238E27FC236}">
                <a16:creationId xmlns:a16="http://schemas.microsoft.com/office/drawing/2014/main" id="{76D0DF31-D861-FFEE-2974-6C02DD693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0618" y="2281190"/>
            <a:ext cx="1209260" cy="1209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2701D67B-2047-7EEE-CB49-B2ED590A3D18}"/>
              </a:ext>
            </a:extLst>
          </p:cNvPr>
          <p:cNvSpPr txBox="1"/>
          <p:nvPr/>
        </p:nvSpPr>
        <p:spPr>
          <a:xfrm>
            <a:off x="6271637" y="3607641"/>
            <a:ext cx="231913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/>
              <a:t>Neus Roig Prat</a:t>
            </a:r>
            <a:endParaRPr lang="ca-ES"/>
          </a:p>
        </p:txBody>
      </p:sp>
      <p:pic>
        <p:nvPicPr>
          <p:cNvPr id="10" name="Picture 2" descr="Profile Pictures, The Selfie Precursor Thebenclark, 47% OFF">
            <a:extLst>
              <a:ext uri="{FF2B5EF4-FFF2-40B4-BE49-F238E27FC236}">
                <a16:creationId xmlns:a16="http://schemas.microsoft.com/office/drawing/2014/main" id="{C58F73A0-EF49-A7B1-C627-75778E026E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9073" y="4441295"/>
            <a:ext cx="1209260" cy="1209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AF9E5503-CA01-C76E-286A-F65FDF48A279}"/>
              </a:ext>
            </a:extLst>
          </p:cNvPr>
          <p:cNvSpPr txBox="1"/>
          <p:nvPr/>
        </p:nvSpPr>
        <p:spPr>
          <a:xfrm>
            <a:off x="3650091" y="5767746"/>
            <a:ext cx="231913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/>
              <a:t>Blay Clotas </a:t>
            </a:r>
            <a:r>
              <a:rPr lang="es-ES" err="1"/>
              <a:t>Cekov</a:t>
            </a:r>
            <a:endParaRPr lang="ca-ES" err="1"/>
          </a:p>
        </p:txBody>
      </p:sp>
      <p:pic>
        <p:nvPicPr>
          <p:cNvPr id="12" name="Picture 2" descr="Profile Pictures, The Selfie Precursor Thebenclark, 47% OFF">
            <a:extLst>
              <a:ext uri="{FF2B5EF4-FFF2-40B4-BE49-F238E27FC236}">
                <a16:creationId xmlns:a16="http://schemas.microsoft.com/office/drawing/2014/main" id="{B5B950BB-3356-08FA-D3B8-D5AB267A1B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0618" y="4441295"/>
            <a:ext cx="1209260" cy="1209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EFC6393E-84E8-F829-72B0-A2837607CCD5}"/>
              </a:ext>
            </a:extLst>
          </p:cNvPr>
          <p:cNvSpPr txBox="1"/>
          <p:nvPr/>
        </p:nvSpPr>
        <p:spPr>
          <a:xfrm>
            <a:off x="6271637" y="5767746"/>
            <a:ext cx="2807861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err="1"/>
              <a:t>Maria</a:t>
            </a:r>
            <a:r>
              <a:rPr lang="es-ES"/>
              <a:t> Figueras Martínez</a:t>
            </a:r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439967025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nalogousFromRegularSeedRightStep">
      <a:dk1>
        <a:srgbClr val="000000"/>
      </a:dk1>
      <a:lt1>
        <a:srgbClr val="FFFFFF"/>
      </a:lt1>
      <a:dk2>
        <a:srgbClr val="412426"/>
      </a:dk2>
      <a:lt2>
        <a:srgbClr val="E2E8E8"/>
      </a:lt2>
      <a:accent1>
        <a:srgbClr val="C34D54"/>
      </a:accent1>
      <a:accent2>
        <a:srgbClr val="B1643B"/>
      </a:accent2>
      <a:accent3>
        <a:srgbClr val="BBA149"/>
      </a:accent3>
      <a:accent4>
        <a:srgbClr val="98AD39"/>
      </a:accent4>
      <a:accent5>
        <a:srgbClr val="72B346"/>
      </a:accent5>
      <a:accent6>
        <a:srgbClr val="3BB13D"/>
      </a:accent6>
      <a:hlink>
        <a:srgbClr val="30928B"/>
      </a:hlink>
      <a:folHlink>
        <a:srgbClr val="7F7F7F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b814fa0-4f1b-4d56-8a36-064af1e36e66">
      <UserInfo>
        <DisplayName/>
        <AccountId xsi:nil="true"/>
        <AccountType/>
      </UserInfo>
    </SharedWithUsers>
    <_activity xmlns="b1fa7ccf-aa4f-4f27-84db-07667d020ac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3BD3DC6F0E81D4FA56575A4B7B24AF5" ma:contentTypeVersion="14" ma:contentTypeDescription="Crear nuevo documento." ma:contentTypeScope="" ma:versionID="ded3d347f3a98b31a82ee0cc093f824b">
  <xsd:schema xmlns:xsd="http://www.w3.org/2001/XMLSchema" xmlns:xs="http://www.w3.org/2001/XMLSchema" xmlns:p="http://schemas.microsoft.com/office/2006/metadata/properties" xmlns:ns3="7b814fa0-4f1b-4d56-8a36-064af1e36e66" xmlns:ns4="b1fa7ccf-aa4f-4f27-84db-07667d020acb" targetNamespace="http://schemas.microsoft.com/office/2006/metadata/properties" ma:root="true" ma:fieldsID="fe3adeea5df1e60fd0d7c7fb86895927" ns3:_="" ns4:_="">
    <xsd:import namespace="7b814fa0-4f1b-4d56-8a36-064af1e36e66"/>
    <xsd:import namespace="b1fa7ccf-aa4f-4f27-84db-07667d020acb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_activity" minOccurs="0"/>
                <xsd:element ref="ns4:MediaServiceObjectDetectorVersion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814fa0-4f1b-4d56-8a36-064af1e36e6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fa7ccf-aa4f-4f27-84db-07667d020a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4171512-FDE1-4E49-B7EA-58AD2B33372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FBF3923-D9E5-4962-BBB8-690B0ABC4F42}">
  <ds:schemaRefs>
    <ds:schemaRef ds:uri="http://www.w3.org/XML/1998/namespace"/>
    <ds:schemaRef ds:uri="b1fa7ccf-aa4f-4f27-84db-07667d020acb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7b814fa0-4f1b-4d56-8a36-064af1e36e66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E77A2FCE-FB77-4A2D-98B9-B8BD51BEE8C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b814fa0-4f1b-4d56-8a36-064af1e36e66"/>
    <ds:schemaRef ds:uri="b1fa7ccf-aa4f-4f27-84db-07667d020a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7774</TotalTime>
  <Words>286</Words>
  <Application>Microsoft Office PowerPoint</Application>
  <PresentationFormat>Pantalla panoràmica</PresentationFormat>
  <Paragraphs>46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Títols de les diapositives</vt:lpstr>
      </vt:variant>
      <vt:variant>
        <vt:i4>9</vt:i4>
      </vt:variant>
    </vt:vector>
  </HeadingPairs>
  <TitlesOfParts>
    <vt:vector size="10" baseType="lpstr">
      <vt:lpstr>AccentBoxVTI</vt:lpstr>
      <vt:lpstr>Enginyeria del Software</vt:lpstr>
      <vt:lpstr>Tasques fetes al sprint</vt:lpstr>
      <vt:lpstr>Perfils d’usuari a l’aplicació QUEMENGES</vt:lpstr>
      <vt:lpstr>Requisits funcionals </vt:lpstr>
      <vt:lpstr>Requisits no funcionals</vt:lpstr>
      <vt:lpstr>Perfils d'Usuari Creats</vt:lpstr>
      <vt:lpstr>Burn-down chart</vt:lpstr>
      <vt:lpstr>Enginyeria del Software</vt:lpstr>
      <vt:lpstr>Composició de l’equip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Enginyeria del Software</dc:title>
  <dc:creator>Jorge Bernal del Nozal</dc:creator>
  <cp:lastModifiedBy>Jorge Bernal del Nozal</cp:lastModifiedBy>
  <cp:revision>385</cp:revision>
  <dcterms:created xsi:type="dcterms:W3CDTF">2023-02-10T08:32:17Z</dcterms:created>
  <dcterms:modified xsi:type="dcterms:W3CDTF">2026-03-16T10:05:32Z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0x01010063BD3DC6F0E81D4FA56575A4B7B24AF5</vt:lpwstr>
  </property>
  <property fmtid="{D5CDD505-2E9C-101B-9397-08002B2CF9AE}" pid="3" name="Order">
    <vt:r8>1700</vt:r8>
  </property>
  <property fmtid="{D5CDD505-2E9C-101B-9397-08002B2CF9AE}" pid="4" name="_ExtendedDescription">
    <vt:lpwstr/>
  </property>
  <property fmtid="{D5CDD505-2E9C-101B-9397-08002B2CF9AE}" pid="5" name="TriggerFlowInfo">
    <vt:lpwstr/>
  </property>
  <property fmtid="{D5CDD505-2E9C-101B-9397-08002B2CF9AE}" pid="6" name="ComplianceAssetId">
    <vt:lpwstr/>
  </property>
</Properties>
</file>